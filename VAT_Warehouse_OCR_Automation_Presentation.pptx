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Welkom. Deze sessie gaat over de automatisering van onze VAT-warehousedocumentatie in Odoo. Doel: inzicht geven in de haalbaarheid, de architectuurkeuze en op het einde een concrete beslisvraag voorleggen. Belangrijk om vooraf te zeggen: dit is geen leverancierspresentatie. De conclusies komen uit eigen onderzoek, waarbij we de broncode van Odoo 19.0 Enterprise en Community zelf geinspecteerd hebben. We starten bij het businessprobleem, daarna de oplossing in Odoo, en pas dan de techniek en de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Vandaag vraagt elk dossier handmatig overtypen uit douanedocumenten 796.6, facturen en transferdocumenten. Waar mogelijk kwantificeren we dit in de sessie met tijd per dossier. De boodschap is niet dat er slecht gewerkt wordt, integendeel: het probleem is structureel. Herhaald overtypen introduceert fouten, layouts verschillen per klant, en de bewijsstukken zoals VIES-checks en bestemmingsdocumenten zitten verspreid. Benadruk vooral: de pijn zit in de herhaling en in de controleerbaarheid, niet in een individuele stap.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Dit is de volledige documentstroom van het btw-entrepot; dit schema keert straks terug in de demo. Links de input-zijde: drie soorten brondocumenten die leiden tot het Inslagdocument en het Entry Document. Rechts de output-zijde: een verkoopfactuur, een uitvoerdocument of een transferdocument triggert de uitslag, en daar moet telkens een pakket gegenereerd worden: Uitslagdocument, Exit Document, VIES-check, bestemmingsdocument en BTW-nota waar nodig. Loop de flow rustig door en benadruk dat de output-zijde de fiscaal gevoelige stukken bevat.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inslagflow in vier stappen. Uploaden kan via het menu, een e-mailalias of een Documents-folder. Het systeem classificeert het document en extraheert de velden, met een confidence-score per veld. Daarna volgt het reviewscherm: het originele document naast de velden, en elke correctie blijft bewaard naast de ruwe waarde. Tot slot genereert het systeem het Entry Document als PDF. Benadruk dat de mens-in-de-lus een bewuste ontwerpkeuze is, geen beperking: het origineel blijft altijd bewaard en het systeem beslist nooit stil.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uitslag-kant is waar de compliance-waarde zit. Een geposte verkoopfactuur, een uitvoerdocument of een transferdocument triggert het proces; het systeem stelt de koppeling met het juiste Entry Document voor. Vervolgens wordt bepaald welke stukken vereist zijn en wordt het volledige pakket gegenereerd: Uitslagdocument, Exit Document, een VIES-check met tijdstempel en bewijs-PDF, en waar nodig het bestemmingsdocument en de BTW-nota. Belangrijk bruggetje naar verderop: de beslisregels die bepalen wat vereist is, worden pas automatisch uitgevoerd nadat het btw-team ze formeel gevalideerd heeft.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Waarom Odoo als ruggengraat? Het team werkt er al in, en de enterprise-basisvoorzieningen krijgen we gratis: een volledige audit trail via de chatter, een rollenmodel met reviewer- en auditorrollen, een PDF-engine met versiebeheer, centraal documentbeheer, automatisering via geplande taken en activities, en multi-company-ondersteuning. Positioneer Odoo hier bewust niet als OCR-tool maar als proces- en bewijssysteem. De OCR-vraag, kunnen we de bestaande factuurherkenning hergebruiken, komt op de volgende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Dit is de centrale technische vraag van het onderzoek. We hebben het antwoord niet aangenomen maar onderzocht, rechtstreeks in de broncode van Odoo 19.0 Enterprise en Community, aangevuld met de officiele documentatie. Concreet zijn de vier bestaande OCR-consumers geinspecteerd, facturen, onkostennota's, rekeninguittreksels en cv's, en de endpoints van de IAP-service geanalyseerd. Leg in een zin uit wat IAP is: de betaalde clouddiensten van Odoo, waaronder de OCR-service. Kondig aan dat het antwoord genuanceerd is: deels wel, deels niet.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Dit is de kernslide. Links wat herbruikbaar is: het generieke extractieframework met statusmachine, upload, webhook en geplande taken; de native factuur-OCR voor de facturen in onze flow; de VIES-validatie; en nieuw in Odoo 19 een generiek AI-framework dat we gecontroleerd kunnen inzetten voor classificatie en veldextractie. Rechts wat niet kan: de OCR-service kent exact vier documenttypes met een vast veldenschema. Gebruik het voorbeeld: een commodity code staat niet in het factuurschema en kan er ook niet aan toegevoegd worden. De layout-learning zit server-side en is gesloten. Conclusie: gedeeltelijk herbruikbaar, onderbouwd met bestandsreferenties in het rapport.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aanbevolen architectuur is hybride. Odoo blijft het proces- en bewijssysteem: een custom module met eigen modellen voor Entry- en Exit-documenten, extracties, mapping-templates en checks. Daaronder zit een engine-interface: een intern contract waardoor de extractietechniek per documenttype verwisselbaar is. Facturen lopen via de native factuur-OCR, douane- en warehousedocumenten via het AI-framework of de corporate tooling, stabiele digitale layouts via goedkope regex-templates, en de demo via een mock. Benadruk de engine-abstractie als risicobeheersing: als de engine-keuze wijzigt, blijft al de rest staan.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Het datamodel in een notendop, bewust licht gehouden; de volledige veldtabellen staan in het rapport. Configuratie links: documenttypes, mapping-templates en entrepotvergunningen als masterdata. In het midden de extracties: per veld bewaren we de ruwe waarde, de genormaliseerde waarde en de eventuele menselijke correctie, met confidence en bron. Rechts de Entry- en Exit-documenten met hun goederenlijnen. Onderaan de checks en outputs. Twee dingen om te benadrukken: alles heeft een chatter en dus een geschiedenis, en extracties zijn herafspeelbaar met versiegeschiedenis wanneer een mapping wijzigt.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Dit beantwoordt letterlijk de zin uit het huidige proces: de mapping moet eenmalig per klant gebeuren. Bij het eerste document van een nieuwe layout begeleidt de gebruiker de verwerking en corrigeert de velden. Die correcties worden opgeslagen als mapping-template, gekoppeld aan documenttype, partij en layout. Vanaf dan verlopen soortgelijke documenten automatisch. Het grote verschil met de native factuur-OCR: daar zit het leereffect in een gesloten dienst van Odoo; hier is de mapping expliciete, auditeerbare data met versiegeschiedenis en de mogelijkheid om documenten te herverwerken.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Twee bouwstenen voor compliance. Links de VIES-check: naast de native geldigheidsvlag van Odoo leggen we per controle een tijdstempel, het resultaat en een bewijs-PDF vast, gearchiveerd bij het Exit Document. Rechts een fragment van de beslislogica: per scenario bepaalt het systeem of een VIES-check, een bestemmingsdocument of een BTW-nota vereist is. Die regels zijn data-gedreven en dus bij te sturen zonder nieuwe code. Zeg expliciet: het rapport markeert alle fiscale aannames als te valideren door het btw-team, en pas na die validatie mag een pad volautomatisch worden. Dat is een feature, geen zwakte.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Het demoscenario in vijf hoogtepunten. We uploaden een echt, geanonimiseerd 796.6-document, tonen de classificatie en het reviewscherm met confidence per veld, en corrigeren live een veld. Daarna bewaren we de mapping en uploaden een tweede, gelijkaardig document dat vlekkeloos verwerkt wordt: het eenmalig-per-klant-principe, live bewezen. Vervolgens genereren we het Entry Document en tonen we het volledige exit-pakket inclusief VIES-check. Wees transparant over wat echt is en wat gemockt: de schermen, de flow en de PDF's zijn echt; de extractie zelf draait in de eerste demo op een mock. Die eerlijkheid versterkt de geloofwaardigheid. Nodig het publiek uit voor de live sessie.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roadmap telt zes fasen. Phase 0 is een korte feasibility-fase met proof-of-concepts: we meten de extractiekwaliteit op echte documenten en verifieren de VIES-koppeling. Phase 1 levert het demo-fundament met alle modellen en schermen. Phase 2 vervangt de mock door echte extractie met mapping memory. Phase 3 en 4 maken de in- en uitslagflow productiewaardig, en Phase 5 is enterprise hardening: security, tests en monitoring. Noem de indicatieve totaal-doorlooptijd van dertien tot negentien weken en de aannames daarachter. Benadruk vooral dat Phase 0 klein en goedkoop is, maar wel beslissend voor de engine-keuze.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Dit is de eerlijkste slide van de deck, en bewust. De vijf belangrijkste risico's met hun mitigatie: de extractiekwaliteit op scans meten we in Phase 0 en de mens blijft in de lus; het nieuwe AI-framework van Odoo 19 isoleren we in een aparte module zodat een wijziging ons niet raakt; fiscale regels worden pas geautomatiseerd na formele validatie door het btw-team; privacy en governance sturen de engine-keuze per documenttype; en masterdata-kwaliteit vraagt duidelijk eigenaarschap. Rechts de open vragen waar we hulp bij nodig hebben, onder andere de voorbeelddocumenten en de goedgekeurde tooling. Stakeholdervertrouwen komt van benoemde risico's, niet van verzwegen risico's.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Afsluiten met de concrete vraag. Drie akkoorden: ten eerste een go voor Phase 0, inclusief het aanleveren van geanonimiseerde voorbeelddocumenten; ten tweede het aanduiden van een btw-validator als aanspreekpunt voor de beslisregels; ten derde een governance-akkoord over welke extraction- en AI-tooling gebruikt mag worden. De eerstvolgende mijlpaal is het Phase 0-rapport met de engine-metingen, binnen vier weken na de go. Herhaal tot slot in een zin de kernconclusie: de bestaande factuur-OCR van Odoo is gedeeltelijk herbruikbaar, en alles wat we zelf bouwen blijft volledig controleerbaar en auditeerbaar.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414"/>
        </a:solidFill>
      </p:bgPr>
    </p:bg>
    <p:spTree>
      <p:nvGrpSpPr>
        <p:cNvPr id="1" name=""/>
        <p:cNvGrpSpPr/>
        <p:nvPr/>
      </p:nvGrpSpPr>
      <p:grpSpPr>
        <a:xfrm>
          <a:off x="0" y="0"/>
          <a:ext cx="0" cy="0"/>
          <a:chOff x="0" y="0"/>
          <a:chExt cx="0" cy="0"/>
        </a:xfrm>
      </p:grpSpPr>
      <p:sp>
        <p:nvSpPr>
          <p:cNvPr id="2" name="Shape 0"/>
          <p:cNvSpPr/>
          <p:nvPr/>
        </p:nvSpPr>
        <p:spPr>
          <a:xfrm>
            <a:off x="7360920" y="1051560"/>
            <a:ext cx="3108960" cy="3108960"/>
          </a:xfrm>
          <a:prstGeom prst="ellipse">
            <a:avLst/>
          </a:prstGeom>
          <a:solidFill>
            <a:srgbClr val="86BC25"/>
          </a:solidFill>
          <a:ln w="12700">
            <a:solidFill>
              <a:srgbClr val="333333"/>
            </a:solidFill>
            <a:prstDash val="solid"/>
          </a:ln>
        </p:spPr>
      </p:sp>
      <p:sp>
        <p:nvSpPr>
          <p:cNvPr id="3" name="Shape 1"/>
          <p:cNvSpPr/>
          <p:nvPr/>
        </p:nvSpPr>
        <p:spPr>
          <a:xfrm>
            <a:off x="6812280" y="3291840"/>
            <a:ext cx="1051560" cy="1051560"/>
          </a:xfrm>
          <a:prstGeom prst="ellipse">
            <a:avLst/>
          </a:prstGeom>
          <a:solidFill>
            <a:srgbClr val="2E2E2E"/>
          </a:solidFill>
          <a:ln w="12700">
            <a:solidFill>
              <a:srgbClr val="333333"/>
            </a:solidFill>
            <a:prstDash val="solid"/>
          </a:ln>
        </p:spPr>
      </p:sp>
      <p:sp>
        <p:nvSpPr>
          <p:cNvPr id="4" name="Text 2"/>
          <p:cNvSpPr/>
          <p:nvPr/>
        </p:nvSpPr>
        <p:spPr>
          <a:xfrm>
            <a:off x="548640" y="1143000"/>
            <a:ext cx="6035040" cy="274320"/>
          </a:xfrm>
          <a:prstGeom prst="rect">
            <a:avLst/>
          </a:prstGeom>
          <a:noFill/>
          <a:ln/>
        </p:spPr>
        <p:txBody>
          <a:bodyPr wrap="square" lIns="0" tIns="0" rIns="0" bIns="0" rtlCol="0" anchor="ctr"/>
          <a:lstStyle/>
          <a:p>
            <a:pPr indent="0" marL="0">
              <a:buNone/>
            </a:pPr>
            <a:r>
              <a:rPr lang="en-US" sz="1100" b="1" spc="300" kern="0" dirty="0">
                <a:solidFill>
                  <a:srgbClr val="86BC25"/>
                </a:solidFill>
                <a:latin typeface="Arial" pitchFamily="34" charset="0"/>
                <a:ea typeface="Arial" pitchFamily="34" charset="-122"/>
                <a:cs typeface="Arial" pitchFamily="34" charset="-120"/>
              </a:rPr>
              <a:t>VAT WAREHOUSE | ODOO 19.0 ENTERPRISE</a:t>
            </a:r>
            <a:endParaRPr lang="en-US" sz="1100" dirty="0"/>
          </a:p>
        </p:txBody>
      </p:sp>
      <p:sp>
        <p:nvSpPr>
          <p:cNvPr id="5" name="Text 3"/>
          <p:cNvSpPr/>
          <p:nvPr/>
        </p:nvSpPr>
        <p:spPr>
          <a:xfrm>
            <a:off x="548640" y="1463040"/>
            <a:ext cx="6309360" cy="1371600"/>
          </a:xfrm>
          <a:prstGeom prst="rect">
            <a:avLst/>
          </a:prstGeom>
          <a:noFill/>
          <a:ln/>
        </p:spPr>
        <p:txBody>
          <a:bodyPr wrap="square" lIns="0" tIns="0" rIns="0" bIns="0" rtlCol="0" anchor="ctr"/>
          <a:lstStyle/>
          <a:p>
            <a:pPr indent="0" marL="0">
              <a:buNone/>
            </a:pPr>
            <a:r>
              <a:rPr lang="en-US" sz="3300" b="1" dirty="0">
                <a:solidFill>
                  <a:srgbClr val="FFFFFF"/>
                </a:solidFill>
                <a:latin typeface="Arial" pitchFamily="34" charset="0"/>
                <a:ea typeface="Arial" pitchFamily="34" charset="-122"/>
                <a:cs typeface="Arial" pitchFamily="34" charset="-120"/>
              </a:rPr>
              <a:t>VAT Warehouse documentautomatisering in Odoo</a:t>
            </a:r>
            <a:endParaRPr lang="en-US" sz="3300" dirty="0"/>
          </a:p>
        </p:txBody>
      </p:sp>
      <p:sp>
        <p:nvSpPr>
          <p:cNvPr id="6" name="Text 4"/>
          <p:cNvSpPr/>
          <p:nvPr/>
        </p:nvSpPr>
        <p:spPr>
          <a:xfrm>
            <a:off x="548640" y="2834640"/>
            <a:ext cx="5852160" cy="365760"/>
          </a:xfrm>
          <a:prstGeom prst="rect">
            <a:avLst/>
          </a:prstGeom>
          <a:noFill/>
          <a:ln/>
        </p:spPr>
        <p:txBody>
          <a:bodyPr wrap="square" lIns="0" tIns="0" rIns="0" bIns="0" rtlCol="0" anchor="ctr"/>
          <a:lstStyle/>
          <a:p>
            <a:pPr indent="0" marL="0">
              <a:buNone/>
            </a:pPr>
            <a:r>
              <a:rPr lang="en-US" sz="1500" dirty="0">
                <a:solidFill>
                  <a:srgbClr val="CFCFCF"/>
                </a:solidFill>
                <a:latin typeface="Arial" pitchFamily="34" charset="0"/>
                <a:ea typeface="Arial" pitchFamily="34" charset="-122"/>
                <a:cs typeface="Arial" pitchFamily="34" charset="-120"/>
              </a:rPr>
              <a:t>Van manueel dossierwerk naar gecontroleerde automatisering</a:t>
            </a:r>
            <a:endParaRPr lang="en-US" sz="1500" dirty="0"/>
          </a:p>
        </p:txBody>
      </p:sp>
      <p:sp>
        <p:nvSpPr>
          <p:cNvPr id="7" name="Text 5"/>
          <p:cNvSpPr/>
          <p:nvPr/>
        </p:nvSpPr>
        <p:spPr>
          <a:xfrm>
            <a:off x="548640" y="4114800"/>
            <a:ext cx="5852160" cy="548640"/>
          </a:xfrm>
          <a:prstGeom prst="rect">
            <a:avLst/>
          </a:prstGeom>
          <a:noFill/>
          <a:ln/>
        </p:spPr>
        <p:txBody>
          <a:bodyPr wrap="square" lIns="0" tIns="0" rIns="0" bIns="0" rtlCol="0" anchor="ctr"/>
          <a:lstStyle/>
          <a:p>
            <a:pPr indent="0" marL="0">
              <a:buNone/>
            </a:pPr>
            <a:r>
              <a:rPr lang="en-US" sz="1100" dirty="0">
                <a:solidFill>
                  <a:srgbClr val="9A9A9A"/>
                </a:solidFill>
                <a:latin typeface="Arial" pitchFamily="34" charset="0"/>
                <a:ea typeface="Arial" pitchFamily="34" charset="-122"/>
                <a:cs typeface="Arial" pitchFamily="34" charset="-120"/>
              </a:rPr>
              <a:t>Intern Deloitte-team | 7 juli 2026</a:t>
            </a:r>
            <a:endParaRPr lang="en-US" sz="1100" dirty="0"/>
          </a:p>
          <a:p>
            <a:pPr indent="0" marL="0">
              <a:buNone/>
            </a:pPr>
            <a:r>
              <a:rPr lang="en-US" sz="1100" dirty="0">
                <a:solidFill>
                  <a:srgbClr val="9A9A9A"/>
                </a:solidFill>
                <a:latin typeface="Arial" pitchFamily="34" charset="0"/>
                <a:ea typeface="Arial" pitchFamily="34" charset="-122"/>
                <a:cs typeface="Arial" pitchFamily="34" charset="-120"/>
              </a:rPr>
              <a:t>Onderzoek gebaseerd op inspectie van de Odoo 19.0 broncode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237744"/>
          </a:xfrm>
          <a:prstGeom prst="rect">
            <a:avLst/>
          </a:prstGeom>
          <a:noFill/>
          <a:ln/>
        </p:spPr>
        <p:txBody>
          <a:bodyPr wrap="square" lIns="0" tIns="0" rIns="0" bIns="0" rtlCol="0" anchor="ctr"/>
          <a:lstStyle/>
          <a:p>
            <a:pPr indent="0" marL="0">
              <a:buNone/>
            </a:pPr>
            <a:r>
              <a:rPr lang="en-US" sz="1050" b="1" spc="300" kern="0" dirty="0">
                <a:solidFill>
                  <a:srgbClr val="4C7016"/>
                </a:solidFill>
                <a:latin typeface="Arial" pitchFamily="34" charset="0"/>
                <a:ea typeface="Arial" pitchFamily="34" charset="-122"/>
                <a:cs typeface="Arial" pitchFamily="34" charset="-120"/>
              </a:rPr>
              <a:t>SITUATIE VANDAAG</a:t>
            </a:r>
            <a:endParaRPr lang="en-US" sz="1050" dirty="0"/>
          </a:p>
        </p:txBody>
      </p:sp>
      <p:sp>
        <p:nvSpPr>
          <p:cNvPr id="3" name="Text 1"/>
          <p:cNvSpPr/>
          <p:nvPr/>
        </p:nvSpPr>
        <p:spPr>
          <a:xfrm>
            <a:off x="457200" y="530352"/>
            <a:ext cx="8229600" cy="502920"/>
          </a:xfrm>
          <a:prstGeom prst="rect">
            <a:avLst/>
          </a:prstGeom>
          <a:noFill/>
          <a:ln/>
        </p:spPr>
        <p:txBody>
          <a:bodyPr wrap="square" lIns="0" tIns="0" rIns="0" bIns="0" rtlCol="0" anchor="ctr"/>
          <a:lstStyle/>
          <a:p>
            <a:pPr indent="0" marL="0">
              <a:buNone/>
            </a:pPr>
            <a:r>
              <a:rPr lang="en-US" sz="2300" b="1" dirty="0">
                <a:solidFill>
                  <a:srgbClr val="1A1A1A"/>
                </a:solidFill>
                <a:latin typeface="Arial" pitchFamily="34" charset="0"/>
                <a:ea typeface="Arial" pitchFamily="34" charset="-122"/>
                <a:cs typeface="Arial" pitchFamily="34" charset="-120"/>
              </a:rPr>
              <a:t>Het manuele proces kost tijd en is foutgevoelig</a:t>
            </a:r>
            <a:endParaRPr lang="en-US" sz="2300" dirty="0"/>
          </a:p>
        </p:txBody>
      </p:sp>
      <p:sp>
        <p:nvSpPr>
          <p:cNvPr id="4" name="Shape 2"/>
          <p:cNvSpPr/>
          <p:nvPr/>
        </p:nvSpPr>
        <p:spPr>
          <a:xfrm>
            <a:off x="457200" y="1280160"/>
            <a:ext cx="4023360" cy="3383280"/>
          </a:xfrm>
          <a:prstGeom prst="roundRect">
            <a:avLst>
              <a:gd name="adj" fmla="val 1622"/>
            </a:avLst>
          </a:prstGeom>
          <a:solidFill>
            <a:srgbClr val="F5F5F5"/>
          </a:solidFill>
          <a:ln w="9525">
            <a:solidFill>
              <a:srgbClr val="E3E3E3"/>
            </a:solidFill>
            <a:prstDash val="solid"/>
          </a:ln>
          <a:effectLst>
            <a:outerShdw sx="100000" sy="100000" kx="0" ky="0" algn="bl" rotWithShape="0" blurRad="76200" dist="25400" dir="2700000">
              <a:srgbClr val="000000">
                <a:alpha val="12000"/>
              </a:srgbClr>
            </a:outerShdw>
          </a:effectLst>
        </p:spPr>
      </p:sp>
      <p:sp>
        <p:nvSpPr>
          <p:cNvPr id="5" name="Text 3"/>
          <p:cNvSpPr/>
          <p:nvPr/>
        </p:nvSpPr>
        <p:spPr>
          <a:xfrm>
            <a:off x="685800" y="1417320"/>
            <a:ext cx="3566160" cy="274320"/>
          </a:xfrm>
          <a:prstGeom prst="rect">
            <a:avLst/>
          </a:prstGeom>
          <a:noFill/>
          <a:ln/>
        </p:spPr>
        <p:txBody>
          <a:bodyPr wrap="square" lIns="0" tIns="0" rIns="0" bIns="0" rtlCol="0" anchor="ctr"/>
          <a:lstStyle/>
          <a:p>
            <a:pPr indent="0" marL="0">
              <a:buNone/>
            </a:pPr>
            <a:r>
              <a:rPr lang="en-US" sz="1400" b="1" dirty="0">
                <a:solidFill>
                  <a:srgbClr val="1A1A1A"/>
                </a:solidFill>
                <a:latin typeface="Arial" pitchFamily="34" charset="0"/>
                <a:ea typeface="Arial" pitchFamily="34" charset="-122"/>
                <a:cs typeface="Arial" pitchFamily="34" charset="-120"/>
              </a:rPr>
              <a:t>Vandaag</a:t>
            </a:r>
            <a:endParaRPr lang="en-US" sz="1400" dirty="0"/>
          </a:p>
        </p:txBody>
      </p:sp>
      <p:sp>
        <p:nvSpPr>
          <p:cNvPr id="6" name="Shape 4"/>
          <p:cNvSpPr/>
          <p:nvPr/>
        </p:nvSpPr>
        <p:spPr>
          <a:xfrm>
            <a:off x="713232" y="1828800"/>
            <a:ext cx="347472" cy="347472"/>
          </a:xfrm>
          <a:prstGeom prst="ellipse">
            <a:avLst/>
          </a:prstGeom>
          <a:solidFill>
            <a:srgbClr val="86BC25"/>
          </a:solidFill>
          <a:ln w="12700">
            <a:solidFill>
              <a:srgbClr val="86BC25"/>
            </a:solidFill>
            <a:prstDash val="solid"/>
          </a:ln>
        </p:spPr>
      </p:sp>
      <p:sp>
        <p:nvSpPr>
          <p:cNvPr id="7" name="Text 5"/>
          <p:cNvSpPr/>
          <p:nvPr/>
        </p:nvSpPr>
        <p:spPr>
          <a:xfrm>
            <a:off x="676656" y="1810512"/>
            <a:ext cx="420624"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8" name="Text 6"/>
          <p:cNvSpPr/>
          <p:nvPr/>
        </p:nvSpPr>
        <p:spPr>
          <a:xfrm>
            <a:off x="1207008" y="1755648"/>
            <a:ext cx="3108960" cy="868680"/>
          </a:xfrm>
          <a:prstGeom prst="rect">
            <a:avLst/>
          </a:prstGeom>
          <a:noFill/>
          <a:ln/>
        </p:spPr>
        <p:txBody>
          <a:bodyPr wrap="square" lIns="0" tIns="0" rIns="0" bIns="0" rtlCol="0" anchor="ctr"/>
          <a:lstStyle/>
          <a:p>
            <a:pPr indent="0" marL="0">
              <a:buNone/>
            </a:pPr>
            <a:r>
              <a:rPr lang="en-US" sz="1150" dirty="0">
                <a:solidFill>
                  <a:srgbClr val="1A1A1A"/>
                </a:solidFill>
                <a:latin typeface="Arial" pitchFamily="34" charset="0"/>
                <a:ea typeface="Arial" pitchFamily="34" charset="-122"/>
                <a:cs typeface="Arial" pitchFamily="34" charset="-120"/>
              </a:rPr>
              <a:t>796.6, facturen en transferdocumenten komen per mail of dossier binnen</a:t>
            </a:r>
            <a:endParaRPr lang="en-US" sz="1150" dirty="0"/>
          </a:p>
        </p:txBody>
      </p:sp>
      <p:sp>
        <p:nvSpPr>
          <p:cNvPr id="9" name="Shape 7"/>
          <p:cNvSpPr/>
          <p:nvPr/>
        </p:nvSpPr>
        <p:spPr>
          <a:xfrm>
            <a:off x="713232" y="2761488"/>
            <a:ext cx="347472" cy="347472"/>
          </a:xfrm>
          <a:prstGeom prst="ellipse">
            <a:avLst/>
          </a:prstGeom>
          <a:solidFill>
            <a:srgbClr val="86BC25"/>
          </a:solidFill>
          <a:ln w="12700">
            <a:solidFill>
              <a:srgbClr val="86BC25"/>
            </a:solidFill>
            <a:prstDash val="solid"/>
          </a:ln>
        </p:spPr>
      </p:sp>
      <p:sp>
        <p:nvSpPr>
          <p:cNvPr id="10" name="Text 8"/>
          <p:cNvSpPr/>
          <p:nvPr/>
        </p:nvSpPr>
        <p:spPr>
          <a:xfrm>
            <a:off x="676656" y="2743200"/>
            <a:ext cx="420624"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1" name="Text 9"/>
          <p:cNvSpPr/>
          <p:nvPr/>
        </p:nvSpPr>
        <p:spPr>
          <a:xfrm>
            <a:off x="1207008" y="2688336"/>
            <a:ext cx="3108960" cy="868680"/>
          </a:xfrm>
          <a:prstGeom prst="rect">
            <a:avLst/>
          </a:prstGeom>
          <a:noFill/>
          <a:ln/>
        </p:spPr>
        <p:txBody>
          <a:bodyPr wrap="square" lIns="0" tIns="0" rIns="0" bIns="0" rtlCol="0" anchor="ctr"/>
          <a:lstStyle/>
          <a:p>
            <a:pPr indent="0" marL="0">
              <a:buNone/>
            </a:pPr>
            <a:r>
              <a:rPr lang="en-US" sz="1150" dirty="0">
                <a:solidFill>
                  <a:srgbClr val="1A1A1A"/>
                </a:solidFill>
                <a:latin typeface="Arial" pitchFamily="34" charset="0"/>
                <a:ea typeface="Arial" pitchFamily="34" charset="-122"/>
                <a:cs typeface="Arial" pitchFamily="34" charset="-120"/>
              </a:rPr>
              <a:t>Elk document wordt handmatig gelezen en overgetypt</a:t>
            </a:r>
            <a:endParaRPr lang="en-US" sz="1150" dirty="0"/>
          </a:p>
        </p:txBody>
      </p:sp>
      <p:sp>
        <p:nvSpPr>
          <p:cNvPr id="12" name="Shape 10"/>
          <p:cNvSpPr/>
          <p:nvPr/>
        </p:nvSpPr>
        <p:spPr>
          <a:xfrm>
            <a:off x="713232" y="3694176"/>
            <a:ext cx="347472" cy="347472"/>
          </a:xfrm>
          <a:prstGeom prst="ellipse">
            <a:avLst/>
          </a:prstGeom>
          <a:solidFill>
            <a:srgbClr val="86BC25"/>
          </a:solidFill>
          <a:ln w="12700">
            <a:solidFill>
              <a:srgbClr val="86BC25"/>
            </a:solidFill>
            <a:prstDash val="solid"/>
          </a:ln>
        </p:spPr>
      </p:sp>
      <p:sp>
        <p:nvSpPr>
          <p:cNvPr id="13" name="Text 11"/>
          <p:cNvSpPr/>
          <p:nvPr/>
        </p:nvSpPr>
        <p:spPr>
          <a:xfrm>
            <a:off x="676656" y="3675888"/>
            <a:ext cx="420624"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4" name="Text 12"/>
          <p:cNvSpPr/>
          <p:nvPr/>
        </p:nvSpPr>
        <p:spPr>
          <a:xfrm>
            <a:off x="1207008" y="3621024"/>
            <a:ext cx="3108960" cy="868680"/>
          </a:xfrm>
          <a:prstGeom prst="rect">
            <a:avLst/>
          </a:prstGeom>
          <a:noFill/>
          <a:ln/>
        </p:spPr>
        <p:txBody>
          <a:bodyPr wrap="square" lIns="0" tIns="0" rIns="0" bIns="0" rtlCol="0" anchor="ctr"/>
          <a:lstStyle/>
          <a:p>
            <a:pPr indent="0" marL="0">
              <a:buNone/>
            </a:pPr>
            <a:r>
              <a:rPr lang="en-US" sz="1150" dirty="0">
                <a:solidFill>
                  <a:srgbClr val="1A1A1A"/>
                </a:solidFill>
                <a:latin typeface="Arial" pitchFamily="34" charset="0"/>
                <a:ea typeface="Arial" pitchFamily="34" charset="-122"/>
                <a:cs typeface="Arial" pitchFamily="34" charset="-120"/>
              </a:rPr>
              <a:t>Entry/Exit-documenten, VIES-bewijs en nota's worden los opgesteld en bewaard</a:t>
            </a:r>
            <a:endParaRPr lang="en-US" sz="1150" dirty="0"/>
          </a:p>
        </p:txBody>
      </p:sp>
      <p:sp>
        <p:nvSpPr>
          <p:cNvPr id="15" name="Shape 13"/>
          <p:cNvSpPr/>
          <p:nvPr/>
        </p:nvSpPr>
        <p:spPr>
          <a:xfrm>
            <a:off x="4709160" y="1280160"/>
            <a:ext cx="3977640" cy="3383280"/>
          </a:xfrm>
          <a:prstGeom prst="roundRect">
            <a:avLst>
              <a:gd name="adj" fmla="val 1622"/>
            </a:avLst>
          </a:prstGeom>
          <a:solidFill>
            <a:srgbClr val="F3F8E9"/>
          </a:solidFill>
          <a:ln w="9525">
            <a:solidFill>
              <a:srgbClr val="E3E3E3"/>
            </a:solidFill>
            <a:prstDash val="solid"/>
          </a:ln>
          <a:effectLst>
            <a:outerShdw sx="100000" sy="100000" kx="0" ky="0" algn="bl" rotWithShape="0" blurRad="76200" dist="25400" dir="2700000">
              <a:srgbClr val="000000">
                <a:alpha val="12000"/>
              </a:srgbClr>
            </a:outerShdw>
          </a:effectLst>
        </p:spPr>
      </p:sp>
      <p:sp>
        <p:nvSpPr>
          <p:cNvPr id="16" name="Text 14"/>
          <p:cNvSpPr/>
          <p:nvPr/>
        </p:nvSpPr>
        <p:spPr>
          <a:xfrm>
            <a:off x="4937760" y="1417320"/>
            <a:ext cx="3566160" cy="274320"/>
          </a:xfrm>
          <a:prstGeom prst="rect">
            <a:avLst/>
          </a:prstGeom>
          <a:noFill/>
          <a:ln/>
        </p:spPr>
        <p:txBody>
          <a:bodyPr wrap="square" lIns="0" tIns="0" rIns="0" bIns="0" rtlCol="0" anchor="ctr"/>
          <a:lstStyle/>
          <a:p>
            <a:pPr indent="0" marL="0">
              <a:buNone/>
            </a:pPr>
            <a:r>
              <a:rPr lang="en-US" sz="1400" b="1" dirty="0">
                <a:solidFill>
                  <a:srgbClr val="1A1A1A"/>
                </a:solidFill>
                <a:latin typeface="Arial" pitchFamily="34" charset="0"/>
                <a:ea typeface="Arial" pitchFamily="34" charset="-122"/>
                <a:cs typeface="Arial" pitchFamily="34" charset="-120"/>
              </a:rPr>
              <a:t>Structurele knelpunten</a:t>
            </a:r>
            <a:endParaRPr lang="en-US" sz="1400" dirty="0"/>
          </a:p>
        </p:txBody>
      </p:sp>
      <p:sp>
        <p:nvSpPr>
          <p:cNvPr id="17" name="Text 15"/>
          <p:cNvSpPr/>
          <p:nvPr/>
        </p:nvSpPr>
        <p:spPr>
          <a:xfrm>
            <a:off x="4937760" y="1783080"/>
            <a:ext cx="3520440" cy="2651760"/>
          </a:xfrm>
          <a:prstGeom prst="rect">
            <a:avLst/>
          </a:prstGeom>
          <a:noFill/>
          <a:ln/>
        </p:spPr>
        <p:txBody>
          <a:bodyPr wrap="square" rtlCol="0" anchor="t"/>
          <a:lstStyle/>
          <a:p>
            <a:pPr marL="152400" indent="-152400">
              <a:spcAft>
                <a:spcPts val="1000"/>
              </a:spcAft>
              <a:buSzPct val="100000"/>
              <a:buChar char="•"/>
            </a:pPr>
            <a:r>
              <a:rPr lang="en-US" sz="1200" dirty="0">
                <a:solidFill>
                  <a:srgbClr val="1A1A1A"/>
                </a:solidFill>
                <a:latin typeface="Arial" pitchFamily="34" charset="0"/>
                <a:ea typeface="Arial" pitchFamily="34" charset="-122"/>
                <a:cs typeface="Arial" pitchFamily="34" charset="-120"/>
              </a:rPr>
              <a:t>Handmatige data-entry per document, telkens opnieuw</a:t>
            </a:r>
            <a:endParaRPr lang="en-US" sz="1200" dirty="0"/>
          </a:p>
          <a:p>
            <a:pPr marL="152400" indent="-152400">
              <a:spcAft>
                <a:spcPts val="1000"/>
              </a:spcAft>
              <a:buSzPct val="100000"/>
              <a:buChar char="•"/>
            </a:pPr>
            <a:r>
              <a:rPr lang="en-US" sz="1200" dirty="0">
                <a:solidFill>
                  <a:srgbClr val="1A1A1A"/>
                </a:solidFill>
                <a:latin typeface="Arial" pitchFamily="34" charset="0"/>
                <a:ea typeface="Arial" pitchFamily="34" charset="-122"/>
                <a:cs typeface="Arial" pitchFamily="34" charset="-120"/>
              </a:rPr>
              <a:t>Layouts verschillen per klant en per leverancier</a:t>
            </a:r>
            <a:endParaRPr lang="en-US" sz="1200" dirty="0"/>
          </a:p>
          <a:p>
            <a:pPr marL="152400" indent="-152400">
              <a:spcAft>
                <a:spcPts val="1000"/>
              </a:spcAft>
              <a:buSzPct val="100000"/>
              <a:buChar char="•"/>
            </a:pPr>
            <a:r>
              <a:rPr lang="en-US" sz="1200" dirty="0">
                <a:solidFill>
                  <a:srgbClr val="1A1A1A"/>
                </a:solidFill>
                <a:latin typeface="Arial" pitchFamily="34" charset="0"/>
                <a:ea typeface="Arial" pitchFamily="34" charset="-122"/>
                <a:cs typeface="Arial" pitchFamily="34" charset="-120"/>
              </a:rPr>
              <a:t>Bewijsstukken (VIES, bestemming) verspreid over mailboxen en mappen</a:t>
            </a:r>
            <a:endParaRPr lang="en-US" sz="1200" dirty="0"/>
          </a:p>
          <a:p>
            <a:pPr marL="152400" indent="-152400">
              <a:spcAft>
                <a:spcPts val="1000"/>
              </a:spcAft>
              <a:buSzPct val="100000"/>
              <a:buChar char="•"/>
            </a:pPr>
            <a:r>
              <a:rPr lang="en-US" sz="1200" dirty="0">
                <a:solidFill>
                  <a:srgbClr val="1A1A1A"/>
                </a:solidFill>
                <a:latin typeface="Arial" pitchFamily="34" charset="0"/>
                <a:ea typeface="Arial" pitchFamily="34" charset="-122"/>
                <a:cs typeface="Arial" pitchFamily="34" charset="-120"/>
              </a:rPr>
              <a:t>Geen centrale audit trail per dossier</a:t>
            </a:r>
            <a:endParaRPr lang="en-US" sz="1200" dirty="0"/>
          </a:p>
        </p:txBody>
      </p:sp>
      <p:sp>
        <p:nvSpPr>
          <p:cNvPr id="18" name="Text 16"/>
          <p:cNvSpPr/>
          <p:nvPr/>
        </p:nvSpPr>
        <p:spPr>
          <a:xfrm>
            <a:off x="457200" y="4864608"/>
            <a:ext cx="3200400" cy="228600"/>
          </a:xfrm>
          <a:prstGeom prst="rect">
            <a:avLst/>
          </a:prstGeom>
          <a:noFill/>
          <a:ln/>
        </p:spPr>
        <p:txBody>
          <a:bodyPr wrap="square" lIns="0" tIns="0" rIns="0" bIns="0" rtlCol="0" anchor="ctr"/>
          <a:lstStyle/>
          <a:p>
            <a:pPr indent="0" marL="0">
              <a:buNone/>
            </a:pPr>
            <a:r>
              <a:rPr lang="en-US" sz="850" dirty="0">
                <a:solidFill>
                  <a:srgbClr val="9A9A9A"/>
                </a:solidFill>
                <a:latin typeface="Arial" pitchFamily="34" charset="0"/>
                <a:ea typeface="Arial" pitchFamily="34" charset="-122"/>
                <a:cs typeface="Arial" pitchFamily="34" charset="-120"/>
              </a:rPr>
              <a:t>Deloitte | Intern werkdocument</a:t>
            </a:r>
            <a:endParaRPr lang="en-US" sz="850" dirty="0"/>
          </a:p>
        </p:txBody>
      </p:sp>
      <p:sp>
        <p:nvSpPr>
          <p:cNvPr id="19" name="Text 17"/>
          <p:cNvSpPr/>
          <p:nvPr/>
        </p:nvSpPr>
        <p:spPr>
          <a:xfrm>
            <a:off x="8503920" y="4864608"/>
            <a:ext cx="274320" cy="228600"/>
          </a:xfrm>
          <a:prstGeom prst="rect">
            <a:avLst/>
          </a:prstGeom>
          <a:noFill/>
          <a:ln/>
        </p:spPr>
        <p:txBody>
          <a:bodyPr wrap="square" lIns="0" tIns="0" rIns="0" bIns="0" rtlCol="0" anchor="ctr"/>
          <a:lstStyle/>
          <a:p>
            <a:pPr algn="r" indent="0" marL="0">
              <a:buNone/>
            </a:pPr>
            <a:r>
              <a:rPr lang="en-US" sz="850" dirty="0">
                <a:solidFill>
                  <a:srgbClr val="9A9A9A"/>
                </a:solidFill>
                <a:latin typeface="Arial" pitchFamily="34" charset="0"/>
                <a:ea typeface="Arial" pitchFamily="34" charset="-122"/>
                <a:cs typeface="Arial" pitchFamily="34" charset="-120"/>
              </a:rPr>
              <a:t>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237744"/>
          </a:xfrm>
          <a:prstGeom prst="rect">
            <a:avLst/>
          </a:prstGeom>
          <a:noFill/>
          <a:ln/>
        </p:spPr>
        <p:txBody>
          <a:bodyPr wrap="square" lIns="0" tIns="0" rIns="0" bIns="0" rtlCol="0" anchor="ctr"/>
          <a:lstStyle/>
          <a:p>
            <a:pPr indent="0" marL="0">
              <a:buNone/>
            </a:pPr>
            <a:r>
              <a:rPr lang="en-US" sz="1050" b="1" spc="300" kern="0" dirty="0">
                <a:solidFill>
                  <a:srgbClr val="4C7016"/>
                </a:solidFill>
                <a:latin typeface="Arial" pitchFamily="34" charset="0"/>
                <a:ea typeface="Arial" pitchFamily="34" charset="-122"/>
                <a:cs typeface="Arial" pitchFamily="34" charset="-120"/>
              </a:rPr>
              <a:t>PROCESOVERZICHT</a:t>
            </a:r>
            <a:endParaRPr lang="en-US" sz="1050" dirty="0"/>
          </a:p>
        </p:txBody>
      </p:sp>
      <p:sp>
        <p:nvSpPr>
          <p:cNvPr id="3" name="Text 1"/>
          <p:cNvSpPr/>
          <p:nvPr/>
        </p:nvSpPr>
        <p:spPr>
          <a:xfrm>
            <a:off x="457200" y="530352"/>
            <a:ext cx="8229600" cy="502920"/>
          </a:xfrm>
          <a:prstGeom prst="rect">
            <a:avLst/>
          </a:prstGeom>
          <a:noFill/>
          <a:ln/>
        </p:spPr>
        <p:txBody>
          <a:bodyPr wrap="square" lIns="0" tIns="0" rIns="0" bIns="0" rtlCol="0" anchor="ctr"/>
          <a:lstStyle/>
          <a:p>
            <a:pPr indent="0" marL="0">
              <a:buNone/>
            </a:pPr>
            <a:r>
              <a:rPr lang="en-US" sz="2300" b="1" dirty="0">
                <a:solidFill>
                  <a:srgbClr val="1A1A1A"/>
                </a:solidFill>
                <a:latin typeface="Arial" pitchFamily="34" charset="0"/>
                <a:ea typeface="Arial" pitchFamily="34" charset="-122"/>
                <a:cs typeface="Arial" pitchFamily="34" charset="-120"/>
              </a:rPr>
              <a:t>Eén proces, twee richtingen, dertien documenttypes</a:t>
            </a:r>
            <a:endParaRPr lang="en-US" sz="2300" dirty="0"/>
          </a:p>
        </p:txBody>
      </p:sp>
      <p:sp>
        <p:nvSpPr>
          <p:cNvPr id="4" name="Shape 2"/>
          <p:cNvSpPr/>
          <p:nvPr/>
        </p:nvSpPr>
        <p:spPr>
          <a:xfrm>
            <a:off x="457200" y="1325880"/>
            <a:ext cx="3749040" cy="3246120"/>
          </a:xfrm>
          <a:prstGeom prst="roundRect">
            <a:avLst>
              <a:gd name="adj" fmla="val 1690"/>
            </a:avLst>
          </a:prstGeom>
          <a:solidFill>
            <a:srgbClr val="F5F5F5"/>
          </a:solidFill>
          <a:ln w="9525">
            <a:solidFill>
              <a:srgbClr val="E3E3E3"/>
            </a:solidFill>
            <a:prstDash val="solid"/>
          </a:ln>
          <a:effectLst>
            <a:outerShdw sx="100000" sy="100000" kx="0" ky="0" algn="bl" rotWithShape="0" blurRad="76200" dist="25400" dir="2700000">
              <a:srgbClr val="000000">
                <a:alpha val="12000"/>
              </a:srgbClr>
            </a:outerShdw>
          </a:effectLst>
        </p:spPr>
      </p:sp>
      <p:sp>
        <p:nvSpPr>
          <p:cNvPr id="5" name="Text 3"/>
          <p:cNvSpPr/>
          <p:nvPr/>
        </p:nvSpPr>
        <p:spPr>
          <a:xfrm>
            <a:off x="685800" y="1463040"/>
            <a:ext cx="3291840" cy="274320"/>
          </a:xfrm>
          <a:prstGeom prst="rect">
            <a:avLst/>
          </a:prstGeom>
          <a:noFill/>
          <a:ln/>
        </p:spPr>
        <p:txBody>
          <a:bodyPr wrap="square" lIns="0" tIns="0" rIns="0" bIns="0" rtlCol="0" anchor="ctr"/>
          <a:lstStyle/>
          <a:p>
            <a:pPr indent="0" marL="0">
              <a:buNone/>
            </a:pPr>
            <a:r>
              <a:rPr lang="en-US" sz="1300" b="1" dirty="0">
                <a:solidFill>
                  <a:srgbClr val="4C7016"/>
                </a:solidFill>
                <a:latin typeface="Arial" pitchFamily="34" charset="0"/>
                <a:ea typeface="Arial" pitchFamily="34" charset="-122"/>
                <a:cs typeface="Arial" pitchFamily="34" charset="-120"/>
              </a:rPr>
              <a:t>INPUT (inslag)</a:t>
            </a:r>
            <a:endParaRPr lang="en-US" sz="1300" dirty="0"/>
          </a:p>
        </p:txBody>
      </p:sp>
      <p:sp>
        <p:nvSpPr>
          <p:cNvPr id="6" name="Text 4"/>
          <p:cNvSpPr/>
          <p:nvPr/>
        </p:nvSpPr>
        <p:spPr>
          <a:xfrm>
            <a:off x="685800" y="1828800"/>
            <a:ext cx="3291840" cy="1097280"/>
          </a:xfrm>
          <a:prstGeom prst="rect">
            <a:avLst/>
          </a:prstGeom>
          <a:noFill/>
          <a:ln/>
        </p:spPr>
        <p:txBody>
          <a:bodyPr wrap="square" rtlCol="0" anchor="t"/>
          <a:lstStyle/>
          <a:p>
            <a:pPr marL="152400" indent="-152400">
              <a:spcAft>
                <a:spcPts val="500"/>
              </a:spcAft>
              <a:buSzPct val="100000"/>
              <a:buChar char="•"/>
            </a:pPr>
            <a:r>
              <a:rPr lang="en-US" sz="1200" dirty="0">
                <a:solidFill>
                  <a:srgbClr val="1A1A1A"/>
                </a:solidFill>
                <a:latin typeface="Arial" pitchFamily="34" charset="0"/>
                <a:ea typeface="Arial" pitchFamily="34" charset="-122"/>
                <a:cs typeface="Arial" pitchFamily="34" charset="-120"/>
              </a:rPr>
              <a:t>Douane Invoerdocument 796.6</a:t>
            </a:r>
            <a:endParaRPr lang="en-US" sz="1200" dirty="0"/>
          </a:p>
          <a:p>
            <a:pPr marL="152400" indent="-152400">
              <a:spcAft>
                <a:spcPts val="500"/>
              </a:spcAft>
              <a:buSzPct val="100000"/>
              <a:buChar char="•"/>
            </a:pPr>
            <a:r>
              <a:rPr lang="en-US" sz="1200" dirty="0">
                <a:solidFill>
                  <a:srgbClr val="1A1A1A"/>
                </a:solidFill>
                <a:latin typeface="Arial" pitchFamily="34" charset="0"/>
                <a:ea typeface="Arial" pitchFamily="34" charset="-122"/>
                <a:cs typeface="Arial" pitchFamily="34" charset="-120"/>
              </a:rPr>
              <a:t>Verkoopfactuur / supplier invoice</a:t>
            </a:r>
            <a:endParaRPr lang="en-US" sz="1200" dirty="0"/>
          </a:p>
          <a:p>
            <a:pPr marL="152400" indent="-152400">
              <a:spcAft>
                <a:spcPts val="500"/>
              </a:spcAft>
              <a:buSzPct val="100000"/>
              <a:buChar char="•"/>
            </a:pPr>
            <a:r>
              <a:rPr lang="en-US" sz="1200" dirty="0">
                <a:solidFill>
                  <a:srgbClr val="1A1A1A"/>
                </a:solidFill>
                <a:latin typeface="Arial" pitchFamily="34" charset="0"/>
                <a:ea typeface="Arial" pitchFamily="34" charset="-122"/>
                <a:cs typeface="Arial" pitchFamily="34" charset="-120"/>
              </a:rPr>
              <a:t>Transferdocumenten</a:t>
            </a:r>
            <a:endParaRPr lang="en-US" sz="1200" dirty="0"/>
          </a:p>
        </p:txBody>
      </p:sp>
      <p:sp>
        <p:nvSpPr>
          <p:cNvPr id="7" name="Shape 5"/>
          <p:cNvSpPr/>
          <p:nvPr/>
        </p:nvSpPr>
        <p:spPr>
          <a:xfrm>
            <a:off x="685800" y="2999232"/>
            <a:ext cx="3246120" cy="0"/>
          </a:xfrm>
          <a:prstGeom prst="line">
            <a:avLst/>
          </a:prstGeom>
          <a:noFill/>
          <a:ln w="12700">
            <a:solidFill>
              <a:srgbClr val="DADADA"/>
            </a:solidFill>
            <a:prstDash val="solid"/>
          </a:ln>
        </p:spPr>
      </p:sp>
      <p:sp>
        <p:nvSpPr>
          <p:cNvPr id="8" name="Text 6"/>
          <p:cNvSpPr/>
          <p:nvPr/>
        </p:nvSpPr>
        <p:spPr>
          <a:xfrm>
            <a:off x="685800" y="3054096"/>
            <a:ext cx="3291840" cy="228600"/>
          </a:xfrm>
          <a:prstGeom prst="rect">
            <a:avLst/>
          </a:prstGeom>
          <a:noFill/>
          <a:ln/>
        </p:spPr>
        <p:txBody>
          <a:bodyPr wrap="square" lIns="0" tIns="0" rIns="0" bIns="0" rtlCol="0" anchor="ctr"/>
          <a:lstStyle/>
          <a:p>
            <a:pPr indent="0" marL="0">
              <a:buNone/>
            </a:pPr>
            <a:r>
              <a:rPr lang="en-US" sz="950" i="1" dirty="0">
                <a:solidFill>
                  <a:srgbClr val="5B5B5B"/>
                </a:solidFill>
                <a:latin typeface="Arial" pitchFamily="34" charset="0"/>
                <a:ea typeface="Arial" pitchFamily="34" charset="-122"/>
                <a:cs typeface="Arial" pitchFamily="34" charset="-120"/>
              </a:rPr>
              <a:t>wordt</a:t>
            </a:r>
            <a:endParaRPr lang="en-US" sz="950" dirty="0"/>
          </a:p>
        </p:txBody>
      </p:sp>
      <p:sp>
        <p:nvSpPr>
          <p:cNvPr id="9" name="Text 7"/>
          <p:cNvSpPr/>
          <p:nvPr/>
        </p:nvSpPr>
        <p:spPr>
          <a:xfrm>
            <a:off x="685800" y="3310128"/>
            <a:ext cx="3291840" cy="1005840"/>
          </a:xfrm>
          <a:prstGeom prst="rect">
            <a:avLst/>
          </a:prstGeom>
          <a:noFill/>
          <a:ln/>
        </p:spPr>
        <p:txBody>
          <a:bodyPr wrap="square" rtlCol="0" anchor="t"/>
          <a:lstStyle/>
          <a:p>
            <a:pPr marL="152400" indent="-152400">
              <a:spcAft>
                <a:spcPts val="500"/>
              </a:spcAft>
              <a:buSzPct val="100000"/>
              <a:buChar char="•"/>
            </a:pPr>
            <a:r>
              <a:rPr lang="en-US" sz="1200" dirty="0">
                <a:solidFill>
                  <a:srgbClr val="1A1A1A"/>
                </a:solidFill>
                <a:latin typeface="Arial" pitchFamily="34" charset="0"/>
                <a:ea typeface="Arial" pitchFamily="34" charset="-122"/>
                <a:cs typeface="Arial" pitchFamily="34" charset="-120"/>
              </a:rPr>
              <a:t>Inslagdocument</a:t>
            </a:r>
            <a:endParaRPr lang="en-US" sz="1200" dirty="0"/>
          </a:p>
          <a:p>
            <a:pPr marL="152400" indent="-152400">
              <a:spcAft>
                <a:spcPts val="500"/>
              </a:spcAft>
              <a:buSzPct val="100000"/>
              <a:buChar char="•"/>
            </a:pPr>
            <a:r>
              <a:rPr lang="en-US" sz="1200" dirty="0">
                <a:solidFill>
                  <a:srgbClr val="1A1A1A"/>
                </a:solidFill>
                <a:latin typeface="Arial" pitchFamily="34" charset="0"/>
                <a:ea typeface="Arial" pitchFamily="34" charset="-122"/>
                <a:cs typeface="Arial" pitchFamily="34" charset="-120"/>
              </a:rPr>
              <a:t>Entry Document VAT-Warehouse</a:t>
            </a:r>
            <a:endParaRPr lang="en-US" sz="1200" dirty="0"/>
          </a:p>
        </p:txBody>
      </p:sp>
      <p:sp>
        <p:nvSpPr>
          <p:cNvPr id="10" name="Text 8"/>
          <p:cNvSpPr/>
          <p:nvPr/>
        </p:nvSpPr>
        <p:spPr>
          <a:xfrm>
            <a:off x="4224528" y="2606040"/>
            <a:ext cx="685800" cy="548640"/>
          </a:xfrm>
          <a:prstGeom prst="rect">
            <a:avLst/>
          </a:prstGeom>
          <a:noFill/>
          <a:ln/>
        </p:spPr>
        <p:txBody>
          <a:bodyPr wrap="square" lIns="0" tIns="0" rIns="0" bIns="0" rtlCol="0" anchor="ctr"/>
          <a:lstStyle/>
          <a:p>
            <a:pPr algn="ctr" indent="0" marL="0">
              <a:buNone/>
            </a:pPr>
            <a:r>
              <a:rPr lang="en-US" sz="3000" b="1" dirty="0">
                <a:solidFill>
                  <a:srgbClr val="86BC25"/>
                </a:solidFill>
                <a:latin typeface="Arial" pitchFamily="34" charset="0"/>
                <a:ea typeface="Arial" pitchFamily="34" charset="-122"/>
                <a:cs typeface="Arial" pitchFamily="34" charset="-120"/>
              </a:rPr>
              <a:t>→</a:t>
            </a:r>
            <a:endParaRPr lang="en-US" sz="3000" dirty="0"/>
          </a:p>
        </p:txBody>
      </p:sp>
      <p:sp>
        <p:nvSpPr>
          <p:cNvPr id="11" name="Shape 9"/>
          <p:cNvSpPr/>
          <p:nvPr/>
        </p:nvSpPr>
        <p:spPr>
          <a:xfrm>
            <a:off x="4937760" y="1325880"/>
            <a:ext cx="3749040" cy="3246120"/>
          </a:xfrm>
          <a:prstGeom prst="roundRect">
            <a:avLst>
              <a:gd name="adj" fmla="val 1690"/>
            </a:avLst>
          </a:prstGeom>
          <a:solidFill>
            <a:srgbClr val="F3F8E9"/>
          </a:solidFill>
          <a:ln w="9525">
            <a:solidFill>
              <a:srgbClr val="E3E3E3"/>
            </a:solidFill>
            <a:prstDash val="solid"/>
          </a:ln>
          <a:effectLst>
            <a:outerShdw sx="100000" sy="100000" kx="0" ky="0" algn="bl" rotWithShape="0" blurRad="76200" dist="25400" dir="2700000">
              <a:srgbClr val="000000">
                <a:alpha val="12000"/>
              </a:srgbClr>
            </a:outerShdw>
          </a:effectLst>
        </p:spPr>
      </p:sp>
      <p:sp>
        <p:nvSpPr>
          <p:cNvPr id="12" name="Text 10"/>
          <p:cNvSpPr/>
          <p:nvPr/>
        </p:nvSpPr>
        <p:spPr>
          <a:xfrm>
            <a:off x="5166360" y="1463040"/>
            <a:ext cx="3291840" cy="274320"/>
          </a:xfrm>
          <a:prstGeom prst="rect">
            <a:avLst/>
          </a:prstGeom>
          <a:noFill/>
          <a:ln/>
        </p:spPr>
        <p:txBody>
          <a:bodyPr wrap="square" lIns="0" tIns="0" rIns="0" bIns="0" rtlCol="0" anchor="ctr"/>
          <a:lstStyle/>
          <a:p>
            <a:pPr indent="0" marL="0">
              <a:buNone/>
            </a:pPr>
            <a:r>
              <a:rPr lang="en-US" sz="1300" b="1" dirty="0">
                <a:solidFill>
                  <a:srgbClr val="4C7016"/>
                </a:solidFill>
                <a:latin typeface="Arial" pitchFamily="34" charset="0"/>
                <a:ea typeface="Arial" pitchFamily="34" charset="-122"/>
                <a:cs typeface="Arial" pitchFamily="34" charset="-120"/>
              </a:rPr>
              <a:t>OUTPUT (uitslag)</a:t>
            </a:r>
            <a:endParaRPr lang="en-US" sz="1300" dirty="0"/>
          </a:p>
        </p:txBody>
      </p:sp>
      <p:sp>
        <p:nvSpPr>
          <p:cNvPr id="13" name="Text 11"/>
          <p:cNvSpPr/>
          <p:nvPr/>
        </p:nvSpPr>
        <p:spPr>
          <a:xfrm>
            <a:off x="5166360" y="1828800"/>
            <a:ext cx="3291840" cy="1097280"/>
          </a:xfrm>
          <a:prstGeom prst="rect">
            <a:avLst/>
          </a:prstGeom>
          <a:noFill/>
          <a:ln/>
        </p:spPr>
        <p:txBody>
          <a:bodyPr wrap="square" rtlCol="0" anchor="t"/>
          <a:lstStyle/>
          <a:p>
            <a:pPr marL="152400" indent="-152400">
              <a:spcAft>
                <a:spcPts val="500"/>
              </a:spcAft>
              <a:buSzPct val="100000"/>
              <a:buChar char="•"/>
            </a:pPr>
            <a:r>
              <a:rPr lang="en-US" sz="1200" dirty="0">
                <a:solidFill>
                  <a:srgbClr val="1A1A1A"/>
                </a:solidFill>
                <a:latin typeface="Arial" pitchFamily="34" charset="0"/>
                <a:ea typeface="Arial" pitchFamily="34" charset="-122"/>
                <a:cs typeface="Arial" pitchFamily="34" charset="-120"/>
              </a:rPr>
              <a:t>Verkoopfactuur / sales invoice</a:t>
            </a:r>
            <a:endParaRPr lang="en-US" sz="1200" dirty="0"/>
          </a:p>
          <a:p>
            <a:pPr marL="152400" indent="-152400">
              <a:spcAft>
                <a:spcPts val="500"/>
              </a:spcAft>
              <a:buSzPct val="100000"/>
              <a:buChar char="•"/>
            </a:pPr>
            <a:r>
              <a:rPr lang="en-US" sz="1200" dirty="0">
                <a:solidFill>
                  <a:srgbClr val="1A1A1A"/>
                </a:solidFill>
                <a:latin typeface="Arial" pitchFamily="34" charset="0"/>
                <a:ea typeface="Arial" pitchFamily="34" charset="-122"/>
                <a:cs typeface="Arial" pitchFamily="34" charset="-120"/>
              </a:rPr>
              <a:t>Douane Uitvoerdocument 796.6</a:t>
            </a:r>
            <a:endParaRPr lang="en-US" sz="1200" dirty="0"/>
          </a:p>
          <a:p>
            <a:pPr marL="152400" indent="-152400">
              <a:spcAft>
                <a:spcPts val="500"/>
              </a:spcAft>
              <a:buSzPct val="100000"/>
              <a:buChar char="•"/>
            </a:pPr>
            <a:r>
              <a:rPr lang="en-US" sz="1200" dirty="0">
                <a:solidFill>
                  <a:srgbClr val="1A1A1A"/>
                </a:solidFill>
                <a:latin typeface="Arial" pitchFamily="34" charset="0"/>
                <a:ea typeface="Arial" pitchFamily="34" charset="-122"/>
                <a:cs typeface="Arial" pitchFamily="34" charset="-120"/>
              </a:rPr>
              <a:t>Transferdocumenten</a:t>
            </a:r>
            <a:endParaRPr lang="en-US" sz="1200" dirty="0"/>
          </a:p>
        </p:txBody>
      </p:sp>
      <p:sp>
        <p:nvSpPr>
          <p:cNvPr id="14" name="Shape 12"/>
          <p:cNvSpPr/>
          <p:nvPr/>
        </p:nvSpPr>
        <p:spPr>
          <a:xfrm>
            <a:off x="5166360" y="2999232"/>
            <a:ext cx="3246120" cy="0"/>
          </a:xfrm>
          <a:prstGeom prst="line">
            <a:avLst/>
          </a:prstGeom>
          <a:noFill/>
          <a:ln w="12700">
            <a:solidFill>
              <a:srgbClr val="D0DCBB"/>
            </a:solidFill>
            <a:prstDash val="solid"/>
          </a:ln>
        </p:spPr>
      </p:sp>
      <p:sp>
        <p:nvSpPr>
          <p:cNvPr id="15" name="Text 13"/>
          <p:cNvSpPr/>
          <p:nvPr/>
        </p:nvSpPr>
        <p:spPr>
          <a:xfrm>
            <a:off x="5166360" y="3054096"/>
            <a:ext cx="3291840" cy="228600"/>
          </a:xfrm>
          <a:prstGeom prst="rect">
            <a:avLst/>
          </a:prstGeom>
          <a:noFill/>
          <a:ln/>
        </p:spPr>
        <p:txBody>
          <a:bodyPr wrap="square" lIns="0" tIns="0" rIns="0" bIns="0" rtlCol="0" anchor="ctr"/>
          <a:lstStyle/>
          <a:p>
            <a:pPr indent="0" marL="0">
              <a:buNone/>
            </a:pPr>
            <a:r>
              <a:rPr lang="en-US" sz="950" i="1" dirty="0">
                <a:solidFill>
                  <a:srgbClr val="5B5B5B"/>
                </a:solidFill>
                <a:latin typeface="Arial" pitchFamily="34" charset="0"/>
                <a:ea typeface="Arial" pitchFamily="34" charset="-122"/>
                <a:cs typeface="Arial" pitchFamily="34" charset="-120"/>
              </a:rPr>
              <a:t>triggert</a:t>
            </a:r>
            <a:endParaRPr lang="en-US" sz="950" dirty="0"/>
          </a:p>
        </p:txBody>
      </p:sp>
      <p:sp>
        <p:nvSpPr>
          <p:cNvPr id="16" name="Text 14"/>
          <p:cNvSpPr/>
          <p:nvPr/>
        </p:nvSpPr>
        <p:spPr>
          <a:xfrm>
            <a:off x="5166360" y="3310128"/>
            <a:ext cx="3291840" cy="1097280"/>
          </a:xfrm>
          <a:prstGeom prst="rect">
            <a:avLst/>
          </a:prstGeom>
          <a:noFill/>
          <a:ln/>
        </p:spPr>
        <p:txBody>
          <a:bodyPr wrap="square" rtlCol="0" anchor="t"/>
          <a:lstStyle/>
          <a:p>
            <a:pPr marL="152400" indent="-152400">
              <a:spcAft>
                <a:spcPts val="500"/>
              </a:spcAft>
              <a:buSzPct val="100000"/>
              <a:buChar char="•"/>
            </a:pPr>
            <a:r>
              <a:rPr lang="en-US" sz="1200" dirty="0">
                <a:solidFill>
                  <a:srgbClr val="1A1A1A"/>
                </a:solidFill>
                <a:latin typeface="Arial" pitchFamily="34" charset="0"/>
                <a:ea typeface="Arial" pitchFamily="34" charset="-122"/>
                <a:cs typeface="Arial" pitchFamily="34" charset="-120"/>
              </a:rPr>
              <a:t>Uitslagdocument + Exit Document</a:t>
            </a:r>
            <a:endParaRPr lang="en-US" sz="1200" dirty="0"/>
          </a:p>
          <a:p>
            <a:pPr marL="152400" indent="-152400">
              <a:spcAft>
                <a:spcPts val="500"/>
              </a:spcAft>
              <a:buSzPct val="100000"/>
              <a:buChar char="•"/>
            </a:pPr>
            <a:r>
              <a:rPr lang="en-US" sz="1200" dirty="0">
                <a:solidFill>
                  <a:srgbClr val="1A1A1A"/>
                </a:solidFill>
                <a:latin typeface="Arial" pitchFamily="34" charset="0"/>
                <a:ea typeface="Arial" pitchFamily="34" charset="-122"/>
                <a:cs typeface="Arial" pitchFamily="34" charset="-120"/>
              </a:rPr>
              <a:t>VIES Check + Bestemmingsdocument</a:t>
            </a:r>
            <a:endParaRPr lang="en-US" sz="1200" dirty="0"/>
          </a:p>
          <a:p>
            <a:pPr marL="152400" indent="-152400">
              <a:spcAft>
                <a:spcPts val="500"/>
              </a:spcAft>
              <a:buSzPct val="100000"/>
              <a:buChar char="•"/>
            </a:pPr>
            <a:r>
              <a:rPr lang="en-US" sz="1200" dirty="0">
                <a:solidFill>
                  <a:srgbClr val="1A1A1A"/>
                </a:solidFill>
                <a:latin typeface="Arial" pitchFamily="34" charset="0"/>
                <a:ea typeface="Arial" pitchFamily="34" charset="-122"/>
                <a:cs typeface="Arial" pitchFamily="34" charset="-120"/>
              </a:rPr>
              <a:t>BTW Nota</a:t>
            </a:r>
            <a:endParaRPr lang="en-US" sz="1200" dirty="0"/>
          </a:p>
        </p:txBody>
      </p:sp>
      <p:sp>
        <p:nvSpPr>
          <p:cNvPr id="17" name="Text 15"/>
          <p:cNvSpPr/>
          <p:nvPr/>
        </p:nvSpPr>
        <p:spPr>
          <a:xfrm>
            <a:off x="457200" y="4864608"/>
            <a:ext cx="3200400" cy="228600"/>
          </a:xfrm>
          <a:prstGeom prst="rect">
            <a:avLst/>
          </a:prstGeom>
          <a:noFill/>
          <a:ln/>
        </p:spPr>
        <p:txBody>
          <a:bodyPr wrap="square" lIns="0" tIns="0" rIns="0" bIns="0" rtlCol="0" anchor="ctr"/>
          <a:lstStyle/>
          <a:p>
            <a:pPr indent="0" marL="0">
              <a:buNone/>
            </a:pPr>
            <a:r>
              <a:rPr lang="en-US" sz="850" dirty="0">
                <a:solidFill>
                  <a:srgbClr val="9A9A9A"/>
                </a:solidFill>
                <a:latin typeface="Arial" pitchFamily="34" charset="0"/>
                <a:ea typeface="Arial" pitchFamily="34" charset="-122"/>
                <a:cs typeface="Arial" pitchFamily="34" charset="-120"/>
              </a:rPr>
              <a:t>Deloitte | Intern werkdocument</a:t>
            </a:r>
            <a:endParaRPr lang="en-US" sz="850" dirty="0"/>
          </a:p>
        </p:txBody>
      </p:sp>
      <p:sp>
        <p:nvSpPr>
          <p:cNvPr id="18" name="Text 16"/>
          <p:cNvSpPr/>
          <p:nvPr/>
        </p:nvSpPr>
        <p:spPr>
          <a:xfrm>
            <a:off x="8503920" y="4864608"/>
            <a:ext cx="274320" cy="228600"/>
          </a:xfrm>
          <a:prstGeom prst="rect">
            <a:avLst/>
          </a:prstGeom>
          <a:noFill/>
          <a:ln/>
        </p:spPr>
        <p:txBody>
          <a:bodyPr wrap="square" lIns="0" tIns="0" rIns="0" bIns="0" rtlCol="0" anchor="ctr"/>
          <a:lstStyle/>
          <a:p>
            <a:pPr algn="r" indent="0" marL="0">
              <a:buNone/>
            </a:pPr>
            <a:r>
              <a:rPr lang="en-US" sz="850" dirty="0">
                <a:solidFill>
                  <a:srgbClr val="9A9A9A"/>
                </a:solidFill>
                <a:latin typeface="Arial" pitchFamily="34" charset="0"/>
                <a:ea typeface="Arial" pitchFamily="34" charset="-122"/>
                <a:cs typeface="Arial" pitchFamily="34" charset="-120"/>
              </a:rPr>
              <a:t>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237744"/>
          </a:xfrm>
          <a:prstGeom prst="rect">
            <a:avLst/>
          </a:prstGeom>
          <a:noFill/>
          <a:ln/>
        </p:spPr>
        <p:txBody>
          <a:bodyPr wrap="square" lIns="0" tIns="0" rIns="0" bIns="0" rtlCol="0" anchor="ctr"/>
          <a:lstStyle/>
          <a:p>
            <a:pPr indent="0" marL="0">
              <a:buNone/>
            </a:pPr>
            <a:r>
              <a:rPr lang="en-US" sz="1050" b="1" spc="300" kern="0" dirty="0">
                <a:solidFill>
                  <a:srgbClr val="4C7016"/>
                </a:solidFill>
                <a:latin typeface="Arial" pitchFamily="34" charset="0"/>
                <a:ea typeface="Arial" pitchFamily="34" charset="-122"/>
                <a:cs typeface="Arial" pitchFamily="34" charset="-120"/>
              </a:rPr>
              <a:t>INSLAG</a:t>
            </a:r>
            <a:endParaRPr lang="en-US" sz="1050" dirty="0"/>
          </a:p>
        </p:txBody>
      </p:sp>
      <p:sp>
        <p:nvSpPr>
          <p:cNvPr id="3" name="Text 1"/>
          <p:cNvSpPr/>
          <p:nvPr/>
        </p:nvSpPr>
        <p:spPr>
          <a:xfrm>
            <a:off x="457200" y="530352"/>
            <a:ext cx="8229600" cy="502920"/>
          </a:xfrm>
          <a:prstGeom prst="rect">
            <a:avLst/>
          </a:prstGeom>
          <a:noFill/>
          <a:ln/>
        </p:spPr>
        <p:txBody>
          <a:bodyPr wrap="square" lIns="0" tIns="0" rIns="0" bIns="0" rtlCol="0" anchor="ctr"/>
          <a:lstStyle/>
          <a:p>
            <a:pPr indent="0" marL="0">
              <a:buNone/>
            </a:pPr>
            <a:r>
              <a:rPr lang="en-US" sz="2300" b="1" dirty="0">
                <a:solidFill>
                  <a:srgbClr val="1A1A1A"/>
                </a:solidFill>
                <a:latin typeface="Arial" pitchFamily="34" charset="0"/>
                <a:ea typeface="Arial" pitchFamily="34" charset="-122"/>
                <a:cs typeface="Arial" pitchFamily="34" charset="-120"/>
              </a:rPr>
              <a:t>Upload, automatische lezing, één menselijke check, klaar</a:t>
            </a:r>
            <a:endParaRPr lang="en-US" sz="2300" dirty="0"/>
          </a:p>
        </p:txBody>
      </p:sp>
      <p:sp>
        <p:nvSpPr>
          <p:cNvPr id="4" name="Shape 2"/>
          <p:cNvSpPr/>
          <p:nvPr/>
        </p:nvSpPr>
        <p:spPr>
          <a:xfrm>
            <a:off x="1115568" y="1417320"/>
            <a:ext cx="457200" cy="457200"/>
          </a:xfrm>
          <a:prstGeom prst="ellipse">
            <a:avLst/>
          </a:prstGeom>
          <a:solidFill>
            <a:srgbClr val="86BC25"/>
          </a:solidFill>
          <a:ln w="12700">
            <a:solidFill>
              <a:srgbClr val="86BC25"/>
            </a:solidFill>
            <a:prstDash val="solid"/>
          </a:ln>
        </p:spPr>
      </p:sp>
      <p:sp>
        <p:nvSpPr>
          <p:cNvPr id="5" name="Text 3"/>
          <p:cNvSpPr/>
          <p:nvPr/>
        </p:nvSpPr>
        <p:spPr>
          <a:xfrm>
            <a:off x="1078992" y="1399032"/>
            <a:ext cx="530352" cy="49377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6" name="Text 4"/>
          <p:cNvSpPr/>
          <p:nvPr/>
        </p:nvSpPr>
        <p:spPr>
          <a:xfrm>
            <a:off x="2084832" y="1435608"/>
            <a:ext cx="502920" cy="411480"/>
          </a:xfrm>
          <a:prstGeom prst="rect">
            <a:avLst/>
          </a:prstGeom>
          <a:noFill/>
          <a:ln/>
        </p:spPr>
        <p:txBody>
          <a:bodyPr wrap="square" lIns="0" tIns="0" rIns="0" bIns="0" rtlCol="0" anchor="ctr"/>
          <a:lstStyle/>
          <a:p>
            <a:pPr algn="ctr" indent="0" marL="0">
              <a:buNone/>
            </a:pPr>
            <a:r>
              <a:rPr lang="en-US" sz="2000" b="1" dirty="0">
                <a:solidFill>
                  <a:srgbClr val="86BC25"/>
                </a:solidFill>
                <a:latin typeface="Arial" pitchFamily="34" charset="0"/>
                <a:ea typeface="Arial" pitchFamily="34" charset="-122"/>
                <a:cs typeface="Arial" pitchFamily="34" charset="-120"/>
              </a:rPr>
              <a:t>→</a:t>
            </a:r>
            <a:endParaRPr lang="en-US" sz="2000" dirty="0"/>
          </a:p>
        </p:txBody>
      </p:sp>
      <p:sp>
        <p:nvSpPr>
          <p:cNvPr id="7" name="Shape 5"/>
          <p:cNvSpPr/>
          <p:nvPr/>
        </p:nvSpPr>
        <p:spPr>
          <a:xfrm>
            <a:off x="457200" y="2057400"/>
            <a:ext cx="1920240" cy="2331720"/>
          </a:xfrm>
          <a:prstGeom prst="roundRect">
            <a:avLst>
              <a:gd name="adj" fmla="val 2857"/>
            </a:avLst>
          </a:prstGeom>
          <a:solidFill>
            <a:srgbClr val="F5F5F5"/>
          </a:solidFill>
          <a:ln w="9525">
            <a:solidFill>
              <a:srgbClr val="E3E3E3"/>
            </a:solidFill>
            <a:prstDash val="solid"/>
          </a:ln>
          <a:effectLst>
            <a:outerShdw sx="100000" sy="100000" kx="0" ky="0" algn="bl" rotWithShape="0" blurRad="76200" dist="25400" dir="2700000">
              <a:srgbClr val="000000">
                <a:alpha val="12000"/>
              </a:srgbClr>
            </a:outerShdw>
          </a:effectLst>
        </p:spPr>
      </p:sp>
      <p:sp>
        <p:nvSpPr>
          <p:cNvPr id="8" name="Text 6"/>
          <p:cNvSpPr/>
          <p:nvPr/>
        </p:nvSpPr>
        <p:spPr>
          <a:xfrm>
            <a:off x="603504" y="2212848"/>
            <a:ext cx="1645920" cy="274320"/>
          </a:xfrm>
          <a:prstGeom prst="rect">
            <a:avLst/>
          </a:prstGeom>
          <a:noFill/>
          <a:ln/>
        </p:spPr>
        <p:txBody>
          <a:bodyPr wrap="square" lIns="0" tIns="0" rIns="0" bIns="0" rtlCol="0" anchor="ctr"/>
          <a:lstStyle/>
          <a:p>
            <a:pPr indent="0" marL="0">
              <a:buNone/>
            </a:pPr>
            <a:r>
              <a:rPr lang="en-US" sz="1400" b="1" dirty="0">
                <a:solidFill>
                  <a:srgbClr val="1A1A1A"/>
                </a:solidFill>
                <a:latin typeface="Arial" pitchFamily="34" charset="0"/>
                <a:ea typeface="Arial" pitchFamily="34" charset="-122"/>
                <a:cs typeface="Arial" pitchFamily="34" charset="-120"/>
              </a:rPr>
              <a:t>Upload</a:t>
            </a:r>
            <a:endParaRPr lang="en-US" sz="1400" dirty="0"/>
          </a:p>
        </p:txBody>
      </p:sp>
      <p:sp>
        <p:nvSpPr>
          <p:cNvPr id="9" name="Text 7"/>
          <p:cNvSpPr/>
          <p:nvPr/>
        </p:nvSpPr>
        <p:spPr>
          <a:xfrm>
            <a:off x="603504" y="2542032"/>
            <a:ext cx="1645920" cy="1737360"/>
          </a:xfrm>
          <a:prstGeom prst="rect">
            <a:avLst/>
          </a:prstGeom>
          <a:noFill/>
          <a:ln/>
        </p:spPr>
        <p:txBody>
          <a:bodyPr wrap="square" lIns="0" tIns="0" rIns="0" bIns="0" rtlCol="0" anchor="t"/>
          <a:lstStyle/>
          <a:p>
            <a:pPr indent="0" marL="0">
              <a:buNone/>
            </a:pPr>
            <a:r>
              <a:rPr lang="en-US" sz="1100" dirty="0">
                <a:solidFill>
                  <a:srgbClr val="5B5B5B"/>
                </a:solidFill>
                <a:latin typeface="Arial" pitchFamily="34" charset="0"/>
                <a:ea typeface="Arial" pitchFamily="34" charset="-122"/>
                <a:cs typeface="Arial" pitchFamily="34" charset="-120"/>
              </a:rPr>
              <a:t>Document komt binnen via menu, e-mailalias of Documents-folder</a:t>
            </a:r>
            <a:endParaRPr lang="en-US" sz="1100" dirty="0"/>
          </a:p>
        </p:txBody>
      </p:sp>
      <p:sp>
        <p:nvSpPr>
          <p:cNvPr id="10" name="Shape 8"/>
          <p:cNvSpPr/>
          <p:nvPr/>
        </p:nvSpPr>
        <p:spPr>
          <a:xfrm>
            <a:off x="3264408" y="1417320"/>
            <a:ext cx="457200" cy="457200"/>
          </a:xfrm>
          <a:prstGeom prst="ellipse">
            <a:avLst/>
          </a:prstGeom>
          <a:solidFill>
            <a:srgbClr val="86BC25"/>
          </a:solidFill>
          <a:ln w="12700">
            <a:solidFill>
              <a:srgbClr val="86BC25"/>
            </a:solidFill>
            <a:prstDash val="solid"/>
          </a:ln>
        </p:spPr>
      </p:sp>
      <p:sp>
        <p:nvSpPr>
          <p:cNvPr id="11" name="Text 9"/>
          <p:cNvSpPr/>
          <p:nvPr/>
        </p:nvSpPr>
        <p:spPr>
          <a:xfrm>
            <a:off x="3227832" y="1399032"/>
            <a:ext cx="530352" cy="49377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2" name="Text 10"/>
          <p:cNvSpPr/>
          <p:nvPr/>
        </p:nvSpPr>
        <p:spPr>
          <a:xfrm>
            <a:off x="4233672" y="1435608"/>
            <a:ext cx="502920" cy="411480"/>
          </a:xfrm>
          <a:prstGeom prst="rect">
            <a:avLst/>
          </a:prstGeom>
          <a:noFill/>
          <a:ln/>
        </p:spPr>
        <p:txBody>
          <a:bodyPr wrap="square" lIns="0" tIns="0" rIns="0" bIns="0" rtlCol="0" anchor="ctr"/>
          <a:lstStyle/>
          <a:p>
            <a:pPr algn="ctr" indent="0" marL="0">
              <a:buNone/>
            </a:pPr>
            <a:r>
              <a:rPr lang="en-US" sz="2000" b="1" dirty="0">
                <a:solidFill>
                  <a:srgbClr val="86BC25"/>
                </a:solidFill>
                <a:latin typeface="Arial" pitchFamily="34" charset="0"/>
                <a:ea typeface="Arial" pitchFamily="34" charset="-122"/>
                <a:cs typeface="Arial" pitchFamily="34" charset="-120"/>
              </a:rPr>
              <a:t>→</a:t>
            </a:r>
            <a:endParaRPr lang="en-US" sz="2000" dirty="0"/>
          </a:p>
        </p:txBody>
      </p:sp>
      <p:sp>
        <p:nvSpPr>
          <p:cNvPr id="13" name="Shape 11"/>
          <p:cNvSpPr/>
          <p:nvPr/>
        </p:nvSpPr>
        <p:spPr>
          <a:xfrm>
            <a:off x="2606040" y="2057400"/>
            <a:ext cx="1920240" cy="2331720"/>
          </a:xfrm>
          <a:prstGeom prst="roundRect">
            <a:avLst>
              <a:gd name="adj" fmla="val 2857"/>
            </a:avLst>
          </a:prstGeom>
          <a:solidFill>
            <a:srgbClr val="F5F5F5"/>
          </a:solidFill>
          <a:ln w="9525">
            <a:solidFill>
              <a:srgbClr val="E3E3E3"/>
            </a:solidFill>
            <a:prstDash val="solid"/>
          </a:ln>
          <a:effectLst>
            <a:outerShdw sx="100000" sy="100000" kx="0" ky="0" algn="bl" rotWithShape="0" blurRad="76200" dist="25400" dir="2700000">
              <a:srgbClr val="000000">
                <a:alpha val="12000"/>
              </a:srgbClr>
            </a:outerShdw>
          </a:effectLst>
        </p:spPr>
      </p:sp>
      <p:sp>
        <p:nvSpPr>
          <p:cNvPr id="14" name="Text 12"/>
          <p:cNvSpPr/>
          <p:nvPr/>
        </p:nvSpPr>
        <p:spPr>
          <a:xfrm>
            <a:off x="2752344" y="2212848"/>
            <a:ext cx="1645920" cy="274320"/>
          </a:xfrm>
          <a:prstGeom prst="rect">
            <a:avLst/>
          </a:prstGeom>
          <a:noFill/>
          <a:ln/>
        </p:spPr>
        <p:txBody>
          <a:bodyPr wrap="square" lIns="0" tIns="0" rIns="0" bIns="0" rtlCol="0" anchor="ctr"/>
          <a:lstStyle/>
          <a:p>
            <a:pPr indent="0" marL="0">
              <a:buNone/>
            </a:pPr>
            <a:r>
              <a:rPr lang="en-US" sz="1400" b="1" dirty="0">
                <a:solidFill>
                  <a:srgbClr val="1A1A1A"/>
                </a:solidFill>
                <a:latin typeface="Arial" pitchFamily="34" charset="0"/>
                <a:ea typeface="Arial" pitchFamily="34" charset="-122"/>
                <a:cs typeface="Arial" pitchFamily="34" charset="-120"/>
              </a:rPr>
              <a:t>Lezen</a:t>
            </a:r>
            <a:endParaRPr lang="en-US" sz="1400" dirty="0"/>
          </a:p>
        </p:txBody>
      </p:sp>
      <p:sp>
        <p:nvSpPr>
          <p:cNvPr id="15" name="Text 13"/>
          <p:cNvSpPr/>
          <p:nvPr/>
        </p:nvSpPr>
        <p:spPr>
          <a:xfrm>
            <a:off x="2752344" y="2542032"/>
            <a:ext cx="1645920" cy="1737360"/>
          </a:xfrm>
          <a:prstGeom prst="rect">
            <a:avLst/>
          </a:prstGeom>
          <a:noFill/>
          <a:ln/>
        </p:spPr>
        <p:txBody>
          <a:bodyPr wrap="square" lIns="0" tIns="0" rIns="0" bIns="0" rtlCol="0" anchor="t"/>
          <a:lstStyle/>
          <a:p>
            <a:pPr indent="0" marL="0">
              <a:buNone/>
            </a:pPr>
            <a:r>
              <a:rPr lang="en-US" sz="1100" dirty="0">
                <a:solidFill>
                  <a:srgbClr val="5B5B5B"/>
                </a:solidFill>
                <a:latin typeface="Arial" pitchFamily="34" charset="0"/>
                <a:ea typeface="Arial" pitchFamily="34" charset="-122"/>
                <a:cs typeface="Arial" pitchFamily="34" charset="-120"/>
              </a:rPr>
              <a:t>Automatische classificatie en veldextractie, met confidence per veld</a:t>
            </a:r>
            <a:endParaRPr lang="en-US" sz="1100" dirty="0"/>
          </a:p>
        </p:txBody>
      </p:sp>
      <p:sp>
        <p:nvSpPr>
          <p:cNvPr id="16" name="Shape 14"/>
          <p:cNvSpPr/>
          <p:nvPr/>
        </p:nvSpPr>
        <p:spPr>
          <a:xfrm>
            <a:off x="5413248" y="1417320"/>
            <a:ext cx="457200" cy="457200"/>
          </a:xfrm>
          <a:prstGeom prst="ellipse">
            <a:avLst/>
          </a:prstGeom>
          <a:solidFill>
            <a:srgbClr val="86BC25"/>
          </a:solidFill>
          <a:ln w="12700">
            <a:solidFill>
              <a:srgbClr val="86BC25"/>
            </a:solidFill>
            <a:prstDash val="solid"/>
          </a:ln>
        </p:spPr>
      </p:sp>
      <p:sp>
        <p:nvSpPr>
          <p:cNvPr id="17" name="Text 15"/>
          <p:cNvSpPr/>
          <p:nvPr/>
        </p:nvSpPr>
        <p:spPr>
          <a:xfrm>
            <a:off x="5376672" y="1399032"/>
            <a:ext cx="530352" cy="49377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8" name="Text 16"/>
          <p:cNvSpPr/>
          <p:nvPr/>
        </p:nvSpPr>
        <p:spPr>
          <a:xfrm>
            <a:off x="6382512" y="1435608"/>
            <a:ext cx="502920" cy="411480"/>
          </a:xfrm>
          <a:prstGeom prst="rect">
            <a:avLst/>
          </a:prstGeom>
          <a:noFill/>
          <a:ln/>
        </p:spPr>
        <p:txBody>
          <a:bodyPr wrap="square" lIns="0" tIns="0" rIns="0" bIns="0" rtlCol="0" anchor="ctr"/>
          <a:lstStyle/>
          <a:p>
            <a:pPr algn="ctr" indent="0" marL="0">
              <a:buNone/>
            </a:pPr>
            <a:r>
              <a:rPr lang="en-US" sz="2000" b="1" dirty="0">
                <a:solidFill>
                  <a:srgbClr val="86BC25"/>
                </a:solidFill>
                <a:latin typeface="Arial" pitchFamily="34" charset="0"/>
                <a:ea typeface="Arial" pitchFamily="34" charset="-122"/>
                <a:cs typeface="Arial" pitchFamily="34" charset="-120"/>
              </a:rPr>
              <a:t>→</a:t>
            </a:r>
            <a:endParaRPr lang="en-US" sz="2000" dirty="0"/>
          </a:p>
        </p:txBody>
      </p:sp>
      <p:sp>
        <p:nvSpPr>
          <p:cNvPr id="19" name="Shape 17"/>
          <p:cNvSpPr/>
          <p:nvPr/>
        </p:nvSpPr>
        <p:spPr>
          <a:xfrm>
            <a:off x="4754880" y="2057400"/>
            <a:ext cx="1920240" cy="2331720"/>
          </a:xfrm>
          <a:prstGeom prst="roundRect">
            <a:avLst>
              <a:gd name="adj" fmla="val 2857"/>
            </a:avLst>
          </a:prstGeom>
          <a:solidFill>
            <a:srgbClr val="F5F5F5"/>
          </a:solidFill>
          <a:ln w="9525">
            <a:solidFill>
              <a:srgbClr val="E3E3E3"/>
            </a:solidFill>
            <a:prstDash val="solid"/>
          </a:ln>
          <a:effectLst>
            <a:outerShdw sx="100000" sy="100000" kx="0" ky="0" algn="bl" rotWithShape="0" blurRad="76200" dist="25400" dir="2700000">
              <a:srgbClr val="000000">
                <a:alpha val="12000"/>
              </a:srgbClr>
            </a:outerShdw>
          </a:effectLst>
        </p:spPr>
      </p:sp>
      <p:sp>
        <p:nvSpPr>
          <p:cNvPr id="20" name="Text 18"/>
          <p:cNvSpPr/>
          <p:nvPr/>
        </p:nvSpPr>
        <p:spPr>
          <a:xfrm>
            <a:off x="4901184" y="2212848"/>
            <a:ext cx="1645920" cy="274320"/>
          </a:xfrm>
          <a:prstGeom prst="rect">
            <a:avLst/>
          </a:prstGeom>
          <a:noFill/>
          <a:ln/>
        </p:spPr>
        <p:txBody>
          <a:bodyPr wrap="square" lIns="0" tIns="0" rIns="0" bIns="0" rtlCol="0" anchor="ctr"/>
          <a:lstStyle/>
          <a:p>
            <a:pPr indent="0" marL="0">
              <a:buNone/>
            </a:pPr>
            <a:r>
              <a:rPr lang="en-US" sz="1400" b="1" dirty="0">
                <a:solidFill>
                  <a:srgbClr val="1A1A1A"/>
                </a:solidFill>
                <a:latin typeface="Arial" pitchFamily="34" charset="0"/>
                <a:ea typeface="Arial" pitchFamily="34" charset="-122"/>
                <a:cs typeface="Arial" pitchFamily="34" charset="-120"/>
              </a:rPr>
              <a:t>Valideren</a:t>
            </a:r>
            <a:endParaRPr lang="en-US" sz="1400" dirty="0"/>
          </a:p>
        </p:txBody>
      </p:sp>
      <p:sp>
        <p:nvSpPr>
          <p:cNvPr id="21" name="Text 19"/>
          <p:cNvSpPr/>
          <p:nvPr/>
        </p:nvSpPr>
        <p:spPr>
          <a:xfrm>
            <a:off x="4901184" y="2542032"/>
            <a:ext cx="1645920" cy="1737360"/>
          </a:xfrm>
          <a:prstGeom prst="rect">
            <a:avLst/>
          </a:prstGeom>
          <a:noFill/>
          <a:ln/>
        </p:spPr>
        <p:txBody>
          <a:bodyPr wrap="square" lIns="0" tIns="0" rIns="0" bIns="0" rtlCol="0" anchor="t"/>
          <a:lstStyle/>
          <a:p>
            <a:pPr indent="0" marL="0">
              <a:buNone/>
            </a:pPr>
            <a:r>
              <a:rPr lang="en-US" sz="1100" dirty="0">
                <a:solidFill>
                  <a:srgbClr val="5B5B5B"/>
                </a:solidFill>
                <a:latin typeface="Arial" pitchFamily="34" charset="0"/>
                <a:ea typeface="Arial" pitchFamily="34" charset="-122"/>
                <a:cs typeface="Arial" pitchFamily="34" charset="-120"/>
              </a:rPr>
              <a:t>Reviewscherm: PDF naast de velden; correcties blijven traceerbaar</a:t>
            </a:r>
            <a:endParaRPr lang="en-US" sz="1100" dirty="0"/>
          </a:p>
        </p:txBody>
      </p:sp>
      <p:sp>
        <p:nvSpPr>
          <p:cNvPr id="22" name="Shape 20"/>
          <p:cNvSpPr/>
          <p:nvPr/>
        </p:nvSpPr>
        <p:spPr>
          <a:xfrm>
            <a:off x="7562088" y="1417320"/>
            <a:ext cx="457200" cy="457200"/>
          </a:xfrm>
          <a:prstGeom prst="ellipse">
            <a:avLst/>
          </a:prstGeom>
          <a:solidFill>
            <a:srgbClr val="86BC25"/>
          </a:solidFill>
          <a:ln w="12700">
            <a:solidFill>
              <a:srgbClr val="86BC25"/>
            </a:solidFill>
            <a:prstDash val="solid"/>
          </a:ln>
        </p:spPr>
      </p:sp>
      <p:sp>
        <p:nvSpPr>
          <p:cNvPr id="23" name="Text 21"/>
          <p:cNvSpPr/>
          <p:nvPr/>
        </p:nvSpPr>
        <p:spPr>
          <a:xfrm>
            <a:off x="7525512" y="1399032"/>
            <a:ext cx="530352" cy="49377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4" name="Shape 22"/>
          <p:cNvSpPr/>
          <p:nvPr/>
        </p:nvSpPr>
        <p:spPr>
          <a:xfrm>
            <a:off x="6903720" y="2057400"/>
            <a:ext cx="1920240" cy="2331720"/>
          </a:xfrm>
          <a:prstGeom prst="roundRect">
            <a:avLst>
              <a:gd name="adj" fmla="val 2857"/>
            </a:avLst>
          </a:prstGeom>
          <a:solidFill>
            <a:srgbClr val="F5F5F5"/>
          </a:solidFill>
          <a:ln w="9525">
            <a:solidFill>
              <a:srgbClr val="E3E3E3"/>
            </a:solidFill>
            <a:prstDash val="solid"/>
          </a:ln>
          <a:effectLst>
            <a:outerShdw sx="100000" sy="100000" kx="0" ky="0" algn="bl" rotWithShape="0" blurRad="76200" dist="25400" dir="2700000">
              <a:srgbClr val="000000">
                <a:alpha val="12000"/>
              </a:srgbClr>
            </a:outerShdw>
          </a:effectLst>
        </p:spPr>
      </p:sp>
      <p:sp>
        <p:nvSpPr>
          <p:cNvPr id="25" name="Text 23"/>
          <p:cNvSpPr/>
          <p:nvPr/>
        </p:nvSpPr>
        <p:spPr>
          <a:xfrm>
            <a:off x="7050024" y="2212848"/>
            <a:ext cx="1645920" cy="274320"/>
          </a:xfrm>
          <a:prstGeom prst="rect">
            <a:avLst/>
          </a:prstGeom>
          <a:noFill/>
          <a:ln/>
        </p:spPr>
        <p:txBody>
          <a:bodyPr wrap="square" lIns="0" tIns="0" rIns="0" bIns="0" rtlCol="0" anchor="ctr"/>
          <a:lstStyle/>
          <a:p>
            <a:pPr indent="0" marL="0">
              <a:buNone/>
            </a:pPr>
            <a:r>
              <a:rPr lang="en-US" sz="1400" b="1" dirty="0">
                <a:solidFill>
                  <a:srgbClr val="1A1A1A"/>
                </a:solidFill>
                <a:latin typeface="Arial" pitchFamily="34" charset="0"/>
                <a:ea typeface="Arial" pitchFamily="34" charset="-122"/>
                <a:cs typeface="Arial" pitchFamily="34" charset="-120"/>
              </a:rPr>
              <a:t>Genereren</a:t>
            </a:r>
            <a:endParaRPr lang="en-US" sz="1400" dirty="0"/>
          </a:p>
        </p:txBody>
      </p:sp>
      <p:sp>
        <p:nvSpPr>
          <p:cNvPr id="26" name="Text 24"/>
          <p:cNvSpPr/>
          <p:nvPr/>
        </p:nvSpPr>
        <p:spPr>
          <a:xfrm>
            <a:off x="7050024" y="2542032"/>
            <a:ext cx="1645920" cy="1737360"/>
          </a:xfrm>
          <a:prstGeom prst="rect">
            <a:avLst/>
          </a:prstGeom>
          <a:noFill/>
          <a:ln/>
        </p:spPr>
        <p:txBody>
          <a:bodyPr wrap="square" lIns="0" tIns="0" rIns="0" bIns="0" rtlCol="0" anchor="t"/>
          <a:lstStyle/>
          <a:p>
            <a:pPr indent="0" marL="0">
              <a:buNone/>
            </a:pPr>
            <a:r>
              <a:rPr lang="en-US" sz="1100" dirty="0">
                <a:solidFill>
                  <a:srgbClr val="5B5B5B"/>
                </a:solidFill>
                <a:latin typeface="Arial" pitchFamily="34" charset="0"/>
                <a:ea typeface="Arial" pitchFamily="34" charset="-122"/>
                <a:cs typeface="Arial" pitchFamily="34" charset="-120"/>
              </a:rPr>
              <a:t>Entry Document als PDF, met audit-blok en originele bijlage</a:t>
            </a:r>
            <a:endParaRPr lang="en-US" sz="1100" dirty="0"/>
          </a:p>
        </p:txBody>
      </p:sp>
      <p:sp>
        <p:nvSpPr>
          <p:cNvPr id="27" name="Text 25"/>
          <p:cNvSpPr/>
          <p:nvPr/>
        </p:nvSpPr>
        <p:spPr>
          <a:xfrm>
            <a:off x="457200" y="4526280"/>
            <a:ext cx="8229600" cy="274320"/>
          </a:xfrm>
          <a:prstGeom prst="rect">
            <a:avLst/>
          </a:prstGeom>
          <a:noFill/>
          <a:ln/>
        </p:spPr>
        <p:txBody>
          <a:bodyPr wrap="square" lIns="0" tIns="0" rIns="0" bIns="0" rtlCol="0" anchor="ctr"/>
          <a:lstStyle/>
          <a:p>
            <a:pPr indent="0" marL="0">
              <a:buNone/>
            </a:pPr>
            <a:r>
              <a:rPr lang="en-US" sz="1050" i="1" dirty="0">
                <a:solidFill>
                  <a:srgbClr val="4C7016"/>
                </a:solidFill>
                <a:latin typeface="Arial" pitchFamily="34" charset="0"/>
                <a:ea typeface="Arial" pitchFamily="34" charset="-122"/>
                <a:cs typeface="Arial" pitchFamily="34" charset="-120"/>
              </a:rPr>
              <a:t>Mens-in-de-lus is een ontwerpkeuze: alles onder de confidence-drempel of met een regelovertreding passeert een reviewer.</a:t>
            </a:r>
            <a:endParaRPr lang="en-US" sz="1050" dirty="0"/>
          </a:p>
        </p:txBody>
      </p:sp>
      <p:sp>
        <p:nvSpPr>
          <p:cNvPr id="28" name="Text 26"/>
          <p:cNvSpPr/>
          <p:nvPr/>
        </p:nvSpPr>
        <p:spPr>
          <a:xfrm>
            <a:off x="457200" y="4864608"/>
            <a:ext cx="3200400" cy="228600"/>
          </a:xfrm>
          <a:prstGeom prst="rect">
            <a:avLst/>
          </a:prstGeom>
          <a:noFill/>
          <a:ln/>
        </p:spPr>
        <p:txBody>
          <a:bodyPr wrap="square" lIns="0" tIns="0" rIns="0" bIns="0" rtlCol="0" anchor="ctr"/>
          <a:lstStyle/>
          <a:p>
            <a:pPr indent="0" marL="0">
              <a:buNone/>
            </a:pPr>
            <a:r>
              <a:rPr lang="en-US" sz="850" dirty="0">
                <a:solidFill>
                  <a:srgbClr val="9A9A9A"/>
                </a:solidFill>
                <a:latin typeface="Arial" pitchFamily="34" charset="0"/>
                <a:ea typeface="Arial" pitchFamily="34" charset="-122"/>
                <a:cs typeface="Arial" pitchFamily="34" charset="-120"/>
              </a:rPr>
              <a:t>Deloitte | Intern werkdocument</a:t>
            </a:r>
            <a:endParaRPr lang="en-US" sz="850" dirty="0"/>
          </a:p>
        </p:txBody>
      </p:sp>
      <p:sp>
        <p:nvSpPr>
          <p:cNvPr id="29" name="Text 27"/>
          <p:cNvSpPr/>
          <p:nvPr/>
        </p:nvSpPr>
        <p:spPr>
          <a:xfrm>
            <a:off x="8503920" y="4864608"/>
            <a:ext cx="274320" cy="228600"/>
          </a:xfrm>
          <a:prstGeom prst="rect">
            <a:avLst/>
          </a:prstGeom>
          <a:noFill/>
          <a:ln/>
        </p:spPr>
        <p:txBody>
          <a:bodyPr wrap="square" lIns="0" tIns="0" rIns="0" bIns="0" rtlCol="0" anchor="ctr"/>
          <a:lstStyle/>
          <a:p>
            <a:pPr algn="r" indent="0" marL="0">
              <a:buNone/>
            </a:pPr>
            <a:r>
              <a:rPr lang="en-US" sz="850" dirty="0">
                <a:solidFill>
                  <a:srgbClr val="9A9A9A"/>
                </a:solidFill>
                <a:latin typeface="Arial" pitchFamily="34" charset="0"/>
                <a:ea typeface="Arial" pitchFamily="34" charset="-122"/>
                <a:cs typeface="Arial" pitchFamily="34" charset="-120"/>
              </a:rPr>
              <a:t>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237744"/>
          </a:xfrm>
          <a:prstGeom prst="rect">
            <a:avLst/>
          </a:prstGeom>
          <a:noFill/>
          <a:ln/>
        </p:spPr>
        <p:txBody>
          <a:bodyPr wrap="square" lIns="0" tIns="0" rIns="0" bIns="0" rtlCol="0" anchor="ctr"/>
          <a:lstStyle/>
          <a:p>
            <a:pPr indent="0" marL="0">
              <a:buNone/>
            </a:pPr>
            <a:r>
              <a:rPr lang="en-US" sz="1050" b="1" spc="300" kern="0" dirty="0">
                <a:solidFill>
                  <a:srgbClr val="4C7016"/>
                </a:solidFill>
                <a:latin typeface="Arial" pitchFamily="34" charset="0"/>
                <a:ea typeface="Arial" pitchFamily="34" charset="-122"/>
                <a:cs typeface="Arial" pitchFamily="34" charset="-120"/>
              </a:rPr>
              <a:t>UITSLAG</a:t>
            </a:r>
            <a:endParaRPr lang="en-US" sz="1050" dirty="0"/>
          </a:p>
        </p:txBody>
      </p:sp>
      <p:sp>
        <p:nvSpPr>
          <p:cNvPr id="3" name="Text 1"/>
          <p:cNvSpPr/>
          <p:nvPr/>
        </p:nvSpPr>
        <p:spPr>
          <a:xfrm>
            <a:off x="457200" y="530352"/>
            <a:ext cx="8229600" cy="502920"/>
          </a:xfrm>
          <a:prstGeom prst="rect">
            <a:avLst/>
          </a:prstGeom>
          <a:noFill/>
          <a:ln/>
        </p:spPr>
        <p:txBody>
          <a:bodyPr wrap="square" lIns="0" tIns="0" rIns="0" bIns="0" rtlCol="0" anchor="ctr"/>
          <a:lstStyle/>
          <a:p>
            <a:pPr indent="0" marL="0">
              <a:buNone/>
            </a:pPr>
            <a:r>
              <a:rPr lang="en-US" sz="2300" b="1" dirty="0">
                <a:solidFill>
                  <a:srgbClr val="1A1A1A"/>
                </a:solidFill>
                <a:latin typeface="Arial" pitchFamily="34" charset="0"/>
                <a:ea typeface="Arial" pitchFamily="34" charset="-122"/>
                <a:cs typeface="Arial" pitchFamily="34" charset="-120"/>
              </a:rPr>
              <a:t>De uitslag bundelt automatisch het volledige bewijsdossier</a:t>
            </a:r>
            <a:endParaRPr lang="en-US" sz="2300" dirty="0"/>
          </a:p>
        </p:txBody>
      </p:sp>
      <p:sp>
        <p:nvSpPr>
          <p:cNvPr id="4" name="Shape 2"/>
          <p:cNvSpPr/>
          <p:nvPr/>
        </p:nvSpPr>
        <p:spPr>
          <a:xfrm>
            <a:off x="457200" y="1371600"/>
            <a:ext cx="3200400" cy="3108960"/>
          </a:xfrm>
          <a:prstGeom prst="roundRect">
            <a:avLst>
              <a:gd name="adj" fmla="val 1765"/>
            </a:avLst>
          </a:prstGeom>
          <a:solidFill>
            <a:srgbClr val="F5F5F5"/>
          </a:solidFill>
          <a:ln w="9525">
            <a:solidFill>
              <a:srgbClr val="E3E3E3"/>
            </a:solidFill>
            <a:prstDash val="solid"/>
          </a:ln>
          <a:effectLst>
            <a:outerShdw sx="100000" sy="100000" kx="0" ky="0" algn="bl" rotWithShape="0" blurRad="76200" dist="25400" dir="2700000">
              <a:srgbClr val="000000">
                <a:alpha val="12000"/>
              </a:srgbClr>
            </a:outerShdw>
          </a:effectLst>
        </p:spPr>
      </p:sp>
      <p:sp>
        <p:nvSpPr>
          <p:cNvPr id="5" name="Text 3"/>
          <p:cNvSpPr/>
          <p:nvPr/>
        </p:nvSpPr>
        <p:spPr>
          <a:xfrm>
            <a:off x="685800" y="1508760"/>
            <a:ext cx="2743200" cy="274320"/>
          </a:xfrm>
          <a:prstGeom prst="rect">
            <a:avLst/>
          </a:prstGeom>
          <a:noFill/>
          <a:ln/>
        </p:spPr>
        <p:txBody>
          <a:bodyPr wrap="square" lIns="0" tIns="0" rIns="0" bIns="0" rtlCol="0" anchor="ctr"/>
          <a:lstStyle/>
          <a:p>
            <a:pPr indent="0" marL="0">
              <a:buNone/>
            </a:pPr>
            <a:r>
              <a:rPr lang="en-US" sz="1400" b="1" dirty="0">
                <a:solidFill>
                  <a:srgbClr val="1A1A1A"/>
                </a:solidFill>
                <a:latin typeface="Arial" pitchFamily="34" charset="0"/>
                <a:ea typeface="Arial" pitchFamily="34" charset="-122"/>
                <a:cs typeface="Arial" pitchFamily="34" charset="-120"/>
              </a:rPr>
              <a:t>Trigger</a:t>
            </a:r>
            <a:endParaRPr lang="en-US" sz="1400" dirty="0"/>
          </a:p>
        </p:txBody>
      </p:sp>
      <p:sp>
        <p:nvSpPr>
          <p:cNvPr id="6" name="Text 4"/>
          <p:cNvSpPr/>
          <p:nvPr/>
        </p:nvSpPr>
        <p:spPr>
          <a:xfrm>
            <a:off x="685800" y="1874520"/>
            <a:ext cx="2743200" cy="1188720"/>
          </a:xfrm>
          <a:prstGeom prst="rect">
            <a:avLst/>
          </a:prstGeom>
          <a:noFill/>
          <a:ln/>
        </p:spPr>
        <p:txBody>
          <a:bodyPr wrap="square" rtlCol="0" anchor="t"/>
          <a:lstStyle/>
          <a:p>
            <a:pPr marL="152400" indent="-152400">
              <a:spcAft>
                <a:spcPts val="800"/>
              </a:spcAft>
              <a:buSzPct val="100000"/>
              <a:buChar char="•"/>
            </a:pPr>
            <a:r>
              <a:rPr lang="en-US" sz="1200" dirty="0">
                <a:solidFill>
                  <a:srgbClr val="1A1A1A"/>
                </a:solidFill>
                <a:latin typeface="Arial" pitchFamily="34" charset="0"/>
                <a:ea typeface="Arial" pitchFamily="34" charset="-122"/>
                <a:cs typeface="Arial" pitchFamily="34" charset="-120"/>
              </a:rPr>
              <a:t>Verkoopfactuur (gepost)</a:t>
            </a:r>
            <a:endParaRPr lang="en-US" sz="1200" dirty="0"/>
          </a:p>
          <a:p>
            <a:pPr marL="152400" indent="-152400">
              <a:spcAft>
                <a:spcPts val="800"/>
              </a:spcAft>
              <a:buSzPct val="100000"/>
              <a:buChar char="•"/>
            </a:pPr>
            <a:r>
              <a:rPr lang="en-US" sz="1200" dirty="0">
                <a:solidFill>
                  <a:srgbClr val="1A1A1A"/>
                </a:solidFill>
                <a:latin typeface="Arial" pitchFamily="34" charset="0"/>
                <a:ea typeface="Arial" pitchFamily="34" charset="-122"/>
                <a:cs typeface="Arial" pitchFamily="34" charset="-120"/>
              </a:rPr>
              <a:t>Douane Uitvoerdocument 796.6</a:t>
            </a:r>
            <a:endParaRPr lang="en-US" sz="1200" dirty="0"/>
          </a:p>
          <a:p>
            <a:pPr marL="152400" indent="-152400">
              <a:spcAft>
                <a:spcPts val="800"/>
              </a:spcAft>
              <a:buSzPct val="100000"/>
              <a:buChar char="•"/>
            </a:pPr>
            <a:r>
              <a:rPr lang="en-US" sz="1200" dirty="0">
                <a:solidFill>
                  <a:srgbClr val="1A1A1A"/>
                </a:solidFill>
                <a:latin typeface="Arial" pitchFamily="34" charset="0"/>
                <a:ea typeface="Arial" pitchFamily="34" charset="-122"/>
                <a:cs typeface="Arial" pitchFamily="34" charset="-120"/>
              </a:rPr>
              <a:t>Transferdocument</a:t>
            </a:r>
            <a:endParaRPr lang="en-US" sz="1200" dirty="0"/>
          </a:p>
        </p:txBody>
      </p:sp>
      <p:sp>
        <p:nvSpPr>
          <p:cNvPr id="7" name="Text 5"/>
          <p:cNvSpPr/>
          <p:nvPr/>
        </p:nvSpPr>
        <p:spPr>
          <a:xfrm>
            <a:off x="685800" y="3566160"/>
            <a:ext cx="2743200" cy="731520"/>
          </a:xfrm>
          <a:prstGeom prst="rect">
            <a:avLst/>
          </a:prstGeom>
          <a:noFill/>
          <a:ln/>
        </p:spPr>
        <p:txBody>
          <a:bodyPr wrap="square" lIns="0" tIns="0" rIns="0" bIns="0" rtlCol="0" anchor="ctr"/>
          <a:lstStyle/>
          <a:p>
            <a:pPr indent="0" marL="0">
              <a:buNone/>
            </a:pPr>
            <a:r>
              <a:rPr lang="en-US" sz="1050" i="1" dirty="0">
                <a:solidFill>
                  <a:srgbClr val="5B5B5B"/>
                </a:solidFill>
                <a:latin typeface="Arial" pitchFamily="34" charset="0"/>
                <a:ea typeface="Arial" pitchFamily="34" charset="-122"/>
                <a:cs typeface="Arial" pitchFamily="34" charset="-120"/>
              </a:rPr>
              <a:t>Koppeling aan het Entry Document wordt automatisch voorgesteld.</a:t>
            </a:r>
            <a:endParaRPr lang="en-US" sz="1050" dirty="0"/>
          </a:p>
        </p:txBody>
      </p:sp>
      <p:sp>
        <p:nvSpPr>
          <p:cNvPr id="8" name="Text 6"/>
          <p:cNvSpPr/>
          <p:nvPr/>
        </p:nvSpPr>
        <p:spPr>
          <a:xfrm>
            <a:off x="3703320" y="2651760"/>
            <a:ext cx="640080" cy="548640"/>
          </a:xfrm>
          <a:prstGeom prst="rect">
            <a:avLst/>
          </a:prstGeom>
          <a:noFill/>
          <a:ln/>
        </p:spPr>
        <p:txBody>
          <a:bodyPr wrap="square" lIns="0" tIns="0" rIns="0" bIns="0" rtlCol="0" anchor="ctr"/>
          <a:lstStyle/>
          <a:p>
            <a:pPr algn="ctr" indent="0" marL="0">
              <a:buNone/>
            </a:pPr>
            <a:r>
              <a:rPr lang="en-US" sz="3000" b="1" dirty="0">
                <a:solidFill>
                  <a:srgbClr val="86BC25"/>
                </a:solidFill>
                <a:latin typeface="Arial" pitchFamily="34" charset="0"/>
                <a:ea typeface="Arial" pitchFamily="34" charset="-122"/>
                <a:cs typeface="Arial" pitchFamily="34" charset="-120"/>
              </a:rPr>
              <a:t>→</a:t>
            </a:r>
            <a:endParaRPr lang="en-US" sz="3000" dirty="0"/>
          </a:p>
        </p:txBody>
      </p:sp>
      <p:sp>
        <p:nvSpPr>
          <p:cNvPr id="9" name="Shape 7"/>
          <p:cNvSpPr/>
          <p:nvPr/>
        </p:nvSpPr>
        <p:spPr>
          <a:xfrm>
            <a:off x="4389120" y="1371600"/>
            <a:ext cx="4297680" cy="3108960"/>
          </a:xfrm>
          <a:prstGeom prst="roundRect">
            <a:avLst>
              <a:gd name="adj" fmla="val 1765"/>
            </a:avLst>
          </a:prstGeom>
          <a:solidFill>
            <a:srgbClr val="F3F8E9"/>
          </a:solidFill>
          <a:ln w="9525">
            <a:solidFill>
              <a:srgbClr val="E3E3E3"/>
            </a:solidFill>
            <a:prstDash val="solid"/>
          </a:ln>
          <a:effectLst>
            <a:outerShdw sx="100000" sy="100000" kx="0" ky="0" algn="bl" rotWithShape="0" blurRad="76200" dist="25400" dir="2700000">
              <a:srgbClr val="000000">
                <a:alpha val="12000"/>
              </a:srgbClr>
            </a:outerShdw>
          </a:effectLst>
        </p:spPr>
      </p:sp>
      <p:sp>
        <p:nvSpPr>
          <p:cNvPr id="10" name="Text 8"/>
          <p:cNvSpPr/>
          <p:nvPr/>
        </p:nvSpPr>
        <p:spPr>
          <a:xfrm>
            <a:off x="4617720" y="1508760"/>
            <a:ext cx="3840480" cy="274320"/>
          </a:xfrm>
          <a:prstGeom prst="rect">
            <a:avLst/>
          </a:prstGeom>
          <a:noFill/>
          <a:ln/>
        </p:spPr>
        <p:txBody>
          <a:bodyPr wrap="square" lIns="0" tIns="0" rIns="0" bIns="0" rtlCol="0" anchor="ctr"/>
          <a:lstStyle/>
          <a:p>
            <a:pPr indent="0" marL="0">
              <a:buNone/>
            </a:pPr>
            <a:r>
              <a:rPr lang="en-US" sz="1400" b="1" dirty="0">
                <a:solidFill>
                  <a:srgbClr val="1A1A1A"/>
                </a:solidFill>
                <a:latin typeface="Arial" pitchFamily="34" charset="0"/>
                <a:ea typeface="Arial" pitchFamily="34" charset="-122"/>
                <a:cs typeface="Arial" pitchFamily="34" charset="-120"/>
              </a:rPr>
              <a:t>Gegenereerd pakket</a:t>
            </a:r>
            <a:endParaRPr lang="en-US" sz="1400" dirty="0"/>
          </a:p>
        </p:txBody>
      </p:sp>
      <p:sp>
        <p:nvSpPr>
          <p:cNvPr id="11" name="Shape 9"/>
          <p:cNvSpPr/>
          <p:nvPr/>
        </p:nvSpPr>
        <p:spPr>
          <a:xfrm>
            <a:off x="4645152" y="1901952"/>
            <a:ext cx="274320" cy="274320"/>
          </a:xfrm>
          <a:prstGeom prst="ellipse">
            <a:avLst/>
          </a:prstGeom>
          <a:solidFill>
            <a:srgbClr val="86BC25"/>
          </a:solidFill>
          <a:ln w="12700">
            <a:solidFill>
              <a:srgbClr val="86BC25"/>
            </a:solidFill>
            <a:prstDash val="solid"/>
          </a:ln>
        </p:spPr>
      </p:sp>
      <p:sp>
        <p:nvSpPr>
          <p:cNvPr id="12" name="Text 10"/>
          <p:cNvSpPr/>
          <p:nvPr/>
        </p:nvSpPr>
        <p:spPr>
          <a:xfrm>
            <a:off x="4608576" y="1883664"/>
            <a:ext cx="347472"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13" name="Text 11"/>
          <p:cNvSpPr/>
          <p:nvPr/>
        </p:nvSpPr>
        <p:spPr>
          <a:xfrm>
            <a:off x="5047488" y="1856232"/>
            <a:ext cx="3520440" cy="365760"/>
          </a:xfrm>
          <a:prstGeom prst="rect">
            <a:avLst/>
          </a:prstGeom>
          <a:noFill/>
          <a:ln/>
        </p:spPr>
        <p:txBody>
          <a:bodyPr wrap="square" lIns="0" tIns="0" rIns="0" bIns="0" rtlCol="0" anchor="ctr"/>
          <a:lstStyle/>
          <a:p>
            <a:pPr indent="0" marL="0">
              <a:buNone/>
            </a:pPr>
            <a:r>
              <a:rPr lang="en-US" sz="1150" dirty="0">
                <a:solidFill>
                  <a:srgbClr val="1A1A1A"/>
                </a:solidFill>
                <a:latin typeface="Arial" pitchFamily="34" charset="0"/>
                <a:ea typeface="Arial" pitchFamily="34" charset="-122"/>
                <a:cs typeface="Arial" pitchFamily="34" charset="-120"/>
              </a:rPr>
              <a:t>Uitslagdocument</a:t>
            </a:r>
            <a:endParaRPr lang="en-US" sz="1150" dirty="0"/>
          </a:p>
        </p:txBody>
      </p:sp>
      <p:sp>
        <p:nvSpPr>
          <p:cNvPr id="14" name="Shape 12"/>
          <p:cNvSpPr/>
          <p:nvPr/>
        </p:nvSpPr>
        <p:spPr>
          <a:xfrm>
            <a:off x="4645152" y="2395728"/>
            <a:ext cx="274320" cy="274320"/>
          </a:xfrm>
          <a:prstGeom prst="ellipse">
            <a:avLst/>
          </a:prstGeom>
          <a:solidFill>
            <a:srgbClr val="86BC25"/>
          </a:solidFill>
          <a:ln w="12700">
            <a:solidFill>
              <a:srgbClr val="86BC25"/>
            </a:solidFill>
            <a:prstDash val="solid"/>
          </a:ln>
        </p:spPr>
      </p:sp>
      <p:sp>
        <p:nvSpPr>
          <p:cNvPr id="15" name="Text 13"/>
          <p:cNvSpPr/>
          <p:nvPr/>
        </p:nvSpPr>
        <p:spPr>
          <a:xfrm>
            <a:off x="4608576" y="2377440"/>
            <a:ext cx="347472"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16" name="Text 14"/>
          <p:cNvSpPr/>
          <p:nvPr/>
        </p:nvSpPr>
        <p:spPr>
          <a:xfrm>
            <a:off x="5047488" y="2350008"/>
            <a:ext cx="3520440" cy="365760"/>
          </a:xfrm>
          <a:prstGeom prst="rect">
            <a:avLst/>
          </a:prstGeom>
          <a:noFill/>
          <a:ln/>
        </p:spPr>
        <p:txBody>
          <a:bodyPr wrap="square" lIns="0" tIns="0" rIns="0" bIns="0" rtlCol="0" anchor="ctr"/>
          <a:lstStyle/>
          <a:p>
            <a:pPr indent="0" marL="0">
              <a:buNone/>
            </a:pPr>
            <a:r>
              <a:rPr lang="en-US" sz="1150" dirty="0">
                <a:solidFill>
                  <a:srgbClr val="1A1A1A"/>
                </a:solidFill>
                <a:latin typeface="Arial" pitchFamily="34" charset="0"/>
                <a:ea typeface="Arial" pitchFamily="34" charset="-122"/>
                <a:cs typeface="Arial" pitchFamily="34" charset="-120"/>
              </a:rPr>
              <a:t>Exit Document VAT-Warehouse</a:t>
            </a:r>
            <a:endParaRPr lang="en-US" sz="1150" dirty="0"/>
          </a:p>
        </p:txBody>
      </p:sp>
      <p:sp>
        <p:nvSpPr>
          <p:cNvPr id="17" name="Shape 15"/>
          <p:cNvSpPr/>
          <p:nvPr/>
        </p:nvSpPr>
        <p:spPr>
          <a:xfrm>
            <a:off x="4645152" y="2889504"/>
            <a:ext cx="274320" cy="274320"/>
          </a:xfrm>
          <a:prstGeom prst="ellipse">
            <a:avLst/>
          </a:prstGeom>
          <a:solidFill>
            <a:srgbClr val="86BC25"/>
          </a:solidFill>
          <a:ln w="12700">
            <a:solidFill>
              <a:srgbClr val="86BC25"/>
            </a:solidFill>
            <a:prstDash val="solid"/>
          </a:ln>
        </p:spPr>
      </p:sp>
      <p:sp>
        <p:nvSpPr>
          <p:cNvPr id="18" name="Text 16"/>
          <p:cNvSpPr/>
          <p:nvPr/>
        </p:nvSpPr>
        <p:spPr>
          <a:xfrm>
            <a:off x="4608576" y="2871216"/>
            <a:ext cx="347472"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19" name="Text 17"/>
          <p:cNvSpPr/>
          <p:nvPr/>
        </p:nvSpPr>
        <p:spPr>
          <a:xfrm>
            <a:off x="5047488" y="2843784"/>
            <a:ext cx="3520440" cy="365760"/>
          </a:xfrm>
          <a:prstGeom prst="rect">
            <a:avLst/>
          </a:prstGeom>
          <a:noFill/>
          <a:ln/>
        </p:spPr>
        <p:txBody>
          <a:bodyPr wrap="square" lIns="0" tIns="0" rIns="0" bIns="0" rtlCol="0" anchor="ctr"/>
          <a:lstStyle/>
          <a:p>
            <a:pPr indent="0" marL="0">
              <a:buNone/>
            </a:pPr>
            <a:r>
              <a:rPr lang="en-US" sz="1150" dirty="0">
                <a:solidFill>
                  <a:srgbClr val="1A1A1A"/>
                </a:solidFill>
                <a:latin typeface="Arial" pitchFamily="34" charset="0"/>
                <a:ea typeface="Arial" pitchFamily="34" charset="-122"/>
                <a:cs typeface="Arial" pitchFamily="34" charset="-120"/>
              </a:rPr>
              <a:t>VIES Check met tijdstempel en bewijs-PDF</a:t>
            </a:r>
            <a:endParaRPr lang="en-US" sz="1150" dirty="0"/>
          </a:p>
        </p:txBody>
      </p:sp>
      <p:sp>
        <p:nvSpPr>
          <p:cNvPr id="20" name="Shape 18"/>
          <p:cNvSpPr/>
          <p:nvPr/>
        </p:nvSpPr>
        <p:spPr>
          <a:xfrm>
            <a:off x="4645152" y="3383280"/>
            <a:ext cx="274320" cy="274320"/>
          </a:xfrm>
          <a:prstGeom prst="ellipse">
            <a:avLst/>
          </a:prstGeom>
          <a:solidFill>
            <a:srgbClr val="86BC25"/>
          </a:solidFill>
          <a:ln w="12700">
            <a:solidFill>
              <a:srgbClr val="86BC25"/>
            </a:solidFill>
            <a:prstDash val="solid"/>
          </a:ln>
        </p:spPr>
      </p:sp>
      <p:sp>
        <p:nvSpPr>
          <p:cNvPr id="21" name="Text 19"/>
          <p:cNvSpPr/>
          <p:nvPr/>
        </p:nvSpPr>
        <p:spPr>
          <a:xfrm>
            <a:off x="4608576" y="3364992"/>
            <a:ext cx="347472"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22" name="Text 20"/>
          <p:cNvSpPr/>
          <p:nvPr/>
        </p:nvSpPr>
        <p:spPr>
          <a:xfrm>
            <a:off x="5047488" y="3337560"/>
            <a:ext cx="3520440" cy="365760"/>
          </a:xfrm>
          <a:prstGeom prst="rect">
            <a:avLst/>
          </a:prstGeom>
          <a:noFill/>
          <a:ln/>
        </p:spPr>
        <p:txBody>
          <a:bodyPr wrap="square" lIns="0" tIns="0" rIns="0" bIns="0" rtlCol="0" anchor="ctr"/>
          <a:lstStyle/>
          <a:p>
            <a:pPr indent="0" marL="0">
              <a:buNone/>
            </a:pPr>
            <a:r>
              <a:rPr lang="en-US" sz="1150" dirty="0">
                <a:solidFill>
                  <a:srgbClr val="1A1A1A"/>
                </a:solidFill>
                <a:latin typeface="Arial" pitchFamily="34" charset="0"/>
                <a:ea typeface="Arial" pitchFamily="34" charset="-122"/>
                <a:cs typeface="Arial" pitchFamily="34" charset="-120"/>
              </a:rPr>
              <a:t>Bestemmingsdocument (indien vereist)</a:t>
            </a:r>
            <a:endParaRPr lang="en-US" sz="1150" dirty="0"/>
          </a:p>
        </p:txBody>
      </p:sp>
      <p:sp>
        <p:nvSpPr>
          <p:cNvPr id="23" name="Shape 21"/>
          <p:cNvSpPr/>
          <p:nvPr/>
        </p:nvSpPr>
        <p:spPr>
          <a:xfrm>
            <a:off x="4645152" y="3877056"/>
            <a:ext cx="274320" cy="274320"/>
          </a:xfrm>
          <a:prstGeom prst="ellipse">
            <a:avLst/>
          </a:prstGeom>
          <a:solidFill>
            <a:srgbClr val="86BC25"/>
          </a:solidFill>
          <a:ln w="12700">
            <a:solidFill>
              <a:srgbClr val="86BC25"/>
            </a:solidFill>
            <a:prstDash val="solid"/>
          </a:ln>
        </p:spPr>
      </p:sp>
      <p:sp>
        <p:nvSpPr>
          <p:cNvPr id="24" name="Text 22"/>
          <p:cNvSpPr/>
          <p:nvPr/>
        </p:nvSpPr>
        <p:spPr>
          <a:xfrm>
            <a:off x="4608576" y="3858768"/>
            <a:ext cx="347472"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25" name="Text 23"/>
          <p:cNvSpPr/>
          <p:nvPr/>
        </p:nvSpPr>
        <p:spPr>
          <a:xfrm>
            <a:off x="5047488" y="3831336"/>
            <a:ext cx="3520440" cy="365760"/>
          </a:xfrm>
          <a:prstGeom prst="rect">
            <a:avLst/>
          </a:prstGeom>
          <a:noFill/>
          <a:ln/>
        </p:spPr>
        <p:txBody>
          <a:bodyPr wrap="square" lIns="0" tIns="0" rIns="0" bIns="0" rtlCol="0" anchor="ctr"/>
          <a:lstStyle/>
          <a:p>
            <a:pPr indent="0" marL="0">
              <a:buNone/>
            </a:pPr>
            <a:r>
              <a:rPr lang="en-US" sz="1150" dirty="0">
                <a:solidFill>
                  <a:srgbClr val="1A1A1A"/>
                </a:solidFill>
                <a:latin typeface="Arial" pitchFamily="34" charset="0"/>
                <a:ea typeface="Arial" pitchFamily="34" charset="-122"/>
                <a:cs typeface="Arial" pitchFamily="34" charset="-120"/>
              </a:rPr>
              <a:t>BTW Nota (indien vereist)</a:t>
            </a:r>
            <a:endParaRPr lang="en-US" sz="1150" dirty="0"/>
          </a:p>
        </p:txBody>
      </p:sp>
      <p:sp>
        <p:nvSpPr>
          <p:cNvPr id="26" name="Text 24"/>
          <p:cNvSpPr/>
          <p:nvPr/>
        </p:nvSpPr>
        <p:spPr>
          <a:xfrm>
            <a:off x="457200" y="4864608"/>
            <a:ext cx="3200400" cy="228600"/>
          </a:xfrm>
          <a:prstGeom prst="rect">
            <a:avLst/>
          </a:prstGeom>
          <a:noFill/>
          <a:ln/>
        </p:spPr>
        <p:txBody>
          <a:bodyPr wrap="square" lIns="0" tIns="0" rIns="0" bIns="0" rtlCol="0" anchor="ctr"/>
          <a:lstStyle/>
          <a:p>
            <a:pPr indent="0" marL="0">
              <a:buNone/>
            </a:pPr>
            <a:r>
              <a:rPr lang="en-US" sz="850" dirty="0">
                <a:solidFill>
                  <a:srgbClr val="9A9A9A"/>
                </a:solidFill>
                <a:latin typeface="Arial" pitchFamily="34" charset="0"/>
                <a:ea typeface="Arial" pitchFamily="34" charset="-122"/>
                <a:cs typeface="Arial" pitchFamily="34" charset="-120"/>
              </a:rPr>
              <a:t>Deloitte | Intern werkdocument</a:t>
            </a:r>
            <a:endParaRPr lang="en-US" sz="850" dirty="0"/>
          </a:p>
        </p:txBody>
      </p:sp>
      <p:sp>
        <p:nvSpPr>
          <p:cNvPr id="27" name="Text 25"/>
          <p:cNvSpPr/>
          <p:nvPr/>
        </p:nvSpPr>
        <p:spPr>
          <a:xfrm>
            <a:off x="8503920" y="4864608"/>
            <a:ext cx="274320" cy="228600"/>
          </a:xfrm>
          <a:prstGeom prst="rect">
            <a:avLst/>
          </a:prstGeom>
          <a:noFill/>
          <a:ln/>
        </p:spPr>
        <p:txBody>
          <a:bodyPr wrap="square" lIns="0" tIns="0" rIns="0" bIns="0" rtlCol="0" anchor="ctr"/>
          <a:lstStyle/>
          <a:p>
            <a:pPr algn="r" indent="0" marL="0">
              <a:buNone/>
            </a:pPr>
            <a:r>
              <a:rPr lang="en-US" sz="850" dirty="0">
                <a:solidFill>
                  <a:srgbClr val="9A9A9A"/>
                </a:solidFill>
                <a:latin typeface="Arial" pitchFamily="34" charset="0"/>
                <a:ea typeface="Arial" pitchFamily="34" charset="-122"/>
                <a:cs typeface="Arial" pitchFamily="34" charset="-120"/>
              </a:rPr>
              <a:t>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237744"/>
          </a:xfrm>
          <a:prstGeom prst="rect">
            <a:avLst/>
          </a:prstGeom>
          <a:noFill/>
          <a:ln/>
        </p:spPr>
        <p:txBody>
          <a:bodyPr wrap="square" lIns="0" tIns="0" rIns="0" bIns="0" rtlCol="0" anchor="ctr"/>
          <a:lstStyle/>
          <a:p>
            <a:pPr indent="0" marL="0">
              <a:buNone/>
            </a:pPr>
            <a:r>
              <a:rPr lang="en-US" sz="1050" b="1" spc="300" kern="0" dirty="0">
                <a:solidFill>
                  <a:srgbClr val="4C7016"/>
                </a:solidFill>
                <a:latin typeface="Arial" pitchFamily="34" charset="0"/>
                <a:ea typeface="Arial" pitchFamily="34" charset="-122"/>
                <a:cs typeface="Arial" pitchFamily="34" charset="-120"/>
              </a:rPr>
              <a:t>FUNDAMENT</a:t>
            </a:r>
            <a:endParaRPr lang="en-US" sz="1050" dirty="0"/>
          </a:p>
        </p:txBody>
      </p:sp>
      <p:sp>
        <p:nvSpPr>
          <p:cNvPr id="3" name="Text 1"/>
          <p:cNvSpPr/>
          <p:nvPr/>
        </p:nvSpPr>
        <p:spPr>
          <a:xfrm>
            <a:off x="457200" y="530352"/>
            <a:ext cx="8229600" cy="502920"/>
          </a:xfrm>
          <a:prstGeom prst="rect">
            <a:avLst/>
          </a:prstGeom>
          <a:noFill/>
          <a:ln/>
        </p:spPr>
        <p:txBody>
          <a:bodyPr wrap="square" lIns="0" tIns="0" rIns="0" bIns="0" rtlCol="0" anchor="ctr"/>
          <a:lstStyle/>
          <a:p>
            <a:pPr indent="0" marL="0">
              <a:buNone/>
            </a:pPr>
            <a:r>
              <a:rPr lang="en-US" sz="2300" b="1" dirty="0">
                <a:solidFill>
                  <a:srgbClr val="1A1A1A"/>
                </a:solidFill>
                <a:latin typeface="Arial" pitchFamily="34" charset="0"/>
                <a:ea typeface="Arial" pitchFamily="34" charset="-122"/>
                <a:cs typeface="Arial" pitchFamily="34" charset="-120"/>
              </a:rPr>
              <a:t>Waarom Odoo het juiste system of record is</a:t>
            </a:r>
            <a:endParaRPr lang="en-US" sz="2300" dirty="0"/>
          </a:p>
        </p:txBody>
      </p:sp>
      <p:sp>
        <p:nvSpPr>
          <p:cNvPr id="4" name="Shape 2"/>
          <p:cNvSpPr/>
          <p:nvPr/>
        </p:nvSpPr>
        <p:spPr>
          <a:xfrm>
            <a:off x="457200" y="1371600"/>
            <a:ext cx="2651760" cy="1417320"/>
          </a:xfrm>
          <a:prstGeom prst="roundRect">
            <a:avLst>
              <a:gd name="adj" fmla="val 3871"/>
            </a:avLst>
          </a:prstGeom>
          <a:solidFill>
            <a:srgbClr val="F5F5F5"/>
          </a:solidFill>
          <a:ln w="9525">
            <a:solidFill>
              <a:srgbClr val="E3E3E3"/>
            </a:solidFill>
            <a:prstDash val="solid"/>
          </a:ln>
          <a:effectLst>
            <a:outerShdw sx="100000" sy="100000" kx="0" ky="0" algn="bl" rotWithShape="0" blurRad="76200" dist="25400" dir="2700000">
              <a:srgbClr val="000000">
                <a:alpha val="12000"/>
              </a:srgbClr>
            </a:outerShdw>
          </a:effectLst>
        </p:spPr>
      </p:sp>
      <p:sp>
        <p:nvSpPr>
          <p:cNvPr id="5" name="Shape 3"/>
          <p:cNvSpPr/>
          <p:nvPr/>
        </p:nvSpPr>
        <p:spPr>
          <a:xfrm>
            <a:off x="640080" y="1536192"/>
            <a:ext cx="274320" cy="274320"/>
          </a:xfrm>
          <a:prstGeom prst="ellipse">
            <a:avLst/>
          </a:prstGeom>
          <a:solidFill>
            <a:srgbClr val="86BC25"/>
          </a:solidFill>
          <a:ln w="12700">
            <a:solidFill>
              <a:srgbClr val="86BC25"/>
            </a:solidFill>
            <a:prstDash val="solid"/>
          </a:ln>
        </p:spPr>
      </p:sp>
      <p:sp>
        <p:nvSpPr>
          <p:cNvPr id="6" name="Text 4"/>
          <p:cNvSpPr/>
          <p:nvPr/>
        </p:nvSpPr>
        <p:spPr>
          <a:xfrm>
            <a:off x="603504" y="1517904"/>
            <a:ext cx="347472"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7" name="Text 5"/>
          <p:cNvSpPr/>
          <p:nvPr/>
        </p:nvSpPr>
        <p:spPr>
          <a:xfrm>
            <a:off x="1024128" y="1517904"/>
            <a:ext cx="1920240" cy="292608"/>
          </a:xfrm>
          <a:prstGeom prst="rect">
            <a:avLst/>
          </a:prstGeom>
          <a:noFill/>
          <a:ln/>
        </p:spPr>
        <p:txBody>
          <a:bodyPr wrap="square" lIns="0" tIns="0" rIns="0" bIns="0" rtlCol="0" anchor="ctr"/>
          <a:lstStyle/>
          <a:p>
            <a:pPr indent="0" marL="0">
              <a:buNone/>
            </a:pPr>
            <a:r>
              <a:rPr lang="en-US" sz="1250" b="1" dirty="0">
                <a:solidFill>
                  <a:srgbClr val="1A1A1A"/>
                </a:solidFill>
                <a:latin typeface="Arial" pitchFamily="34" charset="0"/>
                <a:ea typeface="Arial" pitchFamily="34" charset="-122"/>
                <a:cs typeface="Arial" pitchFamily="34" charset="-120"/>
              </a:rPr>
              <a:t>Audit trail</a:t>
            </a:r>
            <a:endParaRPr lang="en-US" sz="1250" dirty="0"/>
          </a:p>
        </p:txBody>
      </p:sp>
      <p:sp>
        <p:nvSpPr>
          <p:cNvPr id="8" name="Text 6"/>
          <p:cNvSpPr/>
          <p:nvPr/>
        </p:nvSpPr>
        <p:spPr>
          <a:xfrm>
            <a:off x="640080" y="1901952"/>
            <a:ext cx="2286000" cy="822960"/>
          </a:xfrm>
          <a:prstGeom prst="rect">
            <a:avLst/>
          </a:prstGeom>
          <a:noFill/>
          <a:ln/>
        </p:spPr>
        <p:txBody>
          <a:bodyPr wrap="square" lIns="0" tIns="0" rIns="0" bIns="0" rtlCol="0" anchor="t"/>
          <a:lstStyle/>
          <a:p>
            <a:pPr indent="0" marL="0">
              <a:buNone/>
            </a:pPr>
            <a:r>
              <a:rPr lang="en-US" sz="1050" dirty="0">
                <a:solidFill>
                  <a:srgbClr val="5B5B5B"/>
                </a:solidFill>
                <a:latin typeface="Arial" pitchFamily="34" charset="0"/>
                <a:ea typeface="Arial" pitchFamily="34" charset="-122"/>
                <a:cs typeface="Arial" pitchFamily="34" charset="-120"/>
              </a:rPr>
              <a:t>Chatter logt elke stap, mens en machine gescheiden</a:t>
            </a:r>
            <a:endParaRPr lang="en-US" sz="1050" dirty="0"/>
          </a:p>
        </p:txBody>
      </p:sp>
      <p:sp>
        <p:nvSpPr>
          <p:cNvPr id="9" name="Shape 7"/>
          <p:cNvSpPr/>
          <p:nvPr/>
        </p:nvSpPr>
        <p:spPr>
          <a:xfrm>
            <a:off x="3291840" y="1371600"/>
            <a:ext cx="2651760" cy="1417320"/>
          </a:xfrm>
          <a:prstGeom prst="roundRect">
            <a:avLst>
              <a:gd name="adj" fmla="val 3871"/>
            </a:avLst>
          </a:prstGeom>
          <a:solidFill>
            <a:srgbClr val="F5F5F5"/>
          </a:solidFill>
          <a:ln w="9525">
            <a:solidFill>
              <a:srgbClr val="E3E3E3"/>
            </a:solidFill>
            <a:prstDash val="solid"/>
          </a:ln>
          <a:effectLst>
            <a:outerShdw sx="100000" sy="100000" kx="0" ky="0" algn="bl" rotWithShape="0" blurRad="76200" dist="25400" dir="2700000">
              <a:srgbClr val="000000">
                <a:alpha val="12000"/>
              </a:srgbClr>
            </a:outerShdw>
          </a:effectLst>
        </p:spPr>
      </p:sp>
      <p:sp>
        <p:nvSpPr>
          <p:cNvPr id="10" name="Shape 8"/>
          <p:cNvSpPr/>
          <p:nvPr/>
        </p:nvSpPr>
        <p:spPr>
          <a:xfrm>
            <a:off x="3474720" y="1536192"/>
            <a:ext cx="274320" cy="274320"/>
          </a:xfrm>
          <a:prstGeom prst="ellipse">
            <a:avLst/>
          </a:prstGeom>
          <a:solidFill>
            <a:srgbClr val="86BC25"/>
          </a:solidFill>
          <a:ln w="12700">
            <a:solidFill>
              <a:srgbClr val="86BC25"/>
            </a:solidFill>
            <a:prstDash val="solid"/>
          </a:ln>
        </p:spPr>
      </p:sp>
      <p:sp>
        <p:nvSpPr>
          <p:cNvPr id="11" name="Text 9"/>
          <p:cNvSpPr/>
          <p:nvPr/>
        </p:nvSpPr>
        <p:spPr>
          <a:xfrm>
            <a:off x="3438144" y="1517904"/>
            <a:ext cx="347472"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12" name="Text 10"/>
          <p:cNvSpPr/>
          <p:nvPr/>
        </p:nvSpPr>
        <p:spPr>
          <a:xfrm>
            <a:off x="3858768" y="1517904"/>
            <a:ext cx="1920240" cy="292608"/>
          </a:xfrm>
          <a:prstGeom prst="rect">
            <a:avLst/>
          </a:prstGeom>
          <a:noFill/>
          <a:ln/>
        </p:spPr>
        <p:txBody>
          <a:bodyPr wrap="square" lIns="0" tIns="0" rIns="0" bIns="0" rtlCol="0" anchor="ctr"/>
          <a:lstStyle/>
          <a:p>
            <a:pPr indent="0" marL="0">
              <a:buNone/>
            </a:pPr>
            <a:r>
              <a:rPr lang="en-US" sz="1250" b="1" dirty="0">
                <a:solidFill>
                  <a:srgbClr val="1A1A1A"/>
                </a:solidFill>
                <a:latin typeface="Arial" pitchFamily="34" charset="0"/>
                <a:ea typeface="Arial" pitchFamily="34" charset="-122"/>
                <a:cs typeface="Arial" pitchFamily="34" charset="-120"/>
              </a:rPr>
              <a:t>Rollen en rechten</a:t>
            </a:r>
            <a:endParaRPr lang="en-US" sz="1250" dirty="0"/>
          </a:p>
        </p:txBody>
      </p:sp>
      <p:sp>
        <p:nvSpPr>
          <p:cNvPr id="13" name="Text 11"/>
          <p:cNvSpPr/>
          <p:nvPr/>
        </p:nvSpPr>
        <p:spPr>
          <a:xfrm>
            <a:off x="3474720" y="1901952"/>
            <a:ext cx="2286000" cy="822960"/>
          </a:xfrm>
          <a:prstGeom prst="rect">
            <a:avLst/>
          </a:prstGeom>
          <a:noFill/>
          <a:ln/>
        </p:spPr>
        <p:txBody>
          <a:bodyPr wrap="square" lIns="0" tIns="0" rIns="0" bIns="0" rtlCol="0" anchor="t"/>
          <a:lstStyle/>
          <a:p>
            <a:pPr indent="0" marL="0">
              <a:buNone/>
            </a:pPr>
            <a:r>
              <a:rPr lang="en-US" sz="1050" dirty="0">
                <a:solidFill>
                  <a:srgbClr val="5B5B5B"/>
                </a:solidFill>
                <a:latin typeface="Arial" pitchFamily="34" charset="0"/>
                <a:ea typeface="Arial" pitchFamily="34" charset="-122"/>
                <a:cs typeface="Arial" pitchFamily="34" charset="-120"/>
              </a:rPr>
              <a:t>Preparer, reviewer, manager en read-only auditor</a:t>
            </a:r>
            <a:endParaRPr lang="en-US" sz="1050" dirty="0"/>
          </a:p>
        </p:txBody>
      </p:sp>
      <p:sp>
        <p:nvSpPr>
          <p:cNvPr id="14" name="Shape 12"/>
          <p:cNvSpPr/>
          <p:nvPr/>
        </p:nvSpPr>
        <p:spPr>
          <a:xfrm>
            <a:off x="6126480" y="1371600"/>
            <a:ext cx="2651760" cy="1417320"/>
          </a:xfrm>
          <a:prstGeom prst="roundRect">
            <a:avLst>
              <a:gd name="adj" fmla="val 3871"/>
            </a:avLst>
          </a:prstGeom>
          <a:solidFill>
            <a:srgbClr val="F5F5F5"/>
          </a:solidFill>
          <a:ln w="9525">
            <a:solidFill>
              <a:srgbClr val="E3E3E3"/>
            </a:solidFill>
            <a:prstDash val="solid"/>
          </a:ln>
          <a:effectLst>
            <a:outerShdw sx="100000" sy="100000" kx="0" ky="0" algn="bl" rotWithShape="0" blurRad="76200" dist="25400" dir="2700000">
              <a:srgbClr val="000000">
                <a:alpha val="12000"/>
              </a:srgbClr>
            </a:outerShdw>
          </a:effectLst>
        </p:spPr>
      </p:sp>
      <p:sp>
        <p:nvSpPr>
          <p:cNvPr id="15" name="Shape 13"/>
          <p:cNvSpPr/>
          <p:nvPr/>
        </p:nvSpPr>
        <p:spPr>
          <a:xfrm>
            <a:off x="6309360" y="1536192"/>
            <a:ext cx="274320" cy="274320"/>
          </a:xfrm>
          <a:prstGeom prst="ellipse">
            <a:avLst/>
          </a:prstGeom>
          <a:solidFill>
            <a:srgbClr val="86BC25"/>
          </a:solidFill>
          <a:ln w="12700">
            <a:solidFill>
              <a:srgbClr val="86BC25"/>
            </a:solidFill>
            <a:prstDash val="solid"/>
          </a:ln>
        </p:spPr>
      </p:sp>
      <p:sp>
        <p:nvSpPr>
          <p:cNvPr id="16" name="Text 14"/>
          <p:cNvSpPr/>
          <p:nvPr/>
        </p:nvSpPr>
        <p:spPr>
          <a:xfrm>
            <a:off x="6272784" y="1517904"/>
            <a:ext cx="347472"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17" name="Text 15"/>
          <p:cNvSpPr/>
          <p:nvPr/>
        </p:nvSpPr>
        <p:spPr>
          <a:xfrm>
            <a:off x="6693408" y="1517904"/>
            <a:ext cx="1920240" cy="292608"/>
          </a:xfrm>
          <a:prstGeom prst="rect">
            <a:avLst/>
          </a:prstGeom>
          <a:noFill/>
          <a:ln/>
        </p:spPr>
        <p:txBody>
          <a:bodyPr wrap="square" lIns="0" tIns="0" rIns="0" bIns="0" rtlCol="0" anchor="ctr"/>
          <a:lstStyle/>
          <a:p>
            <a:pPr indent="0" marL="0">
              <a:buNone/>
            </a:pPr>
            <a:r>
              <a:rPr lang="en-US" sz="1250" b="1" dirty="0">
                <a:solidFill>
                  <a:srgbClr val="1A1A1A"/>
                </a:solidFill>
                <a:latin typeface="Arial" pitchFamily="34" charset="0"/>
                <a:ea typeface="Arial" pitchFamily="34" charset="-122"/>
                <a:cs typeface="Arial" pitchFamily="34" charset="-120"/>
              </a:rPr>
              <a:t>PDF-engine</a:t>
            </a:r>
            <a:endParaRPr lang="en-US" sz="1250" dirty="0"/>
          </a:p>
        </p:txBody>
      </p:sp>
      <p:sp>
        <p:nvSpPr>
          <p:cNvPr id="18" name="Text 16"/>
          <p:cNvSpPr/>
          <p:nvPr/>
        </p:nvSpPr>
        <p:spPr>
          <a:xfrm>
            <a:off x="6309360" y="1901952"/>
            <a:ext cx="2286000" cy="822960"/>
          </a:xfrm>
          <a:prstGeom prst="rect">
            <a:avLst/>
          </a:prstGeom>
          <a:noFill/>
          <a:ln/>
        </p:spPr>
        <p:txBody>
          <a:bodyPr wrap="square" lIns="0" tIns="0" rIns="0" bIns="0" rtlCol="0" anchor="t"/>
          <a:lstStyle/>
          <a:p>
            <a:pPr indent="0" marL="0">
              <a:buNone/>
            </a:pPr>
            <a:r>
              <a:rPr lang="en-US" sz="1050" dirty="0">
                <a:solidFill>
                  <a:srgbClr val="5B5B5B"/>
                </a:solidFill>
                <a:latin typeface="Arial" pitchFamily="34" charset="0"/>
                <a:ea typeface="Arial" pitchFamily="34" charset="-122"/>
                <a:cs typeface="Arial" pitchFamily="34" charset="-120"/>
              </a:rPr>
              <a:t>QWeb-rapporten met versiebeheer per document</a:t>
            </a:r>
            <a:endParaRPr lang="en-US" sz="1050" dirty="0"/>
          </a:p>
        </p:txBody>
      </p:sp>
      <p:sp>
        <p:nvSpPr>
          <p:cNvPr id="19" name="Shape 17"/>
          <p:cNvSpPr/>
          <p:nvPr/>
        </p:nvSpPr>
        <p:spPr>
          <a:xfrm>
            <a:off x="457200" y="2971800"/>
            <a:ext cx="2651760" cy="1417320"/>
          </a:xfrm>
          <a:prstGeom prst="roundRect">
            <a:avLst>
              <a:gd name="adj" fmla="val 3871"/>
            </a:avLst>
          </a:prstGeom>
          <a:solidFill>
            <a:srgbClr val="F5F5F5"/>
          </a:solidFill>
          <a:ln w="9525">
            <a:solidFill>
              <a:srgbClr val="E3E3E3"/>
            </a:solidFill>
            <a:prstDash val="solid"/>
          </a:ln>
          <a:effectLst>
            <a:outerShdw sx="100000" sy="100000" kx="0" ky="0" algn="bl" rotWithShape="0" blurRad="76200" dist="25400" dir="2700000">
              <a:srgbClr val="000000">
                <a:alpha val="12000"/>
              </a:srgbClr>
            </a:outerShdw>
          </a:effectLst>
        </p:spPr>
      </p:sp>
      <p:sp>
        <p:nvSpPr>
          <p:cNvPr id="20" name="Shape 18"/>
          <p:cNvSpPr/>
          <p:nvPr/>
        </p:nvSpPr>
        <p:spPr>
          <a:xfrm>
            <a:off x="640080" y="3136392"/>
            <a:ext cx="274320" cy="274320"/>
          </a:xfrm>
          <a:prstGeom prst="ellipse">
            <a:avLst/>
          </a:prstGeom>
          <a:solidFill>
            <a:srgbClr val="86BC25"/>
          </a:solidFill>
          <a:ln w="12700">
            <a:solidFill>
              <a:srgbClr val="86BC25"/>
            </a:solidFill>
            <a:prstDash val="solid"/>
          </a:ln>
        </p:spPr>
      </p:sp>
      <p:sp>
        <p:nvSpPr>
          <p:cNvPr id="21" name="Text 19"/>
          <p:cNvSpPr/>
          <p:nvPr/>
        </p:nvSpPr>
        <p:spPr>
          <a:xfrm>
            <a:off x="603504" y="3118104"/>
            <a:ext cx="347472"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22" name="Text 20"/>
          <p:cNvSpPr/>
          <p:nvPr/>
        </p:nvSpPr>
        <p:spPr>
          <a:xfrm>
            <a:off x="1024128" y="3118104"/>
            <a:ext cx="1920240" cy="292608"/>
          </a:xfrm>
          <a:prstGeom prst="rect">
            <a:avLst/>
          </a:prstGeom>
          <a:noFill/>
          <a:ln/>
        </p:spPr>
        <p:txBody>
          <a:bodyPr wrap="square" lIns="0" tIns="0" rIns="0" bIns="0" rtlCol="0" anchor="ctr"/>
          <a:lstStyle/>
          <a:p>
            <a:pPr indent="0" marL="0">
              <a:buNone/>
            </a:pPr>
            <a:r>
              <a:rPr lang="en-US" sz="1250" b="1" dirty="0">
                <a:solidFill>
                  <a:srgbClr val="1A1A1A"/>
                </a:solidFill>
                <a:latin typeface="Arial" pitchFamily="34" charset="0"/>
                <a:ea typeface="Arial" pitchFamily="34" charset="-122"/>
                <a:cs typeface="Arial" pitchFamily="34" charset="-120"/>
              </a:rPr>
              <a:t>Documentbeheer</a:t>
            </a:r>
            <a:endParaRPr lang="en-US" sz="1250" dirty="0"/>
          </a:p>
        </p:txBody>
      </p:sp>
      <p:sp>
        <p:nvSpPr>
          <p:cNvPr id="23" name="Text 21"/>
          <p:cNvSpPr/>
          <p:nvPr/>
        </p:nvSpPr>
        <p:spPr>
          <a:xfrm>
            <a:off x="640080" y="3502152"/>
            <a:ext cx="2286000" cy="822960"/>
          </a:xfrm>
          <a:prstGeom prst="rect">
            <a:avLst/>
          </a:prstGeom>
          <a:noFill/>
          <a:ln/>
        </p:spPr>
        <p:txBody>
          <a:bodyPr wrap="square" lIns="0" tIns="0" rIns="0" bIns="0" rtlCol="0" anchor="t"/>
          <a:lstStyle/>
          <a:p>
            <a:pPr indent="0" marL="0">
              <a:buNone/>
            </a:pPr>
            <a:r>
              <a:rPr lang="en-US" sz="1050" dirty="0">
                <a:solidFill>
                  <a:srgbClr val="5B5B5B"/>
                </a:solidFill>
                <a:latin typeface="Arial" pitchFamily="34" charset="0"/>
                <a:ea typeface="Arial" pitchFamily="34" charset="-122"/>
                <a:cs typeface="Arial" pitchFamily="34" charset="-120"/>
              </a:rPr>
              <a:t>Originelen en gegenereerde stukken centraal gearchiveerd</a:t>
            </a:r>
            <a:endParaRPr lang="en-US" sz="1050" dirty="0"/>
          </a:p>
        </p:txBody>
      </p:sp>
      <p:sp>
        <p:nvSpPr>
          <p:cNvPr id="24" name="Shape 22"/>
          <p:cNvSpPr/>
          <p:nvPr/>
        </p:nvSpPr>
        <p:spPr>
          <a:xfrm>
            <a:off x="3291840" y="2971800"/>
            <a:ext cx="2651760" cy="1417320"/>
          </a:xfrm>
          <a:prstGeom prst="roundRect">
            <a:avLst>
              <a:gd name="adj" fmla="val 3871"/>
            </a:avLst>
          </a:prstGeom>
          <a:solidFill>
            <a:srgbClr val="F5F5F5"/>
          </a:solidFill>
          <a:ln w="9525">
            <a:solidFill>
              <a:srgbClr val="E3E3E3"/>
            </a:solidFill>
            <a:prstDash val="solid"/>
          </a:ln>
          <a:effectLst>
            <a:outerShdw sx="100000" sy="100000" kx="0" ky="0" algn="bl" rotWithShape="0" blurRad="76200" dist="25400" dir="2700000">
              <a:srgbClr val="000000">
                <a:alpha val="12000"/>
              </a:srgbClr>
            </a:outerShdw>
          </a:effectLst>
        </p:spPr>
      </p:sp>
      <p:sp>
        <p:nvSpPr>
          <p:cNvPr id="25" name="Shape 23"/>
          <p:cNvSpPr/>
          <p:nvPr/>
        </p:nvSpPr>
        <p:spPr>
          <a:xfrm>
            <a:off x="3474720" y="3136392"/>
            <a:ext cx="274320" cy="274320"/>
          </a:xfrm>
          <a:prstGeom prst="ellipse">
            <a:avLst/>
          </a:prstGeom>
          <a:solidFill>
            <a:srgbClr val="86BC25"/>
          </a:solidFill>
          <a:ln w="12700">
            <a:solidFill>
              <a:srgbClr val="86BC25"/>
            </a:solidFill>
            <a:prstDash val="solid"/>
          </a:ln>
        </p:spPr>
      </p:sp>
      <p:sp>
        <p:nvSpPr>
          <p:cNvPr id="26" name="Text 24"/>
          <p:cNvSpPr/>
          <p:nvPr/>
        </p:nvSpPr>
        <p:spPr>
          <a:xfrm>
            <a:off x="3438144" y="3118104"/>
            <a:ext cx="347472"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27" name="Text 25"/>
          <p:cNvSpPr/>
          <p:nvPr/>
        </p:nvSpPr>
        <p:spPr>
          <a:xfrm>
            <a:off x="3858768" y="3118104"/>
            <a:ext cx="1920240" cy="292608"/>
          </a:xfrm>
          <a:prstGeom prst="rect">
            <a:avLst/>
          </a:prstGeom>
          <a:noFill/>
          <a:ln/>
        </p:spPr>
        <p:txBody>
          <a:bodyPr wrap="square" lIns="0" tIns="0" rIns="0" bIns="0" rtlCol="0" anchor="ctr"/>
          <a:lstStyle/>
          <a:p>
            <a:pPr indent="0" marL="0">
              <a:buNone/>
            </a:pPr>
            <a:r>
              <a:rPr lang="en-US" sz="1250" b="1" dirty="0">
                <a:solidFill>
                  <a:srgbClr val="1A1A1A"/>
                </a:solidFill>
                <a:latin typeface="Arial" pitchFamily="34" charset="0"/>
                <a:ea typeface="Arial" pitchFamily="34" charset="-122"/>
                <a:cs typeface="Arial" pitchFamily="34" charset="-120"/>
              </a:rPr>
              <a:t>Automatisering</a:t>
            </a:r>
            <a:endParaRPr lang="en-US" sz="1250" dirty="0"/>
          </a:p>
        </p:txBody>
      </p:sp>
      <p:sp>
        <p:nvSpPr>
          <p:cNvPr id="28" name="Text 26"/>
          <p:cNvSpPr/>
          <p:nvPr/>
        </p:nvSpPr>
        <p:spPr>
          <a:xfrm>
            <a:off x="3474720" y="3502152"/>
            <a:ext cx="2286000" cy="822960"/>
          </a:xfrm>
          <a:prstGeom prst="rect">
            <a:avLst/>
          </a:prstGeom>
          <a:noFill/>
          <a:ln/>
        </p:spPr>
        <p:txBody>
          <a:bodyPr wrap="square" lIns="0" tIns="0" rIns="0" bIns="0" rtlCol="0" anchor="t"/>
          <a:lstStyle/>
          <a:p>
            <a:pPr indent="0" marL="0">
              <a:buNone/>
            </a:pPr>
            <a:r>
              <a:rPr lang="en-US" sz="1050" dirty="0">
                <a:solidFill>
                  <a:srgbClr val="5B5B5B"/>
                </a:solidFill>
                <a:latin typeface="Arial" pitchFamily="34" charset="0"/>
                <a:ea typeface="Arial" pitchFamily="34" charset="-122"/>
                <a:cs typeface="Arial" pitchFamily="34" charset="-120"/>
              </a:rPr>
              <a:t>Crons, activities en server actions sturen het werk</a:t>
            </a:r>
            <a:endParaRPr lang="en-US" sz="1050" dirty="0"/>
          </a:p>
        </p:txBody>
      </p:sp>
      <p:sp>
        <p:nvSpPr>
          <p:cNvPr id="29" name="Shape 27"/>
          <p:cNvSpPr/>
          <p:nvPr/>
        </p:nvSpPr>
        <p:spPr>
          <a:xfrm>
            <a:off x="6126480" y="2971800"/>
            <a:ext cx="2651760" cy="1417320"/>
          </a:xfrm>
          <a:prstGeom prst="roundRect">
            <a:avLst>
              <a:gd name="adj" fmla="val 3871"/>
            </a:avLst>
          </a:prstGeom>
          <a:solidFill>
            <a:srgbClr val="F5F5F5"/>
          </a:solidFill>
          <a:ln w="9525">
            <a:solidFill>
              <a:srgbClr val="E3E3E3"/>
            </a:solidFill>
            <a:prstDash val="solid"/>
          </a:ln>
          <a:effectLst>
            <a:outerShdw sx="100000" sy="100000" kx="0" ky="0" algn="bl" rotWithShape="0" blurRad="76200" dist="25400" dir="2700000">
              <a:srgbClr val="000000">
                <a:alpha val="12000"/>
              </a:srgbClr>
            </a:outerShdw>
          </a:effectLst>
        </p:spPr>
      </p:sp>
      <p:sp>
        <p:nvSpPr>
          <p:cNvPr id="30" name="Shape 28"/>
          <p:cNvSpPr/>
          <p:nvPr/>
        </p:nvSpPr>
        <p:spPr>
          <a:xfrm>
            <a:off x="6309360" y="3136392"/>
            <a:ext cx="274320" cy="274320"/>
          </a:xfrm>
          <a:prstGeom prst="ellipse">
            <a:avLst/>
          </a:prstGeom>
          <a:solidFill>
            <a:srgbClr val="86BC25"/>
          </a:solidFill>
          <a:ln w="12700">
            <a:solidFill>
              <a:srgbClr val="86BC25"/>
            </a:solidFill>
            <a:prstDash val="solid"/>
          </a:ln>
        </p:spPr>
      </p:sp>
      <p:sp>
        <p:nvSpPr>
          <p:cNvPr id="31" name="Text 29"/>
          <p:cNvSpPr/>
          <p:nvPr/>
        </p:nvSpPr>
        <p:spPr>
          <a:xfrm>
            <a:off x="6272784" y="3118104"/>
            <a:ext cx="347472"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32" name="Text 30"/>
          <p:cNvSpPr/>
          <p:nvPr/>
        </p:nvSpPr>
        <p:spPr>
          <a:xfrm>
            <a:off x="6693408" y="3118104"/>
            <a:ext cx="1920240" cy="292608"/>
          </a:xfrm>
          <a:prstGeom prst="rect">
            <a:avLst/>
          </a:prstGeom>
          <a:noFill/>
          <a:ln/>
        </p:spPr>
        <p:txBody>
          <a:bodyPr wrap="square" lIns="0" tIns="0" rIns="0" bIns="0" rtlCol="0" anchor="ctr"/>
          <a:lstStyle/>
          <a:p>
            <a:pPr indent="0" marL="0">
              <a:buNone/>
            </a:pPr>
            <a:r>
              <a:rPr lang="en-US" sz="1250" b="1" dirty="0">
                <a:solidFill>
                  <a:srgbClr val="1A1A1A"/>
                </a:solidFill>
                <a:latin typeface="Arial" pitchFamily="34" charset="0"/>
                <a:ea typeface="Arial" pitchFamily="34" charset="-122"/>
                <a:cs typeface="Arial" pitchFamily="34" charset="-120"/>
              </a:rPr>
              <a:t>Multi-company</a:t>
            </a:r>
            <a:endParaRPr lang="en-US" sz="1250" dirty="0"/>
          </a:p>
        </p:txBody>
      </p:sp>
      <p:sp>
        <p:nvSpPr>
          <p:cNvPr id="33" name="Text 31"/>
          <p:cNvSpPr/>
          <p:nvPr/>
        </p:nvSpPr>
        <p:spPr>
          <a:xfrm>
            <a:off x="6309360" y="3502152"/>
            <a:ext cx="2286000" cy="822960"/>
          </a:xfrm>
          <a:prstGeom prst="rect">
            <a:avLst/>
          </a:prstGeom>
          <a:noFill/>
          <a:ln/>
        </p:spPr>
        <p:txBody>
          <a:bodyPr wrap="square" lIns="0" tIns="0" rIns="0" bIns="0" rtlCol="0" anchor="t"/>
          <a:lstStyle/>
          <a:p>
            <a:pPr indent="0" marL="0">
              <a:buNone/>
            </a:pPr>
            <a:r>
              <a:rPr lang="en-US" sz="1050" dirty="0">
                <a:solidFill>
                  <a:srgbClr val="5B5B5B"/>
                </a:solidFill>
                <a:latin typeface="Arial" pitchFamily="34" charset="0"/>
                <a:ea typeface="Arial" pitchFamily="34" charset="-122"/>
                <a:cs typeface="Arial" pitchFamily="34" charset="-120"/>
              </a:rPr>
              <a:t>Meerdere entiteiten in dezelfde beheerde omgeving</a:t>
            </a:r>
            <a:endParaRPr lang="en-US" sz="1050" dirty="0"/>
          </a:p>
        </p:txBody>
      </p:sp>
      <p:sp>
        <p:nvSpPr>
          <p:cNvPr id="34" name="Text 32"/>
          <p:cNvSpPr/>
          <p:nvPr/>
        </p:nvSpPr>
        <p:spPr>
          <a:xfrm>
            <a:off x="457200" y="4864608"/>
            <a:ext cx="3200400" cy="228600"/>
          </a:xfrm>
          <a:prstGeom prst="rect">
            <a:avLst/>
          </a:prstGeom>
          <a:noFill/>
          <a:ln/>
        </p:spPr>
        <p:txBody>
          <a:bodyPr wrap="square" lIns="0" tIns="0" rIns="0" bIns="0" rtlCol="0" anchor="ctr"/>
          <a:lstStyle/>
          <a:p>
            <a:pPr indent="0" marL="0">
              <a:buNone/>
            </a:pPr>
            <a:r>
              <a:rPr lang="en-US" sz="850" dirty="0">
                <a:solidFill>
                  <a:srgbClr val="9A9A9A"/>
                </a:solidFill>
                <a:latin typeface="Arial" pitchFamily="34" charset="0"/>
                <a:ea typeface="Arial" pitchFamily="34" charset="-122"/>
                <a:cs typeface="Arial" pitchFamily="34" charset="-120"/>
              </a:rPr>
              <a:t>Deloitte | Intern werkdocument</a:t>
            </a:r>
            <a:endParaRPr lang="en-US" sz="850" dirty="0"/>
          </a:p>
        </p:txBody>
      </p:sp>
      <p:sp>
        <p:nvSpPr>
          <p:cNvPr id="35" name="Text 33"/>
          <p:cNvSpPr/>
          <p:nvPr/>
        </p:nvSpPr>
        <p:spPr>
          <a:xfrm>
            <a:off x="8503920" y="4864608"/>
            <a:ext cx="274320" cy="228600"/>
          </a:xfrm>
          <a:prstGeom prst="rect">
            <a:avLst/>
          </a:prstGeom>
          <a:noFill/>
          <a:ln/>
        </p:spPr>
        <p:txBody>
          <a:bodyPr wrap="square" lIns="0" tIns="0" rIns="0" bIns="0" rtlCol="0" anchor="ctr"/>
          <a:lstStyle/>
          <a:p>
            <a:pPr algn="r" indent="0" marL="0">
              <a:buNone/>
            </a:pPr>
            <a:r>
              <a:rPr lang="en-US" sz="850" dirty="0">
                <a:solidFill>
                  <a:srgbClr val="9A9A9A"/>
                </a:solidFill>
                <a:latin typeface="Arial" pitchFamily="34" charset="0"/>
                <a:ea typeface="Arial" pitchFamily="34" charset="-122"/>
                <a:cs typeface="Arial" pitchFamily="34" charset="-120"/>
              </a:rPr>
              <a:t>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237744"/>
          </a:xfrm>
          <a:prstGeom prst="rect">
            <a:avLst/>
          </a:prstGeom>
          <a:noFill/>
          <a:ln/>
        </p:spPr>
        <p:txBody>
          <a:bodyPr wrap="square" lIns="0" tIns="0" rIns="0" bIns="0" rtlCol="0" anchor="ctr"/>
          <a:lstStyle/>
          <a:p>
            <a:pPr indent="0" marL="0">
              <a:buNone/>
            </a:pPr>
            <a:r>
              <a:rPr lang="en-US" sz="1050" b="1" spc="300" kern="0" dirty="0">
                <a:solidFill>
                  <a:srgbClr val="4C7016"/>
                </a:solidFill>
                <a:latin typeface="Arial" pitchFamily="34" charset="0"/>
                <a:ea typeface="Arial" pitchFamily="34" charset="-122"/>
                <a:cs typeface="Arial" pitchFamily="34" charset="-120"/>
              </a:rPr>
              <a:t>KERNVRAAG</a:t>
            </a:r>
            <a:endParaRPr lang="en-US" sz="1050" dirty="0"/>
          </a:p>
        </p:txBody>
      </p:sp>
      <p:sp>
        <p:nvSpPr>
          <p:cNvPr id="3" name="Text 1"/>
          <p:cNvSpPr/>
          <p:nvPr/>
        </p:nvSpPr>
        <p:spPr>
          <a:xfrm>
            <a:off x="457200" y="530352"/>
            <a:ext cx="8229600" cy="502920"/>
          </a:xfrm>
          <a:prstGeom prst="rect">
            <a:avLst/>
          </a:prstGeom>
          <a:noFill/>
          <a:ln/>
        </p:spPr>
        <p:txBody>
          <a:bodyPr wrap="square" lIns="0" tIns="0" rIns="0" bIns="0" rtlCol="0" anchor="ctr"/>
          <a:lstStyle/>
          <a:p>
            <a:pPr indent="0" marL="0">
              <a:buNone/>
            </a:pPr>
            <a:r>
              <a:rPr lang="en-US" sz="2300" b="1" dirty="0">
                <a:solidFill>
                  <a:srgbClr val="1A1A1A"/>
                </a:solidFill>
                <a:latin typeface="Arial" pitchFamily="34" charset="0"/>
                <a:ea typeface="Arial" pitchFamily="34" charset="-122"/>
                <a:cs typeface="Arial" pitchFamily="34" charset="-120"/>
              </a:rPr>
              <a:t>Kunnen we de Odoo factuur-OCR hergebruiken?</a:t>
            </a:r>
            <a:endParaRPr lang="en-US" sz="2300" dirty="0"/>
          </a:p>
        </p:txBody>
      </p:sp>
      <p:sp>
        <p:nvSpPr>
          <p:cNvPr id="4" name="Shape 2"/>
          <p:cNvSpPr/>
          <p:nvPr/>
        </p:nvSpPr>
        <p:spPr>
          <a:xfrm>
            <a:off x="822960" y="1417320"/>
            <a:ext cx="7498080" cy="1371600"/>
          </a:xfrm>
          <a:prstGeom prst="roundRect">
            <a:avLst>
              <a:gd name="adj" fmla="val 4000"/>
            </a:avLst>
          </a:prstGeom>
          <a:solidFill>
            <a:srgbClr val="F3F8E9"/>
          </a:solidFill>
          <a:ln w="9525">
            <a:solidFill>
              <a:srgbClr val="E3E3E3"/>
            </a:solidFill>
            <a:prstDash val="solid"/>
          </a:ln>
          <a:effectLst>
            <a:outerShdw sx="100000" sy="100000" kx="0" ky="0" algn="bl" rotWithShape="0" blurRad="76200" dist="25400" dir="2700000">
              <a:srgbClr val="000000">
                <a:alpha val="12000"/>
              </a:srgbClr>
            </a:outerShdw>
          </a:effectLst>
        </p:spPr>
      </p:sp>
      <p:sp>
        <p:nvSpPr>
          <p:cNvPr id="5" name="Text 3"/>
          <p:cNvSpPr/>
          <p:nvPr/>
        </p:nvSpPr>
        <p:spPr>
          <a:xfrm>
            <a:off x="1097280" y="1554480"/>
            <a:ext cx="6949440" cy="1097280"/>
          </a:xfrm>
          <a:prstGeom prst="rect">
            <a:avLst/>
          </a:prstGeom>
          <a:noFill/>
          <a:ln/>
        </p:spPr>
        <p:txBody>
          <a:bodyPr wrap="square" lIns="0" tIns="0" rIns="0" bIns="0" rtlCol="0" anchor="ctr"/>
          <a:lstStyle/>
          <a:p>
            <a:pPr algn="ctr" indent="0" marL="0">
              <a:buNone/>
            </a:pPr>
            <a:r>
              <a:rPr lang="en-US" sz="1450" i="1" dirty="0">
                <a:solidFill>
                  <a:srgbClr val="1A1A1A"/>
                </a:solidFill>
                <a:latin typeface="Arial" pitchFamily="34" charset="0"/>
                <a:ea typeface="Arial" pitchFamily="34" charset="-122"/>
                <a:cs typeface="Arial" pitchFamily="34" charset="-120"/>
              </a:rPr>
              <a:t>“Kan de bestaande invoice OCR / document digitization van Odoo 19 Enterprise hergebruikt worden voor 796.6-, transfer- en VAT-warehousedocumenten?”</a:t>
            </a:r>
            <a:endParaRPr lang="en-US" sz="1450" dirty="0"/>
          </a:p>
        </p:txBody>
      </p:sp>
      <p:sp>
        <p:nvSpPr>
          <p:cNvPr id="6" name="Text 4"/>
          <p:cNvSpPr/>
          <p:nvPr/>
        </p:nvSpPr>
        <p:spPr>
          <a:xfrm>
            <a:off x="822960" y="3063240"/>
            <a:ext cx="7498080" cy="274320"/>
          </a:xfrm>
          <a:prstGeom prst="rect">
            <a:avLst/>
          </a:prstGeom>
          <a:noFill/>
          <a:ln/>
        </p:spPr>
        <p:txBody>
          <a:bodyPr wrap="square" lIns="0" tIns="0" rIns="0" bIns="0" rtlCol="0" anchor="ctr"/>
          <a:lstStyle/>
          <a:p>
            <a:pPr algn="ctr" indent="0" marL="0">
              <a:buNone/>
            </a:pPr>
            <a:r>
              <a:rPr lang="en-US" sz="1200" b="1" dirty="0">
                <a:solidFill>
                  <a:srgbClr val="5B5B5B"/>
                </a:solidFill>
                <a:latin typeface="Arial" pitchFamily="34" charset="0"/>
                <a:ea typeface="Arial" pitchFamily="34" charset="-122"/>
                <a:cs typeface="Arial" pitchFamily="34" charset="-120"/>
              </a:rPr>
              <a:t>Niet aangenomen, maar onderzocht in de broncode:</a:t>
            </a:r>
            <a:endParaRPr lang="en-US" sz="1200" dirty="0"/>
          </a:p>
        </p:txBody>
      </p:sp>
      <p:sp>
        <p:nvSpPr>
          <p:cNvPr id="7" name="Shape 5"/>
          <p:cNvSpPr/>
          <p:nvPr/>
        </p:nvSpPr>
        <p:spPr>
          <a:xfrm>
            <a:off x="822960" y="3429000"/>
            <a:ext cx="2423160" cy="1143000"/>
          </a:xfrm>
          <a:prstGeom prst="roundRect">
            <a:avLst>
              <a:gd name="adj" fmla="val 4800"/>
            </a:avLst>
          </a:prstGeom>
          <a:solidFill>
            <a:srgbClr val="F5F5F5"/>
          </a:solidFill>
          <a:ln w="9525">
            <a:solidFill>
              <a:srgbClr val="E3E3E3"/>
            </a:solidFill>
            <a:prstDash val="solid"/>
          </a:ln>
          <a:effectLst>
            <a:outerShdw sx="100000" sy="100000" kx="0" ky="0" algn="bl" rotWithShape="0" blurRad="76200" dist="25400" dir="2700000">
              <a:srgbClr val="000000">
                <a:alpha val="12000"/>
              </a:srgbClr>
            </a:outerShdw>
          </a:effectLst>
        </p:spPr>
      </p:sp>
      <p:sp>
        <p:nvSpPr>
          <p:cNvPr id="8" name="Text 6"/>
          <p:cNvSpPr/>
          <p:nvPr/>
        </p:nvSpPr>
        <p:spPr>
          <a:xfrm>
            <a:off x="960120" y="3547872"/>
            <a:ext cx="2148840" cy="274320"/>
          </a:xfrm>
          <a:prstGeom prst="rect">
            <a:avLst/>
          </a:prstGeom>
          <a:noFill/>
          <a:ln/>
        </p:spPr>
        <p:txBody>
          <a:bodyPr wrap="square" lIns="0" tIns="0" rIns="0" bIns="0" rtlCol="0" anchor="ctr"/>
          <a:lstStyle/>
          <a:p>
            <a:pPr indent="0" marL="0">
              <a:buNone/>
            </a:pPr>
            <a:r>
              <a:rPr lang="en-US" sz="1150" b="1" dirty="0">
                <a:solidFill>
                  <a:srgbClr val="4C7016"/>
                </a:solidFill>
                <a:latin typeface="Arial" pitchFamily="34" charset="0"/>
                <a:ea typeface="Arial" pitchFamily="34" charset="-122"/>
                <a:cs typeface="Arial" pitchFamily="34" charset="-120"/>
              </a:rPr>
              <a:t>Enterprise source</a:t>
            </a:r>
            <a:endParaRPr lang="en-US" sz="1150" dirty="0"/>
          </a:p>
        </p:txBody>
      </p:sp>
      <p:sp>
        <p:nvSpPr>
          <p:cNvPr id="9" name="Text 7"/>
          <p:cNvSpPr/>
          <p:nvPr/>
        </p:nvSpPr>
        <p:spPr>
          <a:xfrm>
            <a:off x="960120" y="3840480"/>
            <a:ext cx="2148840" cy="658368"/>
          </a:xfrm>
          <a:prstGeom prst="rect">
            <a:avLst/>
          </a:prstGeom>
          <a:noFill/>
          <a:ln/>
        </p:spPr>
        <p:txBody>
          <a:bodyPr wrap="square" lIns="0" tIns="0" rIns="0" bIns="0" rtlCol="0" anchor="t"/>
          <a:lstStyle/>
          <a:p>
            <a:pPr indent="0" marL="0">
              <a:buNone/>
            </a:pPr>
            <a:r>
              <a:rPr lang="en-US" sz="950" dirty="0">
                <a:solidFill>
                  <a:srgbClr val="5B5B5B"/>
                </a:solidFill>
                <a:latin typeface="Arial" pitchFamily="34" charset="0"/>
                <a:ea typeface="Arial" pitchFamily="34" charset="-122"/>
                <a:cs typeface="Arial" pitchFamily="34" charset="-120"/>
              </a:rPr>
              <a:t>iap_extract, account_invoice_extract, hr_expense_extract, ai-modules</a:t>
            </a:r>
            <a:endParaRPr lang="en-US" sz="950" dirty="0"/>
          </a:p>
        </p:txBody>
      </p:sp>
      <p:sp>
        <p:nvSpPr>
          <p:cNvPr id="10" name="Shape 8"/>
          <p:cNvSpPr/>
          <p:nvPr/>
        </p:nvSpPr>
        <p:spPr>
          <a:xfrm>
            <a:off x="3429000" y="3429000"/>
            <a:ext cx="2423160" cy="1143000"/>
          </a:xfrm>
          <a:prstGeom prst="roundRect">
            <a:avLst>
              <a:gd name="adj" fmla="val 4800"/>
            </a:avLst>
          </a:prstGeom>
          <a:solidFill>
            <a:srgbClr val="F5F5F5"/>
          </a:solidFill>
          <a:ln w="9525">
            <a:solidFill>
              <a:srgbClr val="E3E3E3"/>
            </a:solidFill>
            <a:prstDash val="solid"/>
          </a:ln>
          <a:effectLst>
            <a:outerShdw sx="100000" sy="100000" kx="0" ky="0" algn="bl" rotWithShape="0" blurRad="76200" dist="25400" dir="2700000">
              <a:srgbClr val="000000">
                <a:alpha val="12000"/>
              </a:srgbClr>
            </a:outerShdw>
          </a:effectLst>
        </p:spPr>
      </p:sp>
      <p:sp>
        <p:nvSpPr>
          <p:cNvPr id="11" name="Text 9"/>
          <p:cNvSpPr/>
          <p:nvPr/>
        </p:nvSpPr>
        <p:spPr>
          <a:xfrm>
            <a:off x="3566160" y="3547872"/>
            <a:ext cx="2148840" cy="274320"/>
          </a:xfrm>
          <a:prstGeom prst="rect">
            <a:avLst/>
          </a:prstGeom>
          <a:noFill/>
          <a:ln/>
        </p:spPr>
        <p:txBody>
          <a:bodyPr wrap="square" lIns="0" tIns="0" rIns="0" bIns="0" rtlCol="0" anchor="ctr"/>
          <a:lstStyle/>
          <a:p>
            <a:pPr indent="0" marL="0">
              <a:buNone/>
            </a:pPr>
            <a:r>
              <a:rPr lang="en-US" sz="1150" b="1" dirty="0">
                <a:solidFill>
                  <a:srgbClr val="4C7016"/>
                </a:solidFill>
                <a:latin typeface="Arial" pitchFamily="34" charset="0"/>
                <a:ea typeface="Arial" pitchFamily="34" charset="-122"/>
                <a:cs typeface="Arial" pitchFamily="34" charset="-120"/>
              </a:rPr>
              <a:t>Community source</a:t>
            </a:r>
            <a:endParaRPr lang="en-US" sz="1150" dirty="0"/>
          </a:p>
        </p:txBody>
      </p:sp>
      <p:sp>
        <p:nvSpPr>
          <p:cNvPr id="12" name="Text 10"/>
          <p:cNvSpPr/>
          <p:nvPr/>
        </p:nvSpPr>
        <p:spPr>
          <a:xfrm>
            <a:off x="3566160" y="3840480"/>
            <a:ext cx="2148840" cy="658368"/>
          </a:xfrm>
          <a:prstGeom prst="rect">
            <a:avLst/>
          </a:prstGeom>
          <a:noFill/>
          <a:ln/>
        </p:spPr>
        <p:txBody>
          <a:bodyPr wrap="square" lIns="0" tIns="0" rIns="0" bIns="0" rtlCol="0" anchor="t"/>
          <a:lstStyle/>
          <a:p>
            <a:pPr indent="0" marL="0">
              <a:buNone/>
            </a:pPr>
            <a:r>
              <a:rPr lang="en-US" sz="950" dirty="0">
                <a:solidFill>
                  <a:srgbClr val="5B5B5B"/>
                </a:solidFill>
                <a:latin typeface="Arial" pitchFamily="34" charset="0"/>
                <a:ea typeface="Arial" pitchFamily="34" charset="-122"/>
                <a:cs typeface="Arial" pitchFamily="34" charset="-120"/>
              </a:rPr>
              <a:t>base_vat (VIES), iap, QWeb-reporting</a:t>
            </a:r>
            <a:endParaRPr lang="en-US" sz="950" dirty="0"/>
          </a:p>
        </p:txBody>
      </p:sp>
      <p:sp>
        <p:nvSpPr>
          <p:cNvPr id="13" name="Shape 11"/>
          <p:cNvSpPr/>
          <p:nvPr/>
        </p:nvSpPr>
        <p:spPr>
          <a:xfrm>
            <a:off x="6035040" y="3429000"/>
            <a:ext cx="2423160" cy="1143000"/>
          </a:xfrm>
          <a:prstGeom prst="roundRect">
            <a:avLst>
              <a:gd name="adj" fmla="val 4800"/>
            </a:avLst>
          </a:prstGeom>
          <a:solidFill>
            <a:srgbClr val="F5F5F5"/>
          </a:solidFill>
          <a:ln w="9525">
            <a:solidFill>
              <a:srgbClr val="E3E3E3"/>
            </a:solidFill>
            <a:prstDash val="solid"/>
          </a:ln>
          <a:effectLst>
            <a:outerShdw sx="100000" sy="100000" kx="0" ky="0" algn="bl" rotWithShape="0" blurRad="76200" dist="25400" dir="2700000">
              <a:srgbClr val="000000">
                <a:alpha val="12000"/>
              </a:srgbClr>
            </a:outerShdw>
          </a:effectLst>
        </p:spPr>
      </p:sp>
      <p:sp>
        <p:nvSpPr>
          <p:cNvPr id="14" name="Text 12"/>
          <p:cNvSpPr/>
          <p:nvPr/>
        </p:nvSpPr>
        <p:spPr>
          <a:xfrm>
            <a:off x="6172200" y="3547872"/>
            <a:ext cx="2148840" cy="274320"/>
          </a:xfrm>
          <a:prstGeom prst="rect">
            <a:avLst/>
          </a:prstGeom>
          <a:noFill/>
          <a:ln/>
        </p:spPr>
        <p:txBody>
          <a:bodyPr wrap="square" lIns="0" tIns="0" rIns="0" bIns="0" rtlCol="0" anchor="ctr"/>
          <a:lstStyle/>
          <a:p>
            <a:pPr indent="0" marL="0">
              <a:buNone/>
            </a:pPr>
            <a:r>
              <a:rPr lang="en-US" sz="1150" b="1" dirty="0">
                <a:solidFill>
                  <a:srgbClr val="4C7016"/>
                </a:solidFill>
                <a:latin typeface="Arial" pitchFamily="34" charset="0"/>
                <a:ea typeface="Arial" pitchFamily="34" charset="-122"/>
                <a:cs typeface="Arial" pitchFamily="34" charset="-120"/>
              </a:rPr>
              <a:t>Officiële documentatie</a:t>
            </a:r>
            <a:endParaRPr lang="en-US" sz="1150" dirty="0"/>
          </a:p>
        </p:txBody>
      </p:sp>
      <p:sp>
        <p:nvSpPr>
          <p:cNvPr id="15" name="Text 13"/>
          <p:cNvSpPr/>
          <p:nvPr/>
        </p:nvSpPr>
        <p:spPr>
          <a:xfrm>
            <a:off x="6172200" y="3840480"/>
            <a:ext cx="2148840" cy="658368"/>
          </a:xfrm>
          <a:prstGeom prst="rect">
            <a:avLst/>
          </a:prstGeom>
          <a:noFill/>
          <a:ln/>
        </p:spPr>
        <p:txBody>
          <a:bodyPr wrap="square" lIns="0" tIns="0" rIns="0" bIns="0" rtlCol="0" anchor="t"/>
          <a:lstStyle/>
          <a:p>
            <a:pPr indent="0" marL="0">
              <a:buNone/>
            </a:pPr>
            <a:r>
              <a:rPr lang="en-US" sz="950" dirty="0">
                <a:solidFill>
                  <a:srgbClr val="5B5B5B"/>
                </a:solidFill>
                <a:latin typeface="Arial" pitchFamily="34" charset="0"/>
                <a:ea typeface="Arial" pitchFamily="34" charset="-122"/>
                <a:cs typeface="Arial" pitchFamily="34" charset="-120"/>
              </a:rPr>
              <a:t>Extract API, invoice digitization, VIES-verificatie</a:t>
            </a:r>
            <a:endParaRPr lang="en-US" sz="950" dirty="0"/>
          </a:p>
        </p:txBody>
      </p:sp>
      <p:sp>
        <p:nvSpPr>
          <p:cNvPr id="16" name="Text 14"/>
          <p:cNvSpPr/>
          <p:nvPr/>
        </p:nvSpPr>
        <p:spPr>
          <a:xfrm>
            <a:off x="457200" y="4864608"/>
            <a:ext cx="3200400" cy="228600"/>
          </a:xfrm>
          <a:prstGeom prst="rect">
            <a:avLst/>
          </a:prstGeom>
          <a:noFill/>
          <a:ln/>
        </p:spPr>
        <p:txBody>
          <a:bodyPr wrap="square" lIns="0" tIns="0" rIns="0" bIns="0" rtlCol="0" anchor="ctr"/>
          <a:lstStyle/>
          <a:p>
            <a:pPr indent="0" marL="0">
              <a:buNone/>
            </a:pPr>
            <a:r>
              <a:rPr lang="en-US" sz="850" dirty="0">
                <a:solidFill>
                  <a:srgbClr val="9A9A9A"/>
                </a:solidFill>
                <a:latin typeface="Arial" pitchFamily="34" charset="0"/>
                <a:ea typeface="Arial" pitchFamily="34" charset="-122"/>
                <a:cs typeface="Arial" pitchFamily="34" charset="-120"/>
              </a:rPr>
              <a:t>Deloitte | Intern werkdocument</a:t>
            </a:r>
            <a:endParaRPr lang="en-US" sz="850" dirty="0"/>
          </a:p>
        </p:txBody>
      </p:sp>
      <p:sp>
        <p:nvSpPr>
          <p:cNvPr id="17" name="Text 15"/>
          <p:cNvSpPr/>
          <p:nvPr/>
        </p:nvSpPr>
        <p:spPr>
          <a:xfrm>
            <a:off x="8503920" y="4864608"/>
            <a:ext cx="274320" cy="228600"/>
          </a:xfrm>
          <a:prstGeom prst="rect">
            <a:avLst/>
          </a:prstGeom>
          <a:noFill/>
          <a:ln/>
        </p:spPr>
        <p:txBody>
          <a:bodyPr wrap="square" lIns="0" tIns="0" rIns="0" bIns="0" rtlCol="0" anchor="ctr"/>
          <a:lstStyle/>
          <a:p>
            <a:pPr algn="r" indent="0" marL="0">
              <a:buNone/>
            </a:pPr>
            <a:r>
              <a:rPr lang="en-US" sz="850" dirty="0">
                <a:solidFill>
                  <a:srgbClr val="9A9A9A"/>
                </a:solidFill>
                <a:latin typeface="Arial" pitchFamily="34" charset="0"/>
                <a:ea typeface="Arial" pitchFamily="34" charset="-122"/>
                <a:cs typeface="Arial" pitchFamily="34" charset="-120"/>
              </a:rPr>
              <a:t>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237744"/>
          </a:xfrm>
          <a:prstGeom prst="rect">
            <a:avLst/>
          </a:prstGeom>
          <a:noFill/>
          <a:ln/>
        </p:spPr>
        <p:txBody>
          <a:bodyPr wrap="square" lIns="0" tIns="0" rIns="0" bIns="0" rtlCol="0" anchor="ctr"/>
          <a:lstStyle/>
          <a:p>
            <a:pPr indent="0" marL="0">
              <a:buNone/>
            </a:pPr>
            <a:r>
              <a:rPr lang="en-US" sz="1050" b="1" spc="300" kern="0" dirty="0">
                <a:solidFill>
                  <a:srgbClr val="4C7016"/>
                </a:solidFill>
                <a:latin typeface="Arial" pitchFamily="34" charset="0"/>
                <a:ea typeface="Arial" pitchFamily="34" charset="-122"/>
                <a:cs typeface="Arial" pitchFamily="34" charset="-120"/>
              </a:rPr>
              <a:t>BEVINDINGEN</a:t>
            </a:r>
            <a:endParaRPr lang="en-US" sz="1050" dirty="0"/>
          </a:p>
        </p:txBody>
      </p:sp>
      <p:sp>
        <p:nvSpPr>
          <p:cNvPr id="3" name="Text 1"/>
          <p:cNvSpPr/>
          <p:nvPr/>
        </p:nvSpPr>
        <p:spPr>
          <a:xfrm>
            <a:off x="457200" y="530352"/>
            <a:ext cx="8229600" cy="502920"/>
          </a:xfrm>
          <a:prstGeom prst="rect">
            <a:avLst/>
          </a:prstGeom>
          <a:noFill/>
          <a:ln/>
        </p:spPr>
        <p:txBody>
          <a:bodyPr wrap="square" lIns="0" tIns="0" rIns="0" bIns="0" rtlCol="0" anchor="ctr"/>
          <a:lstStyle/>
          <a:p>
            <a:pPr indent="0" marL="0">
              <a:buNone/>
            </a:pPr>
            <a:r>
              <a:rPr lang="en-US" sz="2300" b="1" dirty="0">
                <a:solidFill>
                  <a:srgbClr val="1A1A1A"/>
                </a:solidFill>
                <a:latin typeface="Arial" pitchFamily="34" charset="0"/>
                <a:ea typeface="Arial" pitchFamily="34" charset="-122"/>
                <a:cs typeface="Arial" pitchFamily="34" charset="-120"/>
              </a:rPr>
              <a:t>Framework herbruikbaar, OCR-service gesloten</a:t>
            </a:r>
            <a:endParaRPr lang="en-US" sz="2300" dirty="0"/>
          </a:p>
        </p:txBody>
      </p:sp>
      <p:sp>
        <p:nvSpPr>
          <p:cNvPr id="4" name="Shape 2"/>
          <p:cNvSpPr/>
          <p:nvPr/>
        </p:nvSpPr>
        <p:spPr>
          <a:xfrm>
            <a:off x="457200" y="1325880"/>
            <a:ext cx="4023360" cy="2697480"/>
          </a:xfrm>
          <a:prstGeom prst="roundRect">
            <a:avLst>
              <a:gd name="adj" fmla="val 2034"/>
            </a:avLst>
          </a:prstGeom>
          <a:solidFill>
            <a:srgbClr val="F3F8E9"/>
          </a:solidFill>
          <a:ln w="9525">
            <a:solidFill>
              <a:srgbClr val="E3E3E3"/>
            </a:solidFill>
            <a:prstDash val="solid"/>
          </a:ln>
          <a:effectLst>
            <a:outerShdw sx="100000" sy="100000" kx="0" ky="0" algn="bl" rotWithShape="0" blurRad="76200" dist="25400" dir="2700000">
              <a:srgbClr val="000000">
                <a:alpha val="12000"/>
              </a:srgbClr>
            </a:outerShdw>
          </a:effectLst>
        </p:spPr>
      </p:sp>
      <p:sp>
        <p:nvSpPr>
          <p:cNvPr id="5" name="Text 3"/>
          <p:cNvSpPr/>
          <p:nvPr/>
        </p:nvSpPr>
        <p:spPr>
          <a:xfrm>
            <a:off x="685800" y="1444752"/>
            <a:ext cx="3566160" cy="274320"/>
          </a:xfrm>
          <a:prstGeom prst="rect">
            <a:avLst/>
          </a:prstGeom>
          <a:noFill/>
          <a:ln/>
        </p:spPr>
        <p:txBody>
          <a:bodyPr wrap="square" lIns="0" tIns="0" rIns="0" bIns="0" rtlCol="0" anchor="ctr"/>
          <a:lstStyle/>
          <a:p>
            <a:pPr indent="0" marL="0">
              <a:buNone/>
            </a:pPr>
            <a:r>
              <a:rPr lang="en-US" sz="1350" b="1" dirty="0">
                <a:solidFill>
                  <a:srgbClr val="4C7016"/>
                </a:solidFill>
                <a:latin typeface="Arial" pitchFamily="34" charset="0"/>
                <a:ea typeface="Arial" pitchFamily="34" charset="-122"/>
                <a:cs typeface="Arial" pitchFamily="34" charset="-120"/>
              </a:rPr>
              <a:t>Herbruikbaar</a:t>
            </a:r>
            <a:endParaRPr lang="en-US" sz="1350" dirty="0"/>
          </a:p>
        </p:txBody>
      </p:sp>
      <p:sp>
        <p:nvSpPr>
          <p:cNvPr id="6" name="Shape 4"/>
          <p:cNvSpPr/>
          <p:nvPr/>
        </p:nvSpPr>
        <p:spPr>
          <a:xfrm>
            <a:off x="713232" y="1828800"/>
            <a:ext cx="256032" cy="256032"/>
          </a:xfrm>
          <a:prstGeom prst="ellipse">
            <a:avLst/>
          </a:prstGeom>
          <a:solidFill>
            <a:srgbClr val="86BC25"/>
          </a:solidFill>
          <a:ln w="12700">
            <a:solidFill>
              <a:srgbClr val="86BC25"/>
            </a:solidFill>
            <a:prstDash val="solid"/>
          </a:ln>
        </p:spPr>
      </p:sp>
      <p:sp>
        <p:nvSpPr>
          <p:cNvPr id="7" name="Text 5"/>
          <p:cNvSpPr/>
          <p:nvPr/>
        </p:nvSpPr>
        <p:spPr>
          <a:xfrm>
            <a:off x="676656" y="1810512"/>
            <a:ext cx="329184"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8" name="Text 6"/>
          <p:cNvSpPr/>
          <p:nvPr/>
        </p:nvSpPr>
        <p:spPr>
          <a:xfrm>
            <a:off x="1097280" y="1764792"/>
            <a:ext cx="3246120" cy="512064"/>
          </a:xfrm>
          <a:prstGeom prst="rect">
            <a:avLst/>
          </a:prstGeom>
          <a:noFill/>
          <a:ln/>
        </p:spPr>
        <p:txBody>
          <a:bodyPr wrap="square" lIns="0" tIns="0" rIns="0" bIns="0" rtlCol="0" anchor="ctr"/>
          <a:lstStyle/>
          <a:p>
            <a:pPr indent="0" marL="0">
              <a:buNone/>
            </a:pPr>
            <a:r>
              <a:rPr lang="en-US" sz="1050" dirty="0">
                <a:solidFill>
                  <a:srgbClr val="1A1A1A"/>
                </a:solidFill>
                <a:latin typeface="Arial" pitchFamily="34" charset="0"/>
                <a:ea typeface="Arial" pitchFamily="34" charset="-122"/>
                <a:cs typeface="Arial" pitchFamily="34" charset="-120"/>
              </a:rPr>
              <a:t>Generiek extractieframework (statusmachine, upload, webhook, crons)</a:t>
            </a:r>
            <a:endParaRPr lang="en-US" sz="1050" dirty="0"/>
          </a:p>
        </p:txBody>
      </p:sp>
      <p:sp>
        <p:nvSpPr>
          <p:cNvPr id="9" name="Shape 7"/>
          <p:cNvSpPr/>
          <p:nvPr/>
        </p:nvSpPr>
        <p:spPr>
          <a:xfrm>
            <a:off x="713232" y="2377440"/>
            <a:ext cx="256032" cy="256032"/>
          </a:xfrm>
          <a:prstGeom prst="ellipse">
            <a:avLst/>
          </a:prstGeom>
          <a:solidFill>
            <a:srgbClr val="86BC25"/>
          </a:solidFill>
          <a:ln w="12700">
            <a:solidFill>
              <a:srgbClr val="86BC25"/>
            </a:solidFill>
            <a:prstDash val="solid"/>
          </a:ln>
        </p:spPr>
      </p:sp>
      <p:sp>
        <p:nvSpPr>
          <p:cNvPr id="10" name="Text 8"/>
          <p:cNvSpPr/>
          <p:nvPr/>
        </p:nvSpPr>
        <p:spPr>
          <a:xfrm>
            <a:off x="676656" y="2359152"/>
            <a:ext cx="329184"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11" name="Text 9"/>
          <p:cNvSpPr/>
          <p:nvPr/>
        </p:nvSpPr>
        <p:spPr>
          <a:xfrm>
            <a:off x="1097280" y="2313432"/>
            <a:ext cx="3246120" cy="512064"/>
          </a:xfrm>
          <a:prstGeom prst="rect">
            <a:avLst/>
          </a:prstGeom>
          <a:noFill/>
          <a:ln/>
        </p:spPr>
        <p:txBody>
          <a:bodyPr wrap="square" lIns="0" tIns="0" rIns="0" bIns="0" rtlCol="0" anchor="ctr"/>
          <a:lstStyle/>
          <a:p>
            <a:pPr indent="0" marL="0">
              <a:buNone/>
            </a:pPr>
            <a:r>
              <a:rPr lang="en-US" sz="1050" dirty="0">
                <a:solidFill>
                  <a:srgbClr val="1A1A1A"/>
                </a:solidFill>
                <a:latin typeface="Arial" pitchFamily="34" charset="0"/>
                <a:ea typeface="Arial" pitchFamily="34" charset="-122"/>
                <a:cs typeface="Arial" pitchFamily="34" charset="-120"/>
              </a:rPr>
              <a:t>Native factuur-OCR voor de facturen in de flow</a:t>
            </a:r>
            <a:endParaRPr lang="en-US" sz="1050" dirty="0"/>
          </a:p>
        </p:txBody>
      </p:sp>
      <p:sp>
        <p:nvSpPr>
          <p:cNvPr id="12" name="Shape 10"/>
          <p:cNvSpPr/>
          <p:nvPr/>
        </p:nvSpPr>
        <p:spPr>
          <a:xfrm>
            <a:off x="713232" y="2926080"/>
            <a:ext cx="256032" cy="256032"/>
          </a:xfrm>
          <a:prstGeom prst="ellipse">
            <a:avLst/>
          </a:prstGeom>
          <a:solidFill>
            <a:srgbClr val="86BC25"/>
          </a:solidFill>
          <a:ln w="12700">
            <a:solidFill>
              <a:srgbClr val="86BC25"/>
            </a:solidFill>
            <a:prstDash val="solid"/>
          </a:ln>
        </p:spPr>
      </p:sp>
      <p:sp>
        <p:nvSpPr>
          <p:cNvPr id="13" name="Text 11"/>
          <p:cNvSpPr/>
          <p:nvPr/>
        </p:nvSpPr>
        <p:spPr>
          <a:xfrm>
            <a:off x="676656" y="2907792"/>
            <a:ext cx="329184"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14" name="Text 12"/>
          <p:cNvSpPr/>
          <p:nvPr/>
        </p:nvSpPr>
        <p:spPr>
          <a:xfrm>
            <a:off x="1097280" y="2862072"/>
            <a:ext cx="3246120" cy="512064"/>
          </a:xfrm>
          <a:prstGeom prst="rect">
            <a:avLst/>
          </a:prstGeom>
          <a:noFill/>
          <a:ln/>
        </p:spPr>
        <p:txBody>
          <a:bodyPr wrap="square" lIns="0" tIns="0" rIns="0" bIns="0" rtlCol="0" anchor="ctr"/>
          <a:lstStyle/>
          <a:p>
            <a:pPr indent="0" marL="0">
              <a:buNone/>
            </a:pPr>
            <a:r>
              <a:rPr lang="en-US" sz="1050" dirty="0">
                <a:solidFill>
                  <a:srgbClr val="1A1A1A"/>
                </a:solidFill>
                <a:latin typeface="Arial" pitchFamily="34" charset="0"/>
                <a:ea typeface="Arial" pitchFamily="34" charset="-122"/>
                <a:cs typeface="Arial" pitchFamily="34" charset="-120"/>
              </a:rPr>
              <a:t>VIES-validatie op res.partner</a:t>
            </a:r>
            <a:endParaRPr lang="en-US" sz="1050" dirty="0"/>
          </a:p>
        </p:txBody>
      </p:sp>
      <p:sp>
        <p:nvSpPr>
          <p:cNvPr id="15" name="Shape 13"/>
          <p:cNvSpPr/>
          <p:nvPr/>
        </p:nvSpPr>
        <p:spPr>
          <a:xfrm>
            <a:off x="713232" y="3474720"/>
            <a:ext cx="256032" cy="256032"/>
          </a:xfrm>
          <a:prstGeom prst="ellipse">
            <a:avLst/>
          </a:prstGeom>
          <a:solidFill>
            <a:srgbClr val="86BC25"/>
          </a:solidFill>
          <a:ln w="12700">
            <a:solidFill>
              <a:srgbClr val="86BC25"/>
            </a:solidFill>
            <a:prstDash val="solid"/>
          </a:ln>
        </p:spPr>
      </p:sp>
      <p:sp>
        <p:nvSpPr>
          <p:cNvPr id="16" name="Text 14"/>
          <p:cNvSpPr/>
          <p:nvPr/>
        </p:nvSpPr>
        <p:spPr>
          <a:xfrm>
            <a:off x="676656" y="3456432"/>
            <a:ext cx="329184"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17" name="Text 15"/>
          <p:cNvSpPr/>
          <p:nvPr/>
        </p:nvSpPr>
        <p:spPr>
          <a:xfrm>
            <a:off x="1097280" y="3410712"/>
            <a:ext cx="3246120" cy="512064"/>
          </a:xfrm>
          <a:prstGeom prst="rect">
            <a:avLst/>
          </a:prstGeom>
          <a:noFill/>
          <a:ln/>
        </p:spPr>
        <p:txBody>
          <a:bodyPr wrap="square" lIns="0" tIns="0" rIns="0" bIns="0" rtlCol="0" anchor="ctr"/>
          <a:lstStyle/>
          <a:p>
            <a:pPr indent="0" marL="0">
              <a:buNone/>
            </a:pPr>
            <a:r>
              <a:rPr lang="en-US" sz="1050" dirty="0">
                <a:solidFill>
                  <a:srgbClr val="1A1A1A"/>
                </a:solidFill>
                <a:latin typeface="Arial" pitchFamily="34" charset="0"/>
                <a:ea typeface="Arial" pitchFamily="34" charset="-122"/>
                <a:cs typeface="Arial" pitchFamily="34" charset="-120"/>
              </a:rPr>
              <a:t>Nieuw generiek AI-framework in Odoo 19 (classificatie en velden)</a:t>
            </a:r>
            <a:endParaRPr lang="en-US" sz="1050" dirty="0"/>
          </a:p>
        </p:txBody>
      </p:sp>
      <p:sp>
        <p:nvSpPr>
          <p:cNvPr id="18" name="Shape 16"/>
          <p:cNvSpPr/>
          <p:nvPr/>
        </p:nvSpPr>
        <p:spPr>
          <a:xfrm>
            <a:off x="4709160" y="1325880"/>
            <a:ext cx="3977640" cy="2697480"/>
          </a:xfrm>
          <a:prstGeom prst="roundRect">
            <a:avLst>
              <a:gd name="adj" fmla="val 2034"/>
            </a:avLst>
          </a:prstGeom>
          <a:solidFill>
            <a:srgbClr val="F5F5F5"/>
          </a:solidFill>
          <a:ln w="9525">
            <a:solidFill>
              <a:srgbClr val="E3E3E3"/>
            </a:solidFill>
            <a:prstDash val="solid"/>
          </a:ln>
          <a:effectLst>
            <a:outerShdw sx="100000" sy="100000" kx="0" ky="0" algn="bl" rotWithShape="0" blurRad="76200" dist="25400" dir="2700000">
              <a:srgbClr val="000000">
                <a:alpha val="12000"/>
              </a:srgbClr>
            </a:outerShdw>
          </a:effectLst>
        </p:spPr>
      </p:sp>
      <p:sp>
        <p:nvSpPr>
          <p:cNvPr id="19" name="Text 17"/>
          <p:cNvSpPr/>
          <p:nvPr/>
        </p:nvSpPr>
        <p:spPr>
          <a:xfrm>
            <a:off x="4937760" y="1444752"/>
            <a:ext cx="3566160" cy="274320"/>
          </a:xfrm>
          <a:prstGeom prst="rect">
            <a:avLst/>
          </a:prstGeom>
          <a:noFill/>
          <a:ln/>
        </p:spPr>
        <p:txBody>
          <a:bodyPr wrap="square" lIns="0" tIns="0" rIns="0" bIns="0" rtlCol="0" anchor="ctr"/>
          <a:lstStyle/>
          <a:p>
            <a:pPr indent="0" marL="0">
              <a:buNone/>
            </a:pPr>
            <a:r>
              <a:rPr lang="en-US" sz="1350" b="1" dirty="0">
                <a:solidFill>
                  <a:srgbClr val="8A8A8A"/>
                </a:solidFill>
                <a:latin typeface="Arial" pitchFamily="34" charset="0"/>
                <a:ea typeface="Arial" pitchFamily="34" charset="-122"/>
                <a:cs typeface="Arial" pitchFamily="34" charset="-120"/>
              </a:rPr>
              <a:t>Niet herbruikbaar</a:t>
            </a:r>
            <a:endParaRPr lang="en-US" sz="1350" dirty="0"/>
          </a:p>
        </p:txBody>
      </p:sp>
      <p:sp>
        <p:nvSpPr>
          <p:cNvPr id="20" name="Shape 18"/>
          <p:cNvSpPr/>
          <p:nvPr/>
        </p:nvSpPr>
        <p:spPr>
          <a:xfrm>
            <a:off x="4965192" y="1828800"/>
            <a:ext cx="256032" cy="256032"/>
          </a:xfrm>
          <a:prstGeom prst="ellipse">
            <a:avLst/>
          </a:prstGeom>
          <a:solidFill>
            <a:srgbClr val="B9B9B9"/>
          </a:solidFill>
          <a:ln w="12700">
            <a:solidFill>
              <a:srgbClr val="B9B9B9"/>
            </a:solidFill>
            <a:prstDash val="solid"/>
          </a:ln>
        </p:spPr>
      </p:sp>
      <p:sp>
        <p:nvSpPr>
          <p:cNvPr id="21" name="Text 19"/>
          <p:cNvSpPr/>
          <p:nvPr/>
        </p:nvSpPr>
        <p:spPr>
          <a:xfrm>
            <a:off x="4928616" y="1810512"/>
            <a:ext cx="329184"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22" name="Text 20"/>
          <p:cNvSpPr/>
          <p:nvPr/>
        </p:nvSpPr>
        <p:spPr>
          <a:xfrm>
            <a:off x="5349240" y="1764792"/>
            <a:ext cx="3200400" cy="676656"/>
          </a:xfrm>
          <a:prstGeom prst="rect">
            <a:avLst/>
          </a:prstGeom>
          <a:noFill/>
          <a:ln/>
        </p:spPr>
        <p:txBody>
          <a:bodyPr wrap="square" lIns="0" tIns="0" rIns="0" bIns="0" rtlCol="0" anchor="ctr"/>
          <a:lstStyle/>
          <a:p>
            <a:pPr indent="0" marL="0">
              <a:buNone/>
            </a:pPr>
            <a:r>
              <a:rPr lang="en-US" sz="1050" dirty="0">
                <a:solidFill>
                  <a:srgbClr val="1A1A1A"/>
                </a:solidFill>
                <a:latin typeface="Arial" pitchFamily="34" charset="0"/>
                <a:ea typeface="Arial" pitchFamily="34" charset="-122"/>
                <a:cs typeface="Arial" pitchFamily="34" charset="-120"/>
              </a:rPr>
              <a:t>Vast veldenschema: 4 documenttypes, geen douanevelden (commodity code, gewicht, oorsprong)</a:t>
            </a:r>
            <a:endParaRPr lang="en-US" sz="1050" dirty="0"/>
          </a:p>
        </p:txBody>
      </p:sp>
      <p:sp>
        <p:nvSpPr>
          <p:cNvPr id="23" name="Shape 21"/>
          <p:cNvSpPr/>
          <p:nvPr/>
        </p:nvSpPr>
        <p:spPr>
          <a:xfrm>
            <a:off x="4965192" y="2542032"/>
            <a:ext cx="256032" cy="256032"/>
          </a:xfrm>
          <a:prstGeom prst="ellipse">
            <a:avLst/>
          </a:prstGeom>
          <a:solidFill>
            <a:srgbClr val="B9B9B9"/>
          </a:solidFill>
          <a:ln w="12700">
            <a:solidFill>
              <a:srgbClr val="B9B9B9"/>
            </a:solidFill>
            <a:prstDash val="solid"/>
          </a:ln>
        </p:spPr>
      </p:sp>
      <p:sp>
        <p:nvSpPr>
          <p:cNvPr id="24" name="Text 22"/>
          <p:cNvSpPr/>
          <p:nvPr/>
        </p:nvSpPr>
        <p:spPr>
          <a:xfrm>
            <a:off x="4928616" y="2523744"/>
            <a:ext cx="329184"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25" name="Text 23"/>
          <p:cNvSpPr/>
          <p:nvPr/>
        </p:nvSpPr>
        <p:spPr>
          <a:xfrm>
            <a:off x="5349240" y="2478024"/>
            <a:ext cx="3200400" cy="676656"/>
          </a:xfrm>
          <a:prstGeom prst="rect">
            <a:avLst/>
          </a:prstGeom>
          <a:noFill/>
          <a:ln/>
        </p:spPr>
        <p:txBody>
          <a:bodyPr wrap="square" lIns="0" tIns="0" rIns="0" bIns="0" rtlCol="0" anchor="ctr"/>
          <a:lstStyle/>
          <a:p>
            <a:pPr indent="0" marL="0">
              <a:buNone/>
            </a:pPr>
            <a:r>
              <a:rPr lang="en-US" sz="1050" dirty="0">
                <a:solidFill>
                  <a:srgbClr val="1A1A1A"/>
                </a:solidFill>
                <a:latin typeface="Arial" pitchFamily="34" charset="0"/>
                <a:ea typeface="Arial" pitchFamily="34" charset="-122"/>
                <a:cs typeface="Arial" pitchFamily="34" charset="-120"/>
              </a:rPr>
              <a:t>Geen custom velden toevoegbaar aan de OCR-service</a:t>
            </a:r>
            <a:endParaRPr lang="en-US" sz="1050" dirty="0"/>
          </a:p>
        </p:txBody>
      </p:sp>
      <p:sp>
        <p:nvSpPr>
          <p:cNvPr id="26" name="Shape 24"/>
          <p:cNvSpPr/>
          <p:nvPr/>
        </p:nvSpPr>
        <p:spPr>
          <a:xfrm>
            <a:off x="4965192" y="3255264"/>
            <a:ext cx="256032" cy="256032"/>
          </a:xfrm>
          <a:prstGeom prst="ellipse">
            <a:avLst/>
          </a:prstGeom>
          <a:solidFill>
            <a:srgbClr val="B9B9B9"/>
          </a:solidFill>
          <a:ln w="12700">
            <a:solidFill>
              <a:srgbClr val="B9B9B9"/>
            </a:solidFill>
            <a:prstDash val="solid"/>
          </a:ln>
        </p:spPr>
      </p:sp>
      <p:sp>
        <p:nvSpPr>
          <p:cNvPr id="27" name="Text 25"/>
          <p:cNvSpPr/>
          <p:nvPr/>
        </p:nvSpPr>
        <p:spPr>
          <a:xfrm>
            <a:off x="4928616" y="3236976"/>
            <a:ext cx="329184"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28" name="Text 26"/>
          <p:cNvSpPr/>
          <p:nvPr/>
        </p:nvSpPr>
        <p:spPr>
          <a:xfrm>
            <a:off x="5349240" y="3191256"/>
            <a:ext cx="3200400" cy="676656"/>
          </a:xfrm>
          <a:prstGeom prst="rect">
            <a:avLst/>
          </a:prstGeom>
          <a:noFill/>
          <a:ln/>
        </p:spPr>
        <p:txBody>
          <a:bodyPr wrap="square" lIns="0" tIns="0" rIns="0" bIns="0" rtlCol="0" anchor="ctr"/>
          <a:lstStyle/>
          <a:p>
            <a:pPr indent="0" marL="0">
              <a:buNone/>
            </a:pPr>
            <a:r>
              <a:rPr lang="en-US" sz="1050" dirty="0">
                <a:solidFill>
                  <a:srgbClr val="1A1A1A"/>
                </a:solidFill>
                <a:latin typeface="Arial" pitchFamily="34" charset="0"/>
                <a:ea typeface="Arial" pitchFamily="34" charset="-122"/>
                <a:cs typeface="Arial" pitchFamily="34" charset="-120"/>
              </a:rPr>
              <a:t>Layout-learning is server-side, gesloten en factuurspecifiek</a:t>
            </a:r>
            <a:endParaRPr lang="en-US" sz="1050" dirty="0"/>
          </a:p>
        </p:txBody>
      </p:sp>
      <p:sp>
        <p:nvSpPr>
          <p:cNvPr id="29" name="Shape 27"/>
          <p:cNvSpPr/>
          <p:nvPr/>
        </p:nvSpPr>
        <p:spPr>
          <a:xfrm>
            <a:off x="457200" y="4160520"/>
            <a:ext cx="8229600" cy="566928"/>
          </a:xfrm>
          <a:prstGeom prst="roundRect">
            <a:avLst>
              <a:gd name="adj" fmla="val 9677"/>
            </a:avLst>
          </a:prstGeom>
          <a:solidFill>
            <a:srgbClr val="141414"/>
          </a:solidFill>
          <a:ln w="9525">
            <a:solidFill>
              <a:srgbClr val="E3E3E3"/>
            </a:solidFill>
            <a:prstDash val="solid"/>
          </a:ln>
          <a:effectLst>
            <a:outerShdw sx="100000" sy="100000" kx="0" ky="0" algn="bl" rotWithShape="0" blurRad="76200" dist="25400" dir="2700000">
              <a:srgbClr val="000000">
                <a:alpha val="12000"/>
              </a:srgbClr>
            </a:outerShdw>
          </a:effectLst>
        </p:spPr>
      </p:sp>
      <p:sp>
        <p:nvSpPr>
          <p:cNvPr id="30" name="Text 28"/>
          <p:cNvSpPr/>
          <p:nvPr/>
        </p:nvSpPr>
        <p:spPr>
          <a:xfrm>
            <a:off x="731520" y="4224528"/>
            <a:ext cx="7680960"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Conclusie uit de code-inspectie: </a:t>
            </a:r>
            <a:pPr algn="ctr" indent="0" marL="0">
              <a:buNone/>
            </a:pPr>
            <a:r>
              <a:rPr lang="en-US" sz="1300" b="1" dirty="0">
                <a:solidFill>
                  <a:srgbClr val="86BC25"/>
                </a:solidFill>
                <a:latin typeface="Arial" pitchFamily="34" charset="0"/>
                <a:ea typeface="Arial" pitchFamily="34" charset="-122"/>
                <a:cs typeface="Arial" pitchFamily="34" charset="-120"/>
              </a:rPr>
              <a:t>gedeeltelijk herbruikbaar</a:t>
            </a:r>
            <a:pPr algn="ctr" indent="0" marL="0">
              <a:buNone/>
            </a:pPr>
            <a:r>
              <a:rPr lang="en-US" sz="1300" dirty="0">
                <a:solidFill>
                  <a:srgbClr val="CFCFCF"/>
                </a:solidFill>
                <a:latin typeface="Arial" pitchFamily="34" charset="0"/>
                <a:ea typeface="Arial" pitchFamily="34" charset="-122"/>
                <a:cs typeface="Arial" pitchFamily="34" charset="-120"/>
              </a:rPr>
              <a:t>, met bestandsreferenties in het rapport</a:t>
            </a:r>
            <a:endParaRPr lang="en-US" sz="1300" dirty="0"/>
          </a:p>
        </p:txBody>
      </p:sp>
      <p:sp>
        <p:nvSpPr>
          <p:cNvPr id="31" name="Text 29"/>
          <p:cNvSpPr/>
          <p:nvPr/>
        </p:nvSpPr>
        <p:spPr>
          <a:xfrm>
            <a:off x="457200" y="4864608"/>
            <a:ext cx="3200400" cy="228600"/>
          </a:xfrm>
          <a:prstGeom prst="rect">
            <a:avLst/>
          </a:prstGeom>
          <a:noFill/>
          <a:ln/>
        </p:spPr>
        <p:txBody>
          <a:bodyPr wrap="square" lIns="0" tIns="0" rIns="0" bIns="0" rtlCol="0" anchor="ctr"/>
          <a:lstStyle/>
          <a:p>
            <a:pPr indent="0" marL="0">
              <a:buNone/>
            </a:pPr>
            <a:r>
              <a:rPr lang="en-US" sz="850" dirty="0">
                <a:solidFill>
                  <a:srgbClr val="9A9A9A"/>
                </a:solidFill>
                <a:latin typeface="Arial" pitchFamily="34" charset="0"/>
                <a:ea typeface="Arial" pitchFamily="34" charset="-122"/>
                <a:cs typeface="Arial" pitchFamily="34" charset="-120"/>
              </a:rPr>
              <a:t>Deloitte | Intern werkdocument</a:t>
            </a:r>
            <a:endParaRPr lang="en-US" sz="850" dirty="0"/>
          </a:p>
        </p:txBody>
      </p:sp>
      <p:sp>
        <p:nvSpPr>
          <p:cNvPr id="32" name="Text 30"/>
          <p:cNvSpPr/>
          <p:nvPr/>
        </p:nvSpPr>
        <p:spPr>
          <a:xfrm>
            <a:off x="8503920" y="4864608"/>
            <a:ext cx="274320" cy="228600"/>
          </a:xfrm>
          <a:prstGeom prst="rect">
            <a:avLst/>
          </a:prstGeom>
          <a:noFill/>
          <a:ln/>
        </p:spPr>
        <p:txBody>
          <a:bodyPr wrap="square" lIns="0" tIns="0" rIns="0" bIns="0" rtlCol="0" anchor="ctr"/>
          <a:lstStyle/>
          <a:p>
            <a:pPr algn="r" indent="0" marL="0">
              <a:buNone/>
            </a:pPr>
            <a:r>
              <a:rPr lang="en-US" sz="850" dirty="0">
                <a:solidFill>
                  <a:srgbClr val="9A9A9A"/>
                </a:solidFill>
                <a:latin typeface="Arial" pitchFamily="34" charset="0"/>
                <a:ea typeface="Arial" pitchFamily="34" charset="-122"/>
                <a:cs typeface="Arial" pitchFamily="34" charset="-120"/>
              </a:rPr>
              <a:t>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237744"/>
          </a:xfrm>
          <a:prstGeom prst="rect">
            <a:avLst/>
          </a:prstGeom>
          <a:noFill/>
          <a:ln/>
        </p:spPr>
        <p:txBody>
          <a:bodyPr wrap="square" lIns="0" tIns="0" rIns="0" bIns="0" rtlCol="0" anchor="ctr"/>
          <a:lstStyle/>
          <a:p>
            <a:pPr indent="0" marL="0">
              <a:buNone/>
            </a:pPr>
            <a:r>
              <a:rPr lang="en-US" sz="1050" b="1" spc="300" kern="0" dirty="0">
                <a:solidFill>
                  <a:srgbClr val="4C7016"/>
                </a:solidFill>
                <a:latin typeface="Arial" pitchFamily="34" charset="0"/>
                <a:ea typeface="Arial" pitchFamily="34" charset="-122"/>
                <a:cs typeface="Arial" pitchFamily="34" charset="-120"/>
              </a:rPr>
              <a:t>AANBEVELING</a:t>
            </a:r>
            <a:endParaRPr lang="en-US" sz="1050" dirty="0"/>
          </a:p>
        </p:txBody>
      </p:sp>
      <p:sp>
        <p:nvSpPr>
          <p:cNvPr id="3" name="Text 1"/>
          <p:cNvSpPr/>
          <p:nvPr/>
        </p:nvSpPr>
        <p:spPr>
          <a:xfrm>
            <a:off x="457200" y="530352"/>
            <a:ext cx="8229600" cy="502920"/>
          </a:xfrm>
          <a:prstGeom prst="rect">
            <a:avLst/>
          </a:prstGeom>
          <a:noFill/>
          <a:ln/>
        </p:spPr>
        <p:txBody>
          <a:bodyPr wrap="square" lIns="0" tIns="0" rIns="0" bIns="0" rtlCol="0" anchor="ctr"/>
          <a:lstStyle/>
          <a:p>
            <a:pPr indent="0" marL="0">
              <a:buNone/>
            </a:pPr>
            <a:r>
              <a:rPr lang="en-US" sz="2300" b="1" dirty="0">
                <a:solidFill>
                  <a:srgbClr val="1A1A1A"/>
                </a:solidFill>
                <a:latin typeface="Arial" pitchFamily="34" charset="0"/>
                <a:ea typeface="Arial" pitchFamily="34" charset="-122"/>
                <a:cs typeface="Arial" pitchFamily="34" charset="-120"/>
              </a:rPr>
              <a:t>Hybride architectuur, verwisselbare extractie-engine</a:t>
            </a:r>
            <a:endParaRPr lang="en-US" sz="2300" dirty="0"/>
          </a:p>
        </p:txBody>
      </p:sp>
      <p:sp>
        <p:nvSpPr>
          <p:cNvPr id="4" name="Shape 2"/>
          <p:cNvSpPr/>
          <p:nvPr/>
        </p:nvSpPr>
        <p:spPr>
          <a:xfrm>
            <a:off x="457200" y="1325880"/>
            <a:ext cx="8229600" cy="694944"/>
          </a:xfrm>
          <a:prstGeom prst="roundRect">
            <a:avLst>
              <a:gd name="adj" fmla="val 7895"/>
            </a:avLst>
          </a:prstGeom>
          <a:solidFill>
            <a:srgbClr val="F5F5F5"/>
          </a:solidFill>
          <a:ln w="9525">
            <a:solidFill>
              <a:srgbClr val="E3E3E3"/>
            </a:solidFill>
            <a:prstDash val="solid"/>
          </a:ln>
          <a:effectLst>
            <a:outerShdw sx="100000" sy="100000" kx="0" ky="0" algn="bl" rotWithShape="0" blurRad="76200" dist="25400" dir="2700000">
              <a:srgbClr val="000000">
                <a:alpha val="12000"/>
              </a:srgbClr>
            </a:outerShdw>
          </a:effectLst>
        </p:spPr>
      </p:sp>
      <p:sp>
        <p:nvSpPr>
          <p:cNvPr id="5" name="Text 3"/>
          <p:cNvSpPr/>
          <p:nvPr/>
        </p:nvSpPr>
        <p:spPr>
          <a:xfrm>
            <a:off x="731520" y="1408176"/>
            <a:ext cx="3291840" cy="548640"/>
          </a:xfrm>
          <a:prstGeom prst="rect">
            <a:avLst/>
          </a:prstGeom>
          <a:noFill/>
          <a:ln/>
        </p:spPr>
        <p:txBody>
          <a:bodyPr wrap="square" lIns="0" tIns="0" rIns="0" bIns="0" rtlCol="0" anchor="ctr"/>
          <a:lstStyle/>
          <a:p>
            <a:pPr indent="0" marL="0">
              <a:buNone/>
            </a:pPr>
            <a:r>
              <a:rPr lang="en-US" sz="1250" b="1" dirty="0">
                <a:solidFill>
                  <a:srgbClr val="1A1A1A"/>
                </a:solidFill>
                <a:latin typeface="Arial" pitchFamily="34" charset="0"/>
                <a:ea typeface="Arial" pitchFamily="34" charset="-122"/>
                <a:cs typeface="Arial" pitchFamily="34" charset="-120"/>
              </a:rPr>
              <a:t>Gebruikers en proces</a:t>
            </a:r>
            <a:endParaRPr lang="en-US" sz="1250" dirty="0"/>
          </a:p>
        </p:txBody>
      </p:sp>
      <p:sp>
        <p:nvSpPr>
          <p:cNvPr id="6" name="Text 4"/>
          <p:cNvSpPr/>
          <p:nvPr/>
        </p:nvSpPr>
        <p:spPr>
          <a:xfrm>
            <a:off x="4114800" y="1408176"/>
            <a:ext cx="4389120" cy="548640"/>
          </a:xfrm>
          <a:prstGeom prst="rect">
            <a:avLst/>
          </a:prstGeom>
          <a:noFill/>
          <a:ln/>
        </p:spPr>
        <p:txBody>
          <a:bodyPr wrap="square" lIns="0" tIns="0" rIns="0" bIns="0" rtlCol="0" anchor="ctr"/>
          <a:lstStyle/>
          <a:p>
            <a:pPr indent="0" marL="0">
              <a:buNone/>
            </a:pPr>
            <a:r>
              <a:rPr lang="en-US" sz="1050" dirty="0">
                <a:solidFill>
                  <a:srgbClr val="5B5B5B"/>
                </a:solidFill>
                <a:latin typeface="Arial" pitchFamily="34" charset="0"/>
                <a:ea typeface="Arial" pitchFamily="34" charset="-122"/>
                <a:cs typeface="Arial" pitchFamily="34" charset="-120"/>
              </a:rPr>
              <a:t>Upload, review, validatie, generatie; rollen en audit trail</a:t>
            </a:r>
            <a:endParaRPr lang="en-US" sz="1050" dirty="0"/>
          </a:p>
        </p:txBody>
      </p:sp>
      <p:sp>
        <p:nvSpPr>
          <p:cNvPr id="7" name="Shape 5"/>
          <p:cNvSpPr/>
          <p:nvPr/>
        </p:nvSpPr>
        <p:spPr>
          <a:xfrm>
            <a:off x="457200" y="2130552"/>
            <a:ext cx="8229600" cy="694944"/>
          </a:xfrm>
          <a:prstGeom prst="roundRect">
            <a:avLst>
              <a:gd name="adj" fmla="val 7895"/>
            </a:avLst>
          </a:prstGeom>
          <a:solidFill>
            <a:srgbClr val="F3F8E9"/>
          </a:solidFill>
          <a:ln w="9525">
            <a:solidFill>
              <a:srgbClr val="E3E3E3"/>
            </a:solidFill>
            <a:prstDash val="solid"/>
          </a:ln>
          <a:effectLst>
            <a:outerShdw sx="100000" sy="100000" kx="0" ky="0" algn="bl" rotWithShape="0" blurRad="76200" dist="25400" dir="2700000">
              <a:srgbClr val="000000">
                <a:alpha val="12000"/>
              </a:srgbClr>
            </a:outerShdw>
          </a:effectLst>
        </p:spPr>
      </p:sp>
      <p:sp>
        <p:nvSpPr>
          <p:cNvPr id="8" name="Text 6"/>
          <p:cNvSpPr/>
          <p:nvPr/>
        </p:nvSpPr>
        <p:spPr>
          <a:xfrm>
            <a:off x="731520" y="2212848"/>
            <a:ext cx="3291840" cy="548640"/>
          </a:xfrm>
          <a:prstGeom prst="rect">
            <a:avLst/>
          </a:prstGeom>
          <a:noFill/>
          <a:ln/>
        </p:spPr>
        <p:txBody>
          <a:bodyPr wrap="square" lIns="0" tIns="0" rIns="0" bIns="0" rtlCol="0" anchor="ctr"/>
          <a:lstStyle/>
          <a:p>
            <a:pPr indent="0" marL="0">
              <a:buNone/>
            </a:pPr>
            <a:r>
              <a:rPr lang="en-US" sz="1250" b="1" dirty="0">
                <a:solidFill>
                  <a:srgbClr val="1A1A1A"/>
                </a:solidFill>
                <a:latin typeface="Arial" pitchFamily="34" charset="0"/>
                <a:ea typeface="Arial" pitchFamily="34" charset="-122"/>
                <a:cs typeface="Arial" pitchFamily="34" charset="-120"/>
              </a:rPr>
              <a:t>Custom module: system of record</a:t>
            </a:r>
            <a:endParaRPr lang="en-US" sz="1250" dirty="0"/>
          </a:p>
        </p:txBody>
      </p:sp>
      <p:sp>
        <p:nvSpPr>
          <p:cNvPr id="9" name="Text 7"/>
          <p:cNvSpPr/>
          <p:nvPr/>
        </p:nvSpPr>
        <p:spPr>
          <a:xfrm>
            <a:off x="4114800" y="2212848"/>
            <a:ext cx="4389120" cy="548640"/>
          </a:xfrm>
          <a:prstGeom prst="rect">
            <a:avLst/>
          </a:prstGeom>
          <a:noFill/>
          <a:ln/>
        </p:spPr>
        <p:txBody>
          <a:bodyPr wrap="square" lIns="0" tIns="0" rIns="0" bIns="0" rtlCol="0" anchor="ctr"/>
          <a:lstStyle/>
          <a:p>
            <a:pPr indent="0" marL="0">
              <a:buNone/>
            </a:pPr>
            <a:r>
              <a:rPr lang="en-US" sz="1050" dirty="0">
                <a:solidFill>
                  <a:srgbClr val="5B5B5B"/>
                </a:solidFill>
                <a:latin typeface="Arial" pitchFamily="34" charset="0"/>
                <a:ea typeface="Arial" pitchFamily="34" charset="-122"/>
                <a:cs typeface="Arial" pitchFamily="34" charset="-120"/>
              </a:rPr>
              <a:t>Entry/Exit-documenten, extracties, mapping-templates, checks, PDF-rapporten</a:t>
            </a:r>
            <a:endParaRPr lang="en-US" sz="1050" dirty="0"/>
          </a:p>
        </p:txBody>
      </p:sp>
      <p:sp>
        <p:nvSpPr>
          <p:cNvPr id="10" name="Shape 8"/>
          <p:cNvSpPr/>
          <p:nvPr/>
        </p:nvSpPr>
        <p:spPr>
          <a:xfrm>
            <a:off x="457200" y="2935224"/>
            <a:ext cx="8229600" cy="694944"/>
          </a:xfrm>
          <a:prstGeom prst="roundRect">
            <a:avLst>
              <a:gd name="adj" fmla="val 7895"/>
            </a:avLst>
          </a:prstGeom>
          <a:solidFill>
            <a:srgbClr val="F5F5F5"/>
          </a:solidFill>
          <a:ln w="9525">
            <a:solidFill>
              <a:srgbClr val="E3E3E3"/>
            </a:solidFill>
            <a:prstDash val="solid"/>
          </a:ln>
          <a:effectLst>
            <a:outerShdw sx="100000" sy="100000" kx="0" ky="0" algn="bl" rotWithShape="0" blurRad="76200" dist="25400" dir="2700000">
              <a:srgbClr val="000000">
                <a:alpha val="12000"/>
              </a:srgbClr>
            </a:outerShdw>
          </a:effectLst>
        </p:spPr>
      </p:sp>
      <p:sp>
        <p:nvSpPr>
          <p:cNvPr id="11" name="Text 9"/>
          <p:cNvSpPr/>
          <p:nvPr/>
        </p:nvSpPr>
        <p:spPr>
          <a:xfrm>
            <a:off x="731520" y="3017520"/>
            <a:ext cx="3291840" cy="548640"/>
          </a:xfrm>
          <a:prstGeom prst="rect">
            <a:avLst/>
          </a:prstGeom>
          <a:noFill/>
          <a:ln/>
        </p:spPr>
        <p:txBody>
          <a:bodyPr wrap="square" lIns="0" tIns="0" rIns="0" bIns="0" rtlCol="0" anchor="ctr"/>
          <a:lstStyle/>
          <a:p>
            <a:pPr indent="0" marL="0">
              <a:buNone/>
            </a:pPr>
            <a:r>
              <a:rPr lang="en-US" sz="1250" b="1" dirty="0">
                <a:solidFill>
                  <a:srgbClr val="1A1A1A"/>
                </a:solidFill>
                <a:latin typeface="Arial" pitchFamily="34" charset="0"/>
                <a:ea typeface="Arial" pitchFamily="34" charset="-122"/>
                <a:cs typeface="Arial" pitchFamily="34" charset="-120"/>
              </a:rPr>
              <a:t>Engine-interface</a:t>
            </a:r>
            <a:endParaRPr lang="en-US" sz="1250" dirty="0"/>
          </a:p>
        </p:txBody>
      </p:sp>
      <p:sp>
        <p:nvSpPr>
          <p:cNvPr id="12" name="Text 10"/>
          <p:cNvSpPr/>
          <p:nvPr/>
        </p:nvSpPr>
        <p:spPr>
          <a:xfrm>
            <a:off x="4114800" y="3017520"/>
            <a:ext cx="4389120" cy="548640"/>
          </a:xfrm>
          <a:prstGeom prst="rect">
            <a:avLst/>
          </a:prstGeom>
          <a:noFill/>
          <a:ln/>
        </p:spPr>
        <p:txBody>
          <a:bodyPr wrap="square" lIns="0" tIns="0" rIns="0" bIns="0" rtlCol="0" anchor="ctr"/>
          <a:lstStyle/>
          <a:p>
            <a:pPr indent="0" marL="0">
              <a:buNone/>
            </a:pPr>
            <a:r>
              <a:rPr lang="en-US" sz="1050" dirty="0">
                <a:solidFill>
                  <a:srgbClr val="5B5B5B"/>
                </a:solidFill>
                <a:latin typeface="Arial" pitchFamily="34" charset="0"/>
                <a:ea typeface="Arial" pitchFamily="34" charset="-122"/>
                <a:cs typeface="Arial" pitchFamily="34" charset="-120"/>
              </a:rPr>
              <a:t>Eén intern contract; engine per documenttype configureerbaar</a:t>
            </a:r>
            <a:endParaRPr lang="en-US" sz="1050" dirty="0"/>
          </a:p>
        </p:txBody>
      </p:sp>
      <p:sp>
        <p:nvSpPr>
          <p:cNvPr id="13" name="Shape 11"/>
          <p:cNvSpPr/>
          <p:nvPr/>
        </p:nvSpPr>
        <p:spPr>
          <a:xfrm>
            <a:off x="457200" y="3840480"/>
            <a:ext cx="1920240" cy="868680"/>
          </a:xfrm>
          <a:prstGeom prst="roundRect">
            <a:avLst>
              <a:gd name="adj" fmla="val 6316"/>
            </a:avLst>
          </a:prstGeom>
          <a:solidFill>
            <a:srgbClr val="FFFFFF"/>
          </a:solidFill>
          <a:ln w="9525">
            <a:solidFill>
              <a:srgbClr val="E3E3E3"/>
            </a:solidFill>
            <a:prstDash val="solid"/>
          </a:ln>
          <a:effectLst>
            <a:outerShdw sx="100000" sy="100000" kx="0" ky="0" algn="bl" rotWithShape="0" blurRad="76200" dist="25400" dir="2700000">
              <a:srgbClr val="000000">
                <a:alpha val="12000"/>
              </a:srgbClr>
            </a:outerShdw>
          </a:effectLst>
        </p:spPr>
      </p:sp>
      <p:sp>
        <p:nvSpPr>
          <p:cNvPr id="14" name="Text 12"/>
          <p:cNvSpPr/>
          <p:nvPr/>
        </p:nvSpPr>
        <p:spPr>
          <a:xfrm>
            <a:off x="566928" y="3931920"/>
            <a:ext cx="1700784" cy="384048"/>
          </a:xfrm>
          <a:prstGeom prst="rect">
            <a:avLst/>
          </a:prstGeom>
          <a:noFill/>
          <a:ln/>
        </p:spPr>
        <p:txBody>
          <a:bodyPr wrap="square" lIns="0" tIns="0" rIns="0" bIns="0" rtlCol="0" anchor="t"/>
          <a:lstStyle/>
          <a:p>
            <a:pPr indent="0" marL="0">
              <a:buNone/>
            </a:pPr>
            <a:r>
              <a:rPr lang="en-US" sz="1000" b="1" dirty="0">
                <a:solidFill>
                  <a:srgbClr val="4C7016"/>
                </a:solidFill>
                <a:latin typeface="Arial" pitchFamily="34" charset="0"/>
                <a:ea typeface="Arial" pitchFamily="34" charset="-122"/>
                <a:cs typeface="Arial" pitchFamily="34" charset="-120"/>
              </a:rPr>
              <a:t>Native invoice OCR</a:t>
            </a:r>
            <a:endParaRPr lang="en-US" sz="1000" dirty="0"/>
          </a:p>
        </p:txBody>
      </p:sp>
      <p:sp>
        <p:nvSpPr>
          <p:cNvPr id="15" name="Text 13"/>
          <p:cNvSpPr/>
          <p:nvPr/>
        </p:nvSpPr>
        <p:spPr>
          <a:xfrm>
            <a:off x="566928" y="4334256"/>
            <a:ext cx="1700784" cy="274320"/>
          </a:xfrm>
          <a:prstGeom prst="rect">
            <a:avLst/>
          </a:prstGeom>
          <a:noFill/>
          <a:ln/>
        </p:spPr>
        <p:txBody>
          <a:bodyPr wrap="square" lIns="0" tIns="0" rIns="0" bIns="0" rtlCol="0" anchor="ctr"/>
          <a:lstStyle/>
          <a:p>
            <a:pPr indent="0" marL="0">
              <a:buNone/>
            </a:pPr>
            <a:r>
              <a:rPr lang="en-US" sz="900" dirty="0">
                <a:solidFill>
                  <a:srgbClr val="5B5B5B"/>
                </a:solidFill>
                <a:latin typeface="Arial" pitchFamily="34" charset="0"/>
                <a:ea typeface="Arial" pitchFamily="34" charset="-122"/>
                <a:cs typeface="Arial" pitchFamily="34" charset="-120"/>
              </a:rPr>
              <a:t>facturen</a:t>
            </a:r>
            <a:endParaRPr lang="en-US" sz="900" dirty="0"/>
          </a:p>
        </p:txBody>
      </p:sp>
      <p:sp>
        <p:nvSpPr>
          <p:cNvPr id="16" name="Shape 14"/>
          <p:cNvSpPr/>
          <p:nvPr/>
        </p:nvSpPr>
        <p:spPr>
          <a:xfrm>
            <a:off x="2560320" y="3840480"/>
            <a:ext cx="1920240" cy="868680"/>
          </a:xfrm>
          <a:prstGeom prst="roundRect">
            <a:avLst>
              <a:gd name="adj" fmla="val 6316"/>
            </a:avLst>
          </a:prstGeom>
          <a:solidFill>
            <a:srgbClr val="FFFFFF"/>
          </a:solidFill>
          <a:ln w="9525">
            <a:solidFill>
              <a:srgbClr val="E3E3E3"/>
            </a:solidFill>
            <a:prstDash val="solid"/>
          </a:ln>
          <a:effectLst>
            <a:outerShdw sx="100000" sy="100000" kx="0" ky="0" algn="bl" rotWithShape="0" blurRad="76200" dist="25400" dir="2700000">
              <a:srgbClr val="000000">
                <a:alpha val="12000"/>
              </a:srgbClr>
            </a:outerShdw>
          </a:effectLst>
        </p:spPr>
      </p:sp>
      <p:sp>
        <p:nvSpPr>
          <p:cNvPr id="17" name="Text 15"/>
          <p:cNvSpPr/>
          <p:nvPr/>
        </p:nvSpPr>
        <p:spPr>
          <a:xfrm>
            <a:off x="2670048" y="3931920"/>
            <a:ext cx="1700784" cy="384048"/>
          </a:xfrm>
          <a:prstGeom prst="rect">
            <a:avLst/>
          </a:prstGeom>
          <a:noFill/>
          <a:ln/>
        </p:spPr>
        <p:txBody>
          <a:bodyPr wrap="square" lIns="0" tIns="0" rIns="0" bIns="0" rtlCol="0" anchor="t"/>
          <a:lstStyle/>
          <a:p>
            <a:pPr indent="0" marL="0">
              <a:buNone/>
            </a:pPr>
            <a:r>
              <a:rPr lang="en-US" sz="1000" b="1" dirty="0">
                <a:solidFill>
                  <a:srgbClr val="4C7016"/>
                </a:solidFill>
                <a:latin typeface="Arial" pitchFamily="34" charset="0"/>
                <a:ea typeface="Arial" pitchFamily="34" charset="-122"/>
                <a:cs typeface="Arial" pitchFamily="34" charset="-120"/>
              </a:rPr>
              <a:t>AI-framework / corporate tooling</a:t>
            </a:r>
            <a:endParaRPr lang="en-US" sz="1000" dirty="0"/>
          </a:p>
        </p:txBody>
      </p:sp>
      <p:sp>
        <p:nvSpPr>
          <p:cNvPr id="18" name="Text 16"/>
          <p:cNvSpPr/>
          <p:nvPr/>
        </p:nvSpPr>
        <p:spPr>
          <a:xfrm>
            <a:off x="2670048" y="4334256"/>
            <a:ext cx="1700784" cy="274320"/>
          </a:xfrm>
          <a:prstGeom prst="rect">
            <a:avLst/>
          </a:prstGeom>
          <a:noFill/>
          <a:ln/>
        </p:spPr>
        <p:txBody>
          <a:bodyPr wrap="square" lIns="0" tIns="0" rIns="0" bIns="0" rtlCol="0" anchor="ctr"/>
          <a:lstStyle/>
          <a:p>
            <a:pPr indent="0" marL="0">
              <a:buNone/>
            </a:pPr>
            <a:r>
              <a:rPr lang="en-US" sz="900" dirty="0">
                <a:solidFill>
                  <a:srgbClr val="5B5B5B"/>
                </a:solidFill>
                <a:latin typeface="Arial" pitchFamily="34" charset="0"/>
                <a:ea typeface="Arial" pitchFamily="34" charset="-122"/>
                <a:cs typeface="Arial" pitchFamily="34" charset="-120"/>
              </a:rPr>
              <a:t>douane- en warehousedocs</a:t>
            </a:r>
            <a:endParaRPr lang="en-US" sz="900" dirty="0"/>
          </a:p>
        </p:txBody>
      </p:sp>
      <p:sp>
        <p:nvSpPr>
          <p:cNvPr id="19" name="Shape 17"/>
          <p:cNvSpPr/>
          <p:nvPr/>
        </p:nvSpPr>
        <p:spPr>
          <a:xfrm>
            <a:off x="4663440" y="3840480"/>
            <a:ext cx="1920240" cy="868680"/>
          </a:xfrm>
          <a:prstGeom prst="roundRect">
            <a:avLst>
              <a:gd name="adj" fmla="val 6316"/>
            </a:avLst>
          </a:prstGeom>
          <a:solidFill>
            <a:srgbClr val="FFFFFF"/>
          </a:solidFill>
          <a:ln w="9525">
            <a:solidFill>
              <a:srgbClr val="E3E3E3"/>
            </a:solidFill>
            <a:prstDash val="solid"/>
          </a:ln>
          <a:effectLst>
            <a:outerShdw sx="100000" sy="100000" kx="0" ky="0" algn="bl" rotWithShape="0" blurRad="76200" dist="25400" dir="2700000">
              <a:srgbClr val="000000">
                <a:alpha val="12000"/>
              </a:srgbClr>
            </a:outerShdw>
          </a:effectLst>
        </p:spPr>
      </p:sp>
      <p:sp>
        <p:nvSpPr>
          <p:cNvPr id="20" name="Text 18"/>
          <p:cNvSpPr/>
          <p:nvPr/>
        </p:nvSpPr>
        <p:spPr>
          <a:xfrm>
            <a:off x="4773168" y="3931920"/>
            <a:ext cx="1700784" cy="384048"/>
          </a:xfrm>
          <a:prstGeom prst="rect">
            <a:avLst/>
          </a:prstGeom>
          <a:noFill/>
          <a:ln/>
        </p:spPr>
        <p:txBody>
          <a:bodyPr wrap="square" lIns="0" tIns="0" rIns="0" bIns="0" rtlCol="0" anchor="t"/>
          <a:lstStyle/>
          <a:p>
            <a:pPr indent="0" marL="0">
              <a:buNone/>
            </a:pPr>
            <a:r>
              <a:rPr lang="en-US" sz="1000" b="1" dirty="0">
                <a:solidFill>
                  <a:srgbClr val="4C7016"/>
                </a:solidFill>
                <a:latin typeface="Arial" pitchFamily="34" charset="0"/>
                <a:ea typeface="Arial" pitchFamily="34" charset="-122"/>
                <a:cs typeface="Arial" pitchFamily="34" charset="-120"/>
              </a:rPr>
              <a:t>Regex-templates</a:t>
            </a:r>
            <a:endParaRPr lang="en-US" sz="1000" dirty="0"/>
          </a:p>
        </p:txBody>
      </p:sp>
      <p:sp>
        <p:nvSpPr>
          <p:cNvPr id="21" name="Text 19"/>
          <p:cNvSpPr/>
          <p:nvPr/>
        </p:nvSpPr>
        <p:spPr>
          <a:xfrm>
            <a:off x="4773168" y="4334256"/>
            <a:ext cx="1700784" cy="274320"/>
          </a:xfrm>
          <a:prstGeom prst="rect">
            <a:avLst/>
          </a:prstGeom>
          <a:noFill/>
          <a:ln/>
        </p:spPr>
        <p:txBody>
          <a:bodyPr wrap="square" lIns="0" tIns="0" rIns="0" bIns="0" rtlCol="0" anchor="ctr"/>
          <a:lstStyle/>
          <a:p>
            <a:pPr indent="0" marL="0">
              <a:buNone/>
            </a:pPr>
            <a:r>
              <a:rPr lang="en-US" sz="900" dirty="0">
                <a:solidFill>
                  <a:srgbClr val="5B5B5B"/>
                </a:solidFill>
                <a:latin typeface="Arial" pitchFamily="34" charset="0"/>
                <a:ea typeface="Arial" pitchFamily="34" charset="-122"/>
                <a:cs typeface="Arial" pitchFamily="34" charset="-120"/>
              </a:rPr>
              <a:t>stabiele layouts</a:t>
            </a:r>
            <a:endParaRPr lang="en-US" sz="900" dirty="0"/>
          </a:p>
        </p:txBody>
      </p:sp>
      <p:sp>
        <p:nvSpPr>
          <p:cNvPr id="22" name="Shape 20"/>
          <p:cNvSpPr/>
          <p:nvPr/>
        </p:nvSpPr>
        <p:spPr>
          <a:xfrm>
            <a:off x="6766560" y="3840480"/>
            <a:ext cx="1920240" cy="868680"/>
          </a:xfrm>
          <a:prstGeom prst="roundRect">
            <a:avLst>
              <a:gd name="adj" fmla="val 6316"/>
            </a:avLst>
          </a:prstGeom>
          <a:solidFill>
            <a:srgbClr val="FFFFFF"/>
          </a:solidFill>
          <a:ln w="9525">
            <a:solidFill>
              <a:srgbClr val="E3E3E3"/>
            </a:solidFill>
            <a:prstDash val="solid"/>
          </a:ln>
          <a:effectLst>
            <a:outerShdw sx="100000" sy="100000" kx="0" ky="0" algn="bl" rotWithShape="0" blurRad="76200" dist="25400" dir="2700000">
              <a:srgbClr val="000000">
                <a:alpha val="12000"/>
              </a:srgbClr>
            </a:outerShdw>
          </a:effectLst>
        </p:spPr>
      </p:sp>
      <p:sp>
        <p:nvSpPr>
          <p:cNvPr id="23" name="Text 21"/>
          <p:cNvSpPr/>
          <p:nvPr/>
        </p:nvSpPr>
        <p:spPr>
          <a:xfrm>
            <a:off x="6876288" y="3931920"/>
            <a:ext cx="1700784" cy="384048"/>
          </a:xfrm>
          <a:prstGeom prst="rect">
            <a:avLst/>
          </a:prstGeom>
          <a:noFill/>
          <a:ln/>
        </p:spPr>
        <p:txBody>
          <a:bodyPr wrap="square" lIns="0" tIns="0" rIns="0" bIns="0" rtlCol="0" anchor="t"/>
          <a:lstStyle/>
          <a:p>
            <a:pPr indent="0" marL="0">
              <a:buNone/>
            </a:pPr>
            <a:r>
              <a:rPr lang="en-US" sz="1000" b="1" dirty="0">
                <a:solidFill>
                  <a:srgbClr val="4C7016"/>
                </a:solidFill>
                <a:latin typeface="Arial" pitchFamily="34" charset="0"/>
                <a:ea typeface="Arial" pitchFamily="34" charset="-122"/>
                <a:cs typeface="Arial" pitchFamily="34" charset="-120"/>
              </a:rPr>
              <a:t>Mock</a:t>
            </a:r>
            <a:endParaRPr lang="en-US" sz="1000" dirty="0"/>
          </a:p>
        </p:txBody>
      </p:sp>
      <p:sp>
        <p:nvSpPr>
          <p:cNvPr id="24" name="Text 22"/>
          <p:cNvSpPr/>
          <p:nvPr/>
        </p:nvSpPr>
        <p:spPr>
          <a:xfrm>
            <a:off x="6876288" y="4334256"/>
            <a:ext cx="1700784" cy="274320"/>
          </a:xfrm>
          <a:prstGeom prst="rect">
            <a:avLst/>
          </a:prstGeom>
          <a:noFill/>
          <a:ln/>
        </p:spPr>
        <p:txBody>
          <a:bodyPr wrap="square" lIns="0" tIns="0" rIns="0" bIns="0" rtlCol="0" anchor="ctr"/>
          <a:lstStyle/>
          <a:p>
            <a:pPr indent="0" marL="0">
              <a:buNone/>
            </a:pPr>
            <a:r>
              <a:rPr lang="en-US" sz="900" dirty="0">
                <a:solidFill>
                  <a:srgbClr val="5B5B5B"/>
                </a:solidFill>
                <a:latin typeface="Arial" pitchFamily="34" charset="0"/>
                <a:ea typeface="Arial" pitchFamily="34" charset="-122"/>
                <a:cs typeface="Arial" pitchFamily="34" charset="-120"/>
              </a:rPr>
              <a:t>demo en tests</a:t>
            </a:r>
            <a:endParaRPr lang="en-US" sz="900" dirty="0"/>
          </a:p>
        </p:txBody>
      </p:sp>
      <p:sp>
        <p:nvSpPr>
          <p:cNvPr id="25" name="Text 23"/>
          <p:cNvSpPr/>
          <p:nvPr/>
        </p:nvSpPr>
        <p:spPr>
          <a:xfrm>
            <a:off x="457200" y="4864608"/>
            <a:ext cx="3200400" cy="228600"/>
          </a:xfrm>
          <a:prstGeom prst="rect">
            <a:avLst/>
          </a:prstGeom>
          <a:noFill/>
          <a:ln/>
        </p:spPr>
        <p:txBody>
          <a:bodyPr wrap="square" lIns="0" tIns="0" rIns="0" bIns="0" rtlCol="0" anchor="ctr"/>
          <a:lstStyle/>
          <a:p>
            <a:pPr indent="0" marL="0">
              <a:buNone/>
            </a:pPr>
            <a:r>
              <a:rPr lang="en-US" sz="850" dirty="0">
                <a:solidFill>
                  <a:srgbClr val="9A9A9A"/>
                </a:solidFill>
                <a:latin typeface="Arial" pitchFamily="34" charset="0"/>
                <a:ea typeface="Arial" pitchFamily="34" charset="-122"/>
                <a:cs typeface="Arial" pitchFamily="34" charset="-120"/>
              </a:rPr>
              <a:t>Deloitte | Intern werkdocument</a:t>
            </a:r>
            <a:endParaRPr lang="en-US" sz="850" dirty="0"/>
          </a:p>
        </p:txBody>
      </p:sp>
      <p:sp>
        <p:nvSpPr>
          <p:cNvPr id="26" name="Text 24"/>
          <p:cNvSpPr/>
          <p:nvPr/>
        </p:nvSpPr>
        <p:spPr>
          <a:xfrm>
            <a:off x="8503920" y="4864608"/>
            <a:ext cx="274320" cy="228600"/>
          </a:xfrm>
          <a:prstGeom prst="rect">
            <a:avLst/>
          </a:prstGeom>
          <a:noFill/>
          <a:ln/>
        </p:spPr>
        <p:txBody>
          <a:bodyPr wrap="square" lIns="0" tIns="0" rIns="0" bIns="0" rtlCol="0" anchor="ctr"/>
          <a:lstStyle/>
          <a:p>
            <a:pPr algn="r" indent="0" marL="0">
              <a:buNone/>
            </a:pPr>
            <a:r>
              <a:rPr lang="en-US" sz="850" dirty="0">
                <a:solidFill>
                  <a:srgbClr val="9A9A9A"/>
                </a:solidFill>
                <a:latin typeface="Arial" pitchFamily="34" charset="0"/>
                <a:ea typeface="Arial" pitchFamily="34" charset="-122"/>
                <a:cs typeface="Arial" pitchFamily="34" charset="-120"/>
              </a:rPr>
              <a:t>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237744"/>
          </a:xfrm>
          <a:prstGeom prst="rect">
            <a:avLst/>
          </a:prstGeom>
          <a:noFill/>
          <a:ln/>
        </p:spPr>
        <p:txBody>
          <a:bodyPr wrap="square" lIns="0" tIns="0" rIns="0" bIns="0" rtlCol="0" anchor="ctr"/>
          <a:lstStyle/>
          <a:p>
            <a:pPr indent="0" marL="0">
              <a:buNone/>
            </a:pPr>
            <a:r>
              <a:rPr lang="en-US" sz="1050" b="1" spc="300" kern="0" dirty="0">
                <a:solidFill>
                  <a:srgbClr val="4C7016"/>
                </a:solidFill>
                <a:latin typeface="Arial" pitchFamily="34" charset="0"/>
                <a:ea typeface="Arial" pitchFamily="34" charset="-122"/>
                <a:cs typeface="Arial" pitchFamily="34" charset="-120"/>
              </a:rPr>
              <a:t>ONTWERP</a:t>
            </a:r>
            <a:endParaRPr lang="en-US" sz="1050" dirty="0"/>
          </a:p>
        </p:txBody>
      </p:sp>
      <p:sp>
        <p:nvSpPr>
          <p:cNvPr id="3" name="Text 1"/>
          <p:cNvSpPr/>
          <p:nvPr/>
        </p:nvSpPr>
        <p:spPr>
          <a:xfrm>
            <a:off x="457200" y="530352"/>
            <a:ext cx="8229600" cy="502920"/>
          </a:xfrm>
          <a:prstGeom prst="rect">
            <a:avLst/>
          </a:prstGeom>
          <a:noFill/>
          <a:ln/>
        </p:spPr>
        <p:txBody>
          <a:bodyPr wrap="square" lIns="0" tIns="0" rIns="0" bIns="0" rtlCol="0" anchor="ctr"/>
          <a:lstStyle/>
          <a:p>
            <a:pPr indent="0" marL="0">
              <a:buNone/>
            </a:pPr>
            <a:r>
              <a:rPr lang="en-US" sz="2300" b="1" dirty="0">
                <a:solidFill>
                  <a:srgbClr val="1A1A1A"/>
                </a:solidFill>
                <a:latin typeface="Arial" pitchFamily="34" charset="0"/>
                <a:ea typeface="Arial" pitchFamily="34" charset="-122"/>
                <a:cs typeface="Arial" pitchFamily="34" charset="-120"/>
              </a:rPr>
              <a:t>Document, extractie en correctie: alles is een record</a:t>
            </a:r>
            <a:endParaRPr lang="en-US" sz="2300" dirty="0"/>
          </a:p>
        </p:txBody>
      </p:sp>
      <p:sp>
        <p:nvSpPr>
          <p:cNvPr id="4" name="Shape 2"/>
          <p:cNvSpPr/>
          <p:nvPr/>
        </p:nvSpPr>
        <p:spPr>
          <a:xfrm>
            <a:off x="457200" y="1371600"/>
            <a:ext cx="2606040" cy="1554480"/>
          </a:xfrm>
          <a:prstGeom prst="roundRect">
            <a:avLst>
              <a:gd name="adj" fmla="val 3529"/>
            </a:avLst>
          </a:prstGeom>
          <a:solidFill>
            <a:srgbClr val="F5F5F5"/>
          </a:solidFill>
          <a:ln w="9525">
            <a:solidFill>
              <a:srgbClr val="E3E3E3"/>
            </a:solidFill>
            <a:prstDash val="solid"/>
          </a:ln>
          <a:effectLst>
            <a:outerShdw sx="100000" sy="100000" kx="0" ky="0" algn="bl" rotWithShape="0" blurRad="76200" dist="25400" dir="2700000">
              <a:srgbClr val="000000">
                <a:alpha val="12000"/>
              </a:srgbClr>
            </a:outerShdw>
          </a:effectLst>
        </p:spPr>
      </p:sp>
      <p:sp>
        <p:nvSpPr>
          <p:cNvPr id="5" name="Text 3"/>
          <p:cNvSpPr/>
          <p:nvPr/>
        </p:nvSpPr>
        <p:spPr>
          <a:xfrm>
            <a:off x="621792" y="1499616"/>
            <a:ext cx="2286000" cy="274320"/>
          </a:xfrm>
          <a:prstGeom prst="rect">
            <a:avLst/>
          </a:prstGeom>
          <a:noFill/>
          <a:ln/>
        </p:spPr>
        <p:txBody>
          <a:bodyPr wrap="square" lIns="0" tIns="0" rIns="0" bIns="0" rtlCol="0" anchor="ctr"/>
          <a:lstStyle/>
          <a:p>
            <a:pPr indent="0" marL="0">
              <a:buNone/>
            </a:pPr>
            <a:r>
              <a:rPr lang="en-US" sz="1250" b="1" dirty="0">
                <a:solidFill>
                  <a:srgbClr val="1A1A1A"/>
                </a:solidFill>
                <a:latin typeface="Arial" pitchFamily="34" charset="0"/>
                <a:ea typeface="Arial" pitchFamily="34" charset="-122"/>
                <a:cs typeface="Arial" pitchFamily="34" charset="-120"/>
              </a:rPr>
              <a:t>Configuratie</a:t>
            </a:r>
            <a:endParaRPr lang="en-US" sz="1250" dirty="0"/>
          </a:p>
        </p:txBody>
      </p:sp>
      <p:sp>
        <p:nvSpPr>
          <p:cNvPr id="6" name="Text 4"/>
          <p:cNvSpPr/>
          <p:nvPr/>
        </p:nvSpPr>
        <p:spPr>
          <a:xfrm>
            <a:off x="621792" y="1828800"/>
            <a:ext cx="2286000" cy="1005840"/>
          </a:xfrm>
          <a:prstGeom prst="rect">
            <a:avLst/>
          </a:prstGeom>
          <a:noFill/>
          <a:ln/>
        </p:spPr>
        <p:txBody>
          <a:bodyPr wrap="square" lIns="0" tIns="0" rIns="0" bIns="0" rtlCol="0" anchor="t"/>
          <a:lstStyle/>
          <a:p>
            <a:pPr indent="0" marL="0">
              <a:buNone/>
            </a:pPr>
            <a:r>
              <a:rPr lang="en-US" sz="1050" dirty="0">
                <a:solidFill>
                  <a:srgbClr val="5B5B5B"/>
                </a:solidFill>
                <a:latin typeface="Arial" pitchFamily="34" charset="0"/>
                <a:ea typeface="Arial" pitchFamily="34" charset="-122"/>
                <a:cs typeface="Arial" pitchFamily="34" charset="-120"/>
              </a:rPr>
              <a:t>Document types, mapping-templates, licenties (masterdata)</a:t>
            </a:r>
            <a:endParaRPr lang="en-US" sz="1050" dirty="0"/>
          </a:p>
        </p:txBody>
      </p:sp>
      <p:sp>
        <p:nvSpPr>
          <p:cNvPr id="7" name="Shape 5"/>
          <p:cNvSpPr/>
          <p:nvPr/>
        </p:nvSpPr>
        <p:spPr>
          <a:xfrm>
            <a:off x="3264408" y="1371600"/>
            <a:ext cx="2606040" cy="1554480"/>
          </a:xfrm>
          <a:prstGeom prst="roundRect">
            <a:avLst>
              <a:gd name="adj" fmla="val 3529"/>
            </a:avLst>
          </a:prstGeom>
          <a:solidFill>
            <a:srgbClr val="F5F5F5"/>
          </a:solidFill>
          <a:ln w="9525">
            <a:solidFill>
              <a:srgbClr val="E3E3E3"/>
            </a:solidFill>
            <a:prstDash val="solid"/>
          </a:ln>
          <a:effectLst>
            <a:outerShdw sx="100000" sy="100000" kx="0" ky="0" algn="bl" rotWithShape="0" blurRad="76200" dist="25400" dir="2700000">
              <a:srgbClr val="000000">
                <a:alpha val="12000"/>
              </a:srgbClr>
            </a:outerShdw>
          </a:effectLst>
        </p:spPr>
      </p:sp>
      <p:sp>
        <p:nvSpPr>
          <p:cNvPr id="8" name="Text 6"/>
          <p:cNvSpPr/>
          <p:nvPr/>
        </p:nvSpPr>
        <p:spPr>
          <a:xfrm>
            <a:off x="3429000" y="1499616"/>
            <a:ext cx="2286000" cy="274320"/>
          </a:xfrm>
          <a:prstGeom prst="rect">
            <a:avLst/>
          </a:prstGeom>
          <a:noFill/>
          <a:ln/>
        </p:spPr>
        <p:txBody>
          <a:bodyPr wrap="square" lIns="0" tIns="0" rIns="0" bIns="0" rtlCol="0" anchor="ctr"/>
          <a:lstStyle/>
          <a:p>
            <a:pPr indent="0" marL="0">
              <a:buNone/>
            </a:pPr>
            <a:r>
              <a:rPr lang="en-US" sz="1250" b="1" dirty="0">
                <a:solidFill>
                  <a:srgbClr val="1A1A1A"/>
                </a:solidFill>
                <a:latin typeface="Arial" pitchFamily="34" charset="0"/>
                <a:ea typeface="Arial" pitchFamily="34" charset="-122"/>
                <a:cs typeface="Arial" pitchFamily="34" charset="-120"/>
              </a:rPr>
              <a:t>Extracties</a:t>
            </a:r>
            <a:endParaRPr lang="en-US" sz="1250" dirty="0"/>
          </a:p>
        </p:txBody>
      </p:sp>
      <p:sp>
        <p:nvSpPr>
          <p:cNvPr id="9" name="Text 7"/>
          <p:cNvSpPr/>
          <p:nvPr/>
        </p:nvSpPr>
        <p:spPr>
          <a:xfrm>
            <a:off x="3429000" y="1828800"/>
            <a:ext cx="2286000" cy="1005840"/>
          </a:xfrm>
          <a:prstGeom prst="rect">
            <a:avLst/>
          </a:prstGeom>
          <a:noFill/>
          <a:ln/>
        </p:spPr>
        <p:txBody>
          <a:bodyPr wrap="square" lIns="0" tIns="0" rIns="0" bIns="0" rtlCol="0" anchor="t"/>
          <a:lstStyle/>
          <a:p>
            <a:pPr indent="0" marL="0">
              <a:buNone/>
            </a:pPr>
            <a:r>
              <a:rPr lang="en-US" sz="1050" dirty="0">
                <a:solidFill>
                  <a:srgbClr val="5B5B5B"/>
                </a:solidFill>
                <a:latin typeface="Arial" pitchFamily="34" charset="0"/>
                <a:ea typeface="Arial" pitchFamily="34" charset="-122"/>
                <a:cs typeface="Arial" pitchFamily="34" charset="-120"/>
              </a:rPr>
              <a:t>Ruwe waarde, genormaliseerde waarde en correctie per veld, met confidence</a:t>
            </a:r>
            <a:endParaRPr lang="en-US" sz="1050" dirty="0"/>
          </a:p>
        </p:txBody>
      </p:sp>
      <p:sp>
        <p:nvSpPr>
          <p:cNvPr id="10" name="Shape 8"/>
          <p:cNvSpPr/>
          <p:nvPr/>
        </p:nvSpPr>
        <p:spPr>
          <a:xfrm>
            <a:off x="6071616" y="1371600"/>
            <a:ext cx="2606040" cy="1554480"/>
          </a:xfrm>
          <a:prstGeom prst="roundRect">
            <a:avLst>
              <a:gd name="adj" fmla="val 3529"/>
            </a:avLst>
          </a:prstGeom>
          <a:solidFill>
            <a:srgbClr val="F5F5F5"/>
          </a:solidFill>
          <a:ln w="9525">
            <a:solidFill>
              <a:srgbClr val="E3E3E3"/>
            </a:solidFill>
            <a:prstDash val="solid"/>
          </a:ln>
          <a:effectLst>
            <a:outerShdw sx="100000" sy="100000" kx="0" ky="0" algn="bl" rotWithShape="0" blurRad="76200" dist="25400" dir="2700000">
              <a:srgbClr val="000000">
                <a:alpha val="12000"/>
              </a:srgbClr>
            </a:outerShdw>
          </a:effectLst>
        </p:spPr>
      </p:sp>
      <p:sp>
        <p:nvSpPr>
          <p:cNvPr id="11" name="Text 9"/>
          <p:cNvSpPr/>
          <p:nvPr/>
        </p:nvSpPr>
        <p:spPr>
          <a:xfrm>
            <a:off x="6236208" y="1499616"/>
            <a:ext cx="2286000" cy="274320"/>
          </a:xfrm>
          <a:prstGeom prst="rect">
            <a:avLst/>
          </a:prstGeom>
          <a:noFill/>
          <a:ln/>
        </p:spPr>
        <p:txBody>
          <a:bodyPr wrap="square" lIns="0" tIns="0" rIns="0" bIns="0" rtlCol="0" anchor="ctr"/>
          <a:lstStyle/>
          <a:p>
            <a:pPr indent="0" marL="0">
              <a:buNone/>
            </a:pPr>
            <a:r>
              <a:rPr lang="en-US" sz="1250" b="1" dirty="0">
                <a:solidFill>
                  <a:srgbClr val="1A1A1A"/>
                </a:solidFill>
                <a:latin typeface="Arial" pitchFamily="34" charset="0"/>
                <a:ea typeface="Arial" pitchFamily="34" charset="-122"/>
                <a:cs typeface="Arial" pitchFamily="34" charset="-120"/>
              </a:rPr>
              <a:t>Entry / Exit</a:t>
            </a:r>
            <a:endParaRPr lang="en-US" sz="1250" dirty="0"/>
          </a:p>
        </p:txBody>
      </p:sp>
      <p:sp>
        <p:nvSpPr>
          <p:cNvPr id="12" name="Text 10"/>
          <p:cNvSpPr/>
          <p:nvPr/>
        </p:nvSpPr>
        <p:spPr>
          <a:xfrm>
            <a:off x="6236208" y="1828800"/>
            <a:ext cx="2286000" cy="1005840"/>
          </a:xfrm>
          <a:prstGeom prst="rect">
            <a:avLst/>
          </a:prstGeom>
          <a:noFill/>
          <a:ln/>
        </p:spPr>
        <p:txBody>
          <a:bodyPr wrap="square" lIns="0" tIns="0" rIns="0" bIns="0" rtlCol="0" anchor="t"/>
          <a:lstStyle/>
          <a:p>
            <a:pPr indent="0" marL="0">
              <a:buNone/>
            </a:pPr>
            <a:r>
              <a:rPr lang="en-US" sz="1050" dirty="0">
                <a:solidFill>
                  <a:srgbClr val="5B5B5B"/>
                </a:solidFill>
                <a:latin typeface="Arial" pitchFamily="34" charset="0"/>
                <a:ea typeface="Arial" pitchFamily="34" charset="-122"/>
                <a:cs typeface="Arial" pitchFamily="34" charset="-120"/>
              </a:rPr>
              <a:t>Documenten met goederenlijnen, koppeling naar factuur en origineel</a:t>
            </a:r>
            <a:endParaRPr lang="en-US" sz="1050" dirty="0"/>
          </a:p>
        </p:txBody>
      </p:sp>
      <p:sp>
        <p:nvSpPr>
          <p:cNvPr id="13" name="Text 11"/>
          <p:cNvSpPr/>
          <p:nvPr/>
        </p:nvSpPr>
        <p:spPr>
          <a:xfrm>
            <a:off x="3035808" y="1920240"/>
            <a:ext cx="274320" cy="365760"/>
          </a:xfrm>
          <a:prstGeom prst="rect">
            <a:avLst/>
          </a:prstGeom>
          <a:noFill/>
          <a:ln/>
        </p:spPr>
        <p:txBody>
          <a:bodyPr wrap="square" lIns="0" tIns="0" rIns="0" bIns="0" rtlCol="0" anchor="ctr"/>
          <a:lstStyle/>
          <a:p>
            <a:pPr algn="ctr" indent="0" marL="0">
              <a:buNone/>
            </a:pPr>
            <a:r>
              <a:rPr lang="en-US" sz="1800" b="1" dirty="0">
                <a:solidFill>
                  <a:srgbClr val="86BC25"/>
                </a:solidFill>
                <a:latin typeface="Arial" pitchFamily="34" charset="0"/>
                <a:ea typeface="Arial" pitchFamily="34" charset="-122"/>
                <a:cs typeface="Arial" pitchFamily="34" charset="-120"/>
              </a:rPr>
              <a:t>→</a:t>
            </a:r>
            <a:endParaRPr lang="en-US" sz="1800" dirty="0"/>
          </a:p>
        </p:txBody>
      </p:sp>
      <p:sp>
        <p:nvSpPr>
          <p:cNvPr id="14" name="Text 12"/>
          <p:cNvSpPr/>
          <p:nvPr/>
        </p:nvSpPr>
        <p:spPr>
          <a:xfrm>
            <a:off x="5843016" y="1920240"/>
            <a:ext cx="274320" cy="365760"/>
          </a:xfrm>
          <a:prstGeom prst="rect">
            <a:avLst/>
          </a:prstGeom>
          <a:noFill/>
          <a:ln/>
        </p:spPr>
        <p:txBody>
          <a:bodyPr wrap="square" lIns="0" tIns="0" rIns="0" bIns="0" rtlCol="0" anchor="ctr"/>
          <a:lstStyle/>
          <a:p>
            <a:pPr algn="ctr" indent="0" marL="0">
              <a:buNone/>
            </a:pPr>
            <a:r>
              <a:rPr lang="en-US" sz="1800" b="1" dirty="0">
                <a:solidFill>
                  <a:srgbClr val="86BC25"/>
                </a:solidFill>
                <a:latin typeface="Arial" pitchFamily="34" charset="0"/>
                <a:ea typeface="Arial" pitchFamily="34" charset="-122"/>
                <a:cs typeface="Arial" pitchFamily="34" charset="-120"/>
              </a:rPr>
              <a:t>→</a:t>
            </a:r>
            <a:endParaRPr lang="en-US" sz="1800" dirty="0"/>
          </a:p>
        </p:txBody>
      </p:sp>
      <p:sp>
        <p:nvSpPr>
          <p:cNvPr id="15" name="Shape 13"/>
          <p:cNvSpPr/>
          <p:nvPr/>
        </p:nvSpPr>
        <p:spPr>
          <a:xfrm>
            <a:off x="457200" y="3200400"/>
            <a:ext cx="8229600" cy="1280160"/>
          </a:xfrm>
          <a:prstGeom prst="roundRect">
            <a:avLst>
              <a:gd name="adj" fmla="val 4286"/>
            </a:avLst>
          </a:prstGeom>
          <a:solidFill>
            <a:srgbClr val="F3F8E9"/>
          </a:solidFill>
          <a:ln w="9525">
            <a:solidFill>
              <a:srgbClr val="E3E3E3"/>
            </a:solidFill>
            <a:prstDash val="solid"/>
          </a:ln>
          <a:effectLst>
            <a:outerShdw sx="100000" sy="100000" kx="0" ky="0" algn="bl" rotWithShape="0" blurRad="76200" dist="25400" dir="2700000">
              <a:srgbClr val="000000">
                <a:alpha val="12000"/>
              </a:srgbClr>
            </a:outerShdw>
          </a:effectLst>
        </p:spPr>
      </p:sp>
      <p:sp>
        <p:nvSpPr>
          <p:cNvPr id="16" name="Text 14"/>
          <p:cNvSpPr/>
          <p:nvPr/>
        </p:nvSpPr>
        <p:spPr>
          <a:xfrm>
            <a:off x="713232" y="3328416"/>
            <a:ext cx="7680960" cy="274320"/>
          </a:xfrm>
          <a:prstGeom prst="rect">
            <a:avLst/>
          </a:prstGeom>
          <a:noFill/>
          <a:ln/>
        </p:spPr>
        <p:txBody>
          <a:bodyPr wrap="square" lIns="0" tIns="0" rIns="0" bIns="0" rtlCol="0" anchor="ctr"/>
          <a:lstStyle/>
          <a:p>
            <a:pPr indent="0" marL="0">
              <a:buNone/>
            </a:pPr>
            <a:r>
              <a:rPr lang="en-US" sz="1250" b="1" dirty="0">
                <a:solidFill>
                  <a:srgbClr val="1A1A1A"/>
                </a:solidFill>
                <a:latin typeface="Arial" pitchFamily="34" charset="0"/>
                <a:ea typeface="Arial" pitchFamily="34" charset="-122"/>
                <a:cs typeface="Arial" pitchFamily="34" charset="-120"/>
              </a:rPr>
              <a:t>Checks en outputs</a:t>
            </a:r>
            <a:endParaRPr lang="en-US" sz="1250" dirty="0"/>
          </a:p>
        </p:txBody>
      </p:sp>
      <p:sp>
        <p:nvSpPr>
          <p:cNvPr id="17" name="Text 15"/>
          <p:cNvSpPr/>
          <p:nvPr/>
        </p:nvSpPr>
        <p:spPr>
          <a:xfrm>
            <a:off x="713232" y="3639312"/>
            <a:ext cx="7726680" cy="777240"/>
          </a:xfrm>
          <a:prstGeom prst="rect">
            <a:avLst/>
          </a:prstGeom>
          <a:noFill/>
          <a:ln/>
        </p:spPr>
        <p:txBody>
          <a:bodyPr wrap="square" lIns="0" tIns="0" rIns="0" bIns="0" rtlCol="0" anchor="t"/>
          <a:lstStyle/>
          <a:p>
            <a:pPr indent="0" marL="0">
              <a:buNone/>
            </a:pPr>
            <a:r>
              <a:rPr lang="en-US" sz="1100" dirty="0">
                <a:solidFill>
                  <a:srgbClr val="5B5B5B"/>
                </a:solidFill>
                <a:latin typeface="Arial" pitchFamily="34" charset="0"/>
                <a:ea typeface="Arial" pitchFamily="34" charset="-122"/>
                <a:cs typeface="Arial" pitchFamily="34" charset="-120"/>
              </a:rPr>
              <a:t>VIES-checks, bestemmingsdocumenten en BTW-nota's hangen aan het Exit Document; alle PDF's geversioneerd, chatter op elk model. Extracties zijn herafspeelbaar: een gewijzigde mapping kan met één klik opnieuw toegepast worden, met versiegeschiedenis.</a:t>
            </a:r>
            <a:endParaRPr lang="en-US" sz="1100" dirty="0"/>
          </a:p>
        </p:txBody>
      </p:sp>
      <p:sp>
        <p:nvSpPr>
          <p:cNvPr id="18" name="Text 16"/>
          <p:cNvSpPr/>
          <p:nvPr/>
        </p:nvSpPr>
        <p:spPr>
          <a:xfrm>
            <a:off x="457200" y="4864608"/>
            <a:ext cx="3200400" cy="228600"/>
          </a:xfrm>
          <a:prstGeom prst="rect">
            <a:avLst/>
          </a:prstGeom>
          <a:noFill/>
          <a:ln/>
        </p:spPr>
        <p:txBody>
          <a:bodyPr wrap="square" lIns="0" tIns="0" rIns="0" bIns="0" rtlCol="0" anchor="ctr"/>
          <a:lstStyle/>
          <a:p>
            <a:pPr indent="0" marL="0">
              <a:buNone/>
            </a:pPr>
            <a:r>
              <a:rPr lang="en-US" sz="850" dirty="0">
                <a:solidFill>
                  <a:srgbClr val="9A9A9A"/>
                </a:solidFill>
                <a:latin typeface="Arial" pitchFamily="34" charset="0"/>
                <a:ea typeface="Arial" pitchFamily="34" charset="-122"/>
                <a:cs typeface="Arial" pitchFamily="34" charset="-120"/>
              </a:rPr>
              <a:t>Deloitte | Intern werkdocument</a:t>
            </a:r>
            <a:endParaRPr lang="en-US" sz="850" dirty="0"/>
          </a:p>
        </p:txBody>
      </p:sp>
      <p:sp>
        <p:nvSpPr>
          <p:cNvPr id="19" name="Text 17"/>
          <p:cNvSpPr/>
          <p:nvPr/>
        </p:nvSpPr>
        <p:spPr>
          <a:xfrm>
            <a:off x="8503920" y="4864608"/>
            <a:ext cx="274320" cy="228600"/>
          </a:xfrm>
          <a:prstGeom prst="rect">
            <a:avLst/>
          </a:prstGeom>
          <a:noFill/>
          <a:ln/>
        </p:spPr>
        <p:txBody>
          <a:bodyPr wrap="square" lIns="0" tIns="0" rIns="0" bIns="0" rtlCol="0" anchor="ctr"/>
          <a:lstStyle/>
          <a:p>
            <a:pPr algn="r" indent="0" marL="0">
              <a:buNone/>
            </a:pPr>
            <a:r>
              <a:rPr lang="en-US" sz="850" dirty="0">
                <a:solidFill>
                  <a:srgbClr val="9A9A9A"/>
                </a:solidFill>
                <a:latin typeface="Arial" pitchFamily="34" charset="0"/>
                <a:ea typeface="Arial" pitchFamily="34" charset="-122"/>
                <a:cs typeface="Arial" pitchFamily="34" charset="-120"/>
              </a:rPr>
              <a:t>10</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237744"/>
          </a:xfrm>
          <a:prstGeom prst="rect">
            <a:avLst/>
          </a:prstGeom>
          <a:noFill/>
          <a:ln/>
        </p:spPr>
        <p:txBody>
          <a:bodyPr wrap="square" lIns="0" tIns="0" rIns="0" bIns="0" rtlCol="0" anchor="ctr"/>
          <a:lstStyle/>
          <a:p>
            <a:pPr indent="0" marL="0">
              <a:buNone/>
            </a:pPr>
            <a:r>
              <a:rPr lang="en-US" sz="1050" b="1" spc="300" kern="0" dirty="0">
                <a:solidFill>
                  <a:srgbClr val="4C7016"/>
                </a:solidFill>
                <a:latin typeface="Arial" pitchFamily="34" charset="0"/>
                <a:ea typeface="Arial" pitchFamily="34" charset="-122"/>
                <a:cs typeface="Arial" pitchFamily="34" charset="-120"/>
              </a:rPr>
              <a:t>MAPPING MEMORY</a:t>
            </a:r>
            <a:endParaRPr lang="en-US" sz="1050" dirty="0"/>
          </a:p>
        </p:txBody>
      </p:sp>
      <p:sp>
        <p:nvSpPr>
          <p:cNvPr id="3" name="Text 1"/>
          <p:cNvSpPr/>
          <p:nvPr/>
        </p:nvSpPr>
        <p:spPr>
          <a:xfrm>
            <a:off x="457200" y="530352"/>
            <a:ext cx="8229600" cy="502920"/>
          </a:xfrm>
          <a:prstGeom prst="rect">
            <a:avLst/>
          </a:prstGeom>
          <a:noFill/>
          <a:ln/>
        </p:spPr>
        <p:txBody>
          <a:bodyPr wrap="square" lIns="0" tIns="0" rIns="0" bIns="0" rtlCol="0" anchor="ctr"/>
          <a:lstStyle/>
          <a:p>
            <a:pPr indent="0" marL="0">
              <a:buNone/>
            </a:pPr>
            <a:r>
              <a:rPr lang="en-US" sz="2300" b="1" dirty="0">
                <a:solidFill>
                  <a:srgbClr val="1A1A1A"/>
                </a:solidFill>
                <a:latin typeface="Arial" pitchFamily="34" charset="0"/>
                <a:ea typeface="Arial" pitchFamily="34" charset="-122"/>
                <a:cs typeface="Arial" pitchFamily="34" charset="-120"/>
              </a:rPr>
              <a:t>“Eénmalig per klant” als herbruikbare template</a:t>
            </a:r>
            <a:endParaRPr lang="en-US" sz="2300" dirty="0"/>
          </a:p>
        </p:txBody>
      </p:sp>
      <p:sp>
        <p:nvSpPr>
          <p:cNvPr id="4" name="Shape 2"/>
          <p:cNvSpPr/>
          <p:nvPr/>
        </p:nvSpPr>
        <p:spPr>
          <a:xfrm>
            <a:off x="1554480" y="1371600"/>
            <a:ext cx="420624" cy="420624"/>
          </a:xfrm>
          <a:prstGeom prst="ellipse">
            <a:avLst/>
          </a:prstGeom>
          <a:solidFill>
            <a:srgbClr val="86BC25"/>
          </a:solidFill>
          <a:ln w="12700">
            <a:solidFill>
              <a:srgbClr val="86BC25"/>
            </a:solidFill>
            <a:prstDash val="solid"/>
          </a:ln>
        </p:spPr>
      </p:sp>
      <p:sp>
        <p:nvSpPr>
          <p:cNvPr id="5" name="Text 3"/>
          <p:cNvSpPr/>
          <p:nvPr/>
        </p:nvSpPr>
        <p:spPr>
          <a:xfrm>
            <a:off x="1517904" y="1353312"/>
            <a:ext cx="493776"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6" name="Text 4"/>
          <p:cNvSpPr/>
          <p:nvPr/>
        </p:nvSpPr>
        <p:spPr>
          <a:xfrm>
            <a:off x="2944368" y="1389888"/>
            <a:ext cx="548640" cy="411480"/>
          </a:xfrm>
          <a:prstGeom prst="rect">
            <a:avLst/>
          </a:prstGeom>
          <a:noFill/>
          <a:ln/>
        </p:spPr>
        <p:txBody>
          <a:bodyPr wrap="square" lIns="0" tIns="0" rIns="0" bIns="0" rtlCol="0" anchor="ctr"/>
          <a:lstStyle/>
          <a:p>
            <a:pPr algn="ctr" indent="0" marL="0">
              <a:buNone/>
            </a:pPr>
            <a:r>
              <a:rPr lang="en-US" sz="2200" b="1" dirty="0">
                <a:solidFill>
                  <a:srgbClr val="86BC25"/>
                </a:solidFill>
                <a:latin typeface="Arial" pitchFamily="34" charset="0"/>
                <a:ea typeface="Arial" pitchFamily="34" charset="-122"/>
                <a:cs typeface="Arial" pitchFamily="34" charset="-120"/>
              </a:rPr>
              <a:t>→</a:t>
            </a:r>
            <a:endParaRPr lang="en-US" sz="2200" dirty="0"/>
          </a:p>
        </p:txBody>
      </p:sp>
      <p:sp>
        <p:nvSpPr>
          <p:cNvPr id="7" name="Shape 5"/>
          <p:cNvSpPr/>
          <p:nvPr/>
        </p:nvSpPr>
        <p:spPr>
          <a:xfrm>
            <a:off x="457200" y="1965960"/>
            <a:ext cx="2651760" cy="1600200"/>
          </a:xfrm>
          <a:prstGeom prst="roundRect">
            <a:avLst>
              <a:gd name="adj" fmla="val 3429"/>
            </a:avLst>
          </a:prstGeom>
          <a:solidFill>
            <a:srgbClr val="F5F5F5"/>
          </a:solidFill>
          <a:ln w="9525">
            <a:solidFill>
              <a:srgbClr val="E3E3E3"/>
            </a:solidFill>
            <a:prstDash val="solid"/>
          </a:ln>
          <a:effectLst>
            <a:outerShdw sx="100000" sy="100000" kx="0" ky="0" algn="bl" rotWithShape="0" blurRad="76200" dist="25400" dir="2700000">
              <a:srgbClr val="000000">
                <a:alpha val="12000"/>
              </a:srgbClr>
            </a:outerShdw>
          </a:effectLst>
        </p:spPr>
      </p:sp>
      <p:sp>
        <p:nvSpPr>
          <p:cNvPr id="8" name="Text 6"/>
          <p:cNvSpPr/>
          <p:nvPr/>
        </p:nvSpPr>
        <p:spPr>
          <a:xfrm>
            <a:off x="621792" y="2103120"/>
            <a:ext cx="2331720" cy="502920"/>
          </a:xfrm>
          <a:prstGeom prst="rect">
            <a:avLst/>
          </a:prstGeom>
          <a:noFill/>
          <a:ln/>
        </p:spPr>
        <p:txBody>
          <a:bodyPr wrap="square" lIns="0" tIns="0" rIns="0" bIns="0" rtlCol="0" anchor="t"/>
          <a:lstStyle/>
          <a:p>
            <a:pPr indent="0" marL="0">
              <a:buNone/>
            </a:pPr>
            <a:r>
              <a:rPr lang="en-US" sz="1250" b="1" dirty="0">
                <a:solidFill>
                  <a:srgbClr val="1A1A1A"/>
                </a:solidFill>
                <a:latin typeface="Arial" pitchFamily="34" charset="0"/>
                <a:ea typeface="Arial" pitchFamily="34" charset="-122"/>
                <a:cs typeface="Arial" pitchFamily="34" charset="-120"/>
              </a:rPr>
              <a:t>Eerste document</a:t>
            </a:r>
            <a:endParaRPr lang="en-US" sz="1250" dirty="0"/>
          </a:p>
        </p:txBody>
      </p:sp>
      <p:sp>
        <p:nvSpPr>
          <p:cNvPr id="9" name="Text 7"/>
          <p:cNvSpPr/>
          <p:nvPr/>
        </p:nvSpPr>
        <p:spPr>
          <a:xfrm>
            <a:off x="621792" y="2633472"/>
            <a:ext cx="2331720" cy="868680"/>
          </a:xfrm>
          <a:prstGeom prst="rect">
            <a:avLst/>
          </a:prstGeom>
          <a:noFill/>
          <a:ln/>
        </p:spPr>
        <p:txBody>
          <a:bodyPr wrap="square" lIns="0" tIns="0" rIns="0" bIns="0" rtlCol="0" anchor="t"/>
          <a:lstStyle/>
          <a:p>
            <a:pPr indent="0" marL="0">
              <a:buNone/>
            </a:pPr>
            <a:r>
              <a:rPr lang="en-US" sz="1050" dirty="0">
                <a:solidFill>
                  <a:srgbClr val="5B5B5B"/>
                </a:solidFill>
                <a:latin typeface="Arial" pitchFamily="34" charset="0"/>
                <a:ea typeface="Arial" pitchFamily="34" charset="-122"/>
                <a:cs typeface="Arial" pitchFamily="34" charset="-120"/>
              </a:rPr>
              <a:t>Begeleide verwerking: gebruiker corrigeert de velden in het reviewscherm</a:t>
            </a:r>
            <a:endParaRPr lang="en-US" sz="1050" dirty="0"/>
          </a:p>
        </p:txBody>
      </p:sp>
      <p:sp>
        <p:nvSpPr>
          <p:cNvPr id="10" name="Shape 8"/>
          <p:cNvSpPr/>
          <p:nvPr/>
        </p:nvSpPr>
        <p:spPr>
          <a:xfrm>
            <a:off x="4389120" y="1371600"/>
            <a:ext cx="420624" cy="420624"/>
          </a:xfrm>
          <a:prstGeom prst="ellipse">
            <a:avLst/>
          </a:prstGeom>
          <a:solidFill>
            <a:srgbClr val="86BC25"/>
          </a:solidFill>
          <a:ln w="12700">
            <a:solidFill>
              <a:srgbClr val="86BC25"/>
            </a:solidFill>
            <a:prstDash val="solid"/>
          </a:ln>
        </p:spPr>
      </p:sp>
      <p:sp>
        <p:nvSpPr>
          <p:cNvPr id="11" name="Text 9"/>
          <p:cNvSpPr/>
          <p:nvPr/>
        </p:nvSpPr>
        <p:spPr>
          <a:xfrm>
            <a:off x="4352544" y="1353312"/>
            <a:ext cx="493776"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2" name="Text 10"/>
          <p:cNvSpPr/>
          <p:nvPr/>
        </p:nvSpPr>
        <p:spPr>
          <a:xfrm>
            <a:off x="5779008" y="1389888"/>
            <a:ext cx="548640" cy="411480"/>
          </a:xfrm>
          <a:prstGeom prst="rect">
            <a:avLst/>
          </a:prstGeom>
          <a:noFill/>
          <a:ln/>
        </p:spPr>
        <p:txBody>
          <a:bodyPr wrap="square" lIns="0" tIns="0" rIns="0" bIns="0" rtlCol="0" anchor="ctr"/>
          <a:lstStyle/>
          <a:p>
            <a:pPr algn="ctr" indent="0" marL="0">
              <a:buNone/>
            </a:pPr>
            <a:r>
              <a:rPr lang="en-US" sz="2200" b="1" dirty="0">
                <a:solidFill>
                  <a:srgbClr val="86BC25"/>
                </a:solidFill>
                <a:latin typeface="Arial" pitchFamily="34" charset="0"/>
                <a:ea typeface="Arial" pitchFamily="34" charset="-122"/>
                <a:cs typeface="Arial" pitchFamily="34" charset="-120"/>
              </a:rPr>
              <a:t>→</a:t>
            </a:r>
            <a:endParaRPr lang="en-US" sz="2200" dirty="0"/>
          </a:p>
        </p:txBody>
      </p:sp>
      <p:sp>
        <p:nvSpPr>
          <p:cNvPr id="13" name="Shape 11"/>
          <p:cNvSpPr/>
          <p:nvPr/>
        </p:nvSpPr>
        <p:spPr>
          <a:xfrm>
            <a:off x="3291840" y="1965960"/>
            <a:ext cx="2651760" cy="1600200"/>
          </a:xfrm>
          <a:prstGeom prst="roundRect">
            <a:avLst>
              <a:gd name="adj" fmla="val 3429"/>
            </a:avLst>
          </a:prstGeom>
          <a:solidFill>
            <a:srgbClr val="F5F5F5"/>
          </a:solidFill>
          <a:ln w="9525">
            <a:solidFill>
              <a:srgbClr val="E3E3E3"/>
            </a:solidFill>
            <a:prstDash val="solid"/>
          </a:ln>
          <a:effectLst>
            <a:outerShdw sx="100000" sy="100000" kx="0" ky="0" algn="bl" rotWithShape="0" blurRad="76200" dist="25400" dir="2700000">
              <a:srgbClr val="000000">
                <a:alpha val="12000"/>
              </a:srgbClr>
            </a:outerShdw>
          </a:effectLst>
        </p:spPr>
      </p:sp>
      <p:sp>
        <p:nvSpPr>
          <p:cNvPr id="14" name="Text 12"/>
          <p:cNvSpPr/>
          <p:nvPr/>
        </p:nvSpPr>
        <p:spPr>
          <a:xfrm>
            <a:off x="3456432" y="2103120"/>
            <a:ext cx="2331720" cy="502920"/>
          </a:xfrm>
          <a:prstGeom prst="rect">
            <a:avLst/>
          </a:prstGeom>
          <a:noFill/>
          <a:ln/>
        </p:spPr>
        <p:txBody>
          <a:bodyPr wrap="square" lIns="0" tIns="0" rIns="0" bIns="0" rtlCol="0" anchor="t"/>
          <a:lstStyle/>
          <a:p>
            <a:pPr indent="0" marL="0">
              <a:buNone/>
            </a:pPr>
            <a:r>
              <a:rPr lang="en-US" sz="1250" b="1" dirty="0">
                <a:solidFill>
                  <a:srgbClr val="1A1A1A"/>
                </a:solidFill>
                <a:latin typeface="Arial" pitchFamily="34" charset="0"/>
                <a:ea typeface="Arial" pitchFamily="34" charset="-122"/>
                <a:cs typeface="Arial" pitchFamily="34" charset="-120"/>
              </a:rPr>
              <a:t>Correcties worden template</a:t>
            </a:r>
            <a:endParaRPr lang="en-US" sz="1250" dirty="0"/>
          </a:p>
        </p:txBody>
      </p:sp>
      <p:sp>
        <p:nvSpPr>
          <p:cNvPr id="15" name="Text 13"/>
          <p:cNvSpPr/>
          <p:nvPr/>
        </p:nvSpPr>
        <p:spPr>
          <a:xfrm>
            <a:off x="3456432" y="2633472"/>
            <a:ext cx="2331720" cy="868680"/>
          </a:xfrm>
          <a:prstGeom prst="rect">
            <a:avLst/>
          </a:prstGeom>
          <a:noFill/>
          <a:ln/>
        </p:spPr>
        <p:txBody>
          <a:bodyPr wrap="square" lIns="0" tIns="0" rIns="0" bIns="0" rtlCol="0" anchor="t"/>
          <a:lstStyle/>
          <a:p>
            <a:pPr indent="0" marL="0">
              <a:buNone/>
            </a:pPr>
            <a:r>
              <a:rPr lang="en-US" sz="1050" dirty="0">
                <a:solidFill>
                  <a:srgbClr val="5B5B5B"/>
                </a:solidFill>
                <a:latin typeface="Arial" pitchFamily="34" charset="0"/>
                <a:ea typeface="Arial" pitchFamily="34" charset="-122"/>
                <a:cs typeface="Arial" pitchFamily="34" charset="-120"/>
              </a:rPr>
              <a:t>Het systeem bewaart de mapping per documenttype, partij en layout</a:t>
            </a:r>
            <a:endParaRPr lang="en-US" sz="1050" dirty="0"/>
          </a:p>
        </p:txBody>
      </p:sp>
      <p:sp>
        <p:nvSpPr>
          <p:cNvPr id="16" name="Shape 14"/>
          <p:cNvSpPr/>
          <p:nvPr/>
        </p:nvSpPr>
        <p:spPr>
          <a:xfrm>
            <a:off x="7223760" y="1371600"/>
            <a:ext cx="420624" cy="420624"/>
          </a:xfrm>
          <a:prstGeom prst="ellipse">
            <a:avLst/>
          </a:prstGeom>
          <a:solidFill>
            <a:srgbClr val="86BC25"/>
          </a:solidFill>
          <a:ln w="12700">
            <a:solidFill>
              <a:srgbClr val="86BC25"/>
            </a:solidFill>
            <a:prstDash val="solid"/>
          </a:ln>
        </p:spPr>
      </p:sp>
      <p:sp>
        <p:nvSpPr>
          <p:cNvPr id="17" name="Text 15"/>
          <p:cNvSpPr/>
          <p:nvPr/>
        </p:nvSpPr>
        <p:spPr>
          <a:xfrm>
            <a:off x="7187184" y="1353312"/>
            <a:ext cx="493776"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8" name="Shape 16"/>
          <p:cNvSpPr/>
          <p:nvPr/>
        </p:nvSpPr>
        <p:spPr>
          <a:xfrm>
            <a:off x="6126480" y="1965960"/>
            <a:ext cx="2651760" cy="1600200"/>
          </a:xfrm>
          <a:prstGeom prst="roundRect">
            <a:avLst>
              <a:gd name="adj" fmla="val 3429"/>
            </a:avLst>
          </a:prstGeom>
          <a:solidFill>
            <a:srgbClr val="F5F5F5"/>
          </a:solidFill>
          <a:ln w="9525">
            <a:solidFill>
              <a:srgbClr val="E3E3E3"/>
            </a:solidFill>
            <a:prstDash val="solid"/>
          </a:ln>
          <a:effectLst>
            <a:outerShdw sx="100000" sy="100000" kx="0" ky="0" algn="bl" rotWithShape="0" blurRad="76200" dist="25400" dir="2700000">
              <a:srgbClr val="000000">
                <a:alpha val="12000"/>
              </a:srgbClr>
            </a:outerShdw>
          </a:effectLst>
        </p:spPr>
      </p:sp>
      <p:sp>
        <p:nvSpPr>
          <p:cNvPr id="19" name="Text 17"/>
          <p:cNvSpPr/>
          <p:nvPr/>
        </p:nvSpPr>
        <p:spPr>
          <a:xfrm>
            <a:off x="6291072" y="2103120"/>
            <a:ext cx="2331720" cy="502920"/>
          </a:xfrm>
          <a:prstGeom prst="rect">
            <a:avLst/>
          </a:prstGeom>
          <a:noFill/>
          <a:ln/>
        </p:spPr>
        <p:txBody>
          <a:bodyPr wrap="square" lIns="0" tIns="0" rIns="0" bIns="0" rtlCol="0" anchor="t"/>
          <a:lstStyle/>
          <a:p>
            <a:pPr indent="0" marL="0">
              <a:buNone/>
            </a:pPr>
            <a:r>
              <a:rPr lang="en-US" sz="1250" b="1" dirty="0">
                <a:solidFill>
                  <a:srgbClr val="1A1A1A"/>
                </a:solidFill>
                <a:latin typeface="Arial" pitchFamily="34" charset="0"/>
                <a:ea typeface="Arial" pitchFamily="34" charset="-122"/>
                <a:cs typeface="Arial" pitchFamily="34" charset="-120"/>
              </a:rPr>
              <a:t>Daarna automatisch</a:t>
            </a:r>
            <a:endParaRPr lang="en-US" sz="1250" dirty="0"/>
          </a:p>
        </p:txBody>
      </p:sp>
      <p:sp>
        <p:nvSpPr>
          <p:cNvPr id="20" name="Text 18"/>
          <p:cNvSpPr/>
          <p:nvPr/>
        </p:nvSpPr>
        <p:spPr>
          <a:xfrm>
            <a:off x="6291072" y="2633472"/>
            <a:ext cx="2331720" cy="868680"/>
          </a:xfrm>
          <a:prstGeom prst="rect">
            <a:avLst/>
          </a:prstGeom>
          <a:noFill/>
          <a:ln/>
        </p:spPr>
        <p:txBody>
          <a:bodyPr wrap="square" lIns="0" tIns="0" rIns="0" bIns="0" rtlCol="0" anchor="t"/>
          <a:lstStyle/>
          <a:p>
            <a:pPr indent="0" marL="0">
              <a:buNone/>
            </a:pPr>
            <a:r>
              <a:rPr lang="en-US" sz="1050" dirty="0">
                <a:solidFill>
                  <a:srgbClr val="5B5B5B"/>
                </a:solidFill>
                <a:latin typeface="Arial" pitchFamily="34" charset="0"/>
                <a:ea typeface="Arial" pitchFamily="34" charset="-122"/>
                <a:cs typeface="Arial" pitchFamily="34" charset="-120"/>
              </a:rPr>
              <a:t>Volgende documenten met dezelfde layout worden vlekkeloos gemapt</a:t>
            </a:r>
            <a:endParaRPr lang="en-US" sz="1050" dirty="0"/>
          </a:p>
        </p:txBody>
      </p:sp>
      <p:sp>
        <p:nvSpPr>
          <p:cNvPr id="21" name="Shape 19"/>
          <p:cNvSpPr/>
          <p:nvPr/>
        </p:nvSpPr>
        <p:spPr>
          <a:xfrm>
            <a:off x="457200" y="3840480"/>
            <a:ext cx="8229600" cy="685800"/>
          </a:xfrm>
          <a:prstGeom prst="roundRect">
            <a:avLst>
              <a:gd name="adj" fmla="val 8000"/>
            </a:avLst>
          </a:prstGeom>
          <a:solidFill>
            <a:srgbClr val="F3F8E9"/>
          </a:solidFill>
          <a:ln w="9525">
            <a:solidFill>
              <a:srgbClr val="E3E3E3"/>
            </a:solidFill>
            <a:prstDash val="solid"/>
          </a:ln>
          <a:effectLst>
            <a:outerShdw sx="100000" sy="100000" kx="0" ky="0" algn="bl" rotWithShape="0" blurRad="76200" dist="25400" dir="2700000">
              <a:srgbClr val="000000">
                <a:alpha val="12000"/>
              </a:srgbClr>
            </a:outerShdw>
          </a:effectLst>
        </p:spPr>
      </p:sp>
      <p:sp>
        <p:nvSpPr>
          <p:cNvPr id="22" name="Text 20"/>
          <p:cNvSpPr/>
          <p:nvPr/>
        </p:nvSpPr>
        <p:spPr>
          <a:xfrm>
            <a:off x="713232" y="3931920"/>
            <a:ext cx="7726680" cy="530352"/>
          </a:xfrm>
          <a:prstGeom prst="rect">
            <a:avLst/>
          </a:prstGeom>
          <a:noFill/>
          <a:ln/>
        </p:spPr>
        <p:txBody>
          <a:bodyPr wrap="square" lIns="0" tIns="0" rIns="0" bIns="0" rtlCol="0" anchor="ctr"/>
          <a:lstStyle/>
          <a:p>
            <a:pPr indent="0" marL="0">
              <a:buNone/>
            </a:pPr>
            <a:r>
              <a:rPr lang="en-US" sz="1100" dirty="0">
                <a:solidFill>
                  <a:srgbClr val="4C7016"/>
                </a:solidFill>
                <a:latin typeface="Arial" pitchFamily="34" charset="0"/>
                <a:ea typeface="Arial" pitchFamily="34" charset="-122"/>
                <a:cs typeface="Arial" pitchFamily="34" charset="-120"/>
              </a:rPr>
              <a:t>Expliciet en auditeerbaar, in tegenstelling tot het gesloten server-side leren van de factuur-OCR. Templatewijzigingen zijn geversioneerd en kunnen openstaande documenten herverwerken.</a:t>
            </a:r>
            <a:endParaRPr lang="en-US" sz="1100" dirty="0"/>
          </a:p>
        </p:txBody>
      </p:sp>
      <p:sp>
        <p:nvSpPr>
          <p:cNvPr id="23" name="Text 21"/>
          <p:cNvSpPr/>
          <p:nvPr/>
        </p:nvSpPr>
        <p:spPr>
          <a:xfrm>
            <a:off x="457200" y="4864608"/>
            <a:ext cx="3200400" cy="228600"/>
          </a:xfrm>
          <a:prstGeom prst="rect">
            <a:avLst/>
          </a:prstGeom>
          <a:noFill/>
          <a:ln/>
        </p:spPr>
        <p:txBody>
          <a:bodyPr wrap="square" lIns="0" tIns="0" rIns="0" bIns="0" rtlCol="0" anchor="ctr"/>
          <a:lstStyle/>
          <a:p>
            <a:pPr indent="0" marL="0">
              <a:buNone/>
            </a:pPr>
            <a:r>
              <a:rPr lang="en-US" sz="850" dirty="0">
                <a:solidFill>
                  <a:srgbClr val="9A9A9A"/>
                </a:solidFill>
                <a:latin typeface="Arial" pitchFamily="34" charset="0"/>
                <a:ea typeface="Arial" pitchFamily="34" charset="-122"/>
                <a:cs typeface="Arial" pitchFamily="34" charset="-120"/>
              </a:rPr>
              <a:t>Deloitte | Intern werkdocument</a:t>
            </a:r>
            <a:endParaRPr lang="en-US" sz="850" dirty="0"/>
          </a:p>
        </p:txBody>
      </p:sp>
      <p:sp>
        <p:nvSpPr>
          <p:cNvPr id="24" name="Text 22"/>
          <p:cNvSpPr/>
          <p:nvPr/>
        </p:nvSpPr>
        <p:spPr>
          <a:xfrm>
            <a:off x="8503920" y="4864608"/>
            <a:ext cx="274320" cy="228600"/>
          </a:xfrm>
          <a:prstGeom prst="rect">
            <a:avLst/>
          </a:prstGeom>
          <a:noFill/>
          <a:ln/>
        </p:spPr>
        <p:txBody>
          <a:bodyPr wrap="square" lIns="0" tIns="0" rIns="0" bIns="0" rtlCol="0" anchor="ctr"/>
          <a:lstStyle/>
          <a:p>
            <a:pPr algn="r" indent="0" marL="0">
              <a:buNone/>
            </a:pPr>
            <a:r>
              <a:rPr lang="en-US" sz="850" dirty="0">
                <a:solidFill>
                  <a:srgbClr val="9A9A9A"/>
                </a:solidFill>
                <a:latin typeface="Arial" pitchFamily="34" charset="0"/>
                <a:ea typeface="Arial" pitchFamily="34" charset="-122"/>
                <a:cs typeface="Arial" pitchFamily="34" charset="-120"/>
              </a:rPr>
              <a:t>11</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237744"/>
          </a:xfrm>
          <a:prstGeom prst="rect">
            <a:avLst/>
          </a:prstGeom>
          <a:noFill/>
          <a:ln/>
        </p:spPr>
        <p:txBody>
          <a:bodyPr wrap="square" lIns="0" tIns="0" rIns="0" bIns="0" rtlCol="0" anchor="ctr"/>
          <a:lstStyle/>
          <a:p>
            <a:pPr indent="0" marL="0">
              <a:buNone/>
            </a:pPr>
            <a:r>
              <a:rPr lang="en-US" sz="1050" b="1" spc="300" kern="0" dirty="0">
                <a:solidFill>
                  <a:srgbClr val="4C7016"/>
                </a:solidFill>
                <a:latin typeface="Arial" pitchFamily="34" charset="0"/>
                <a:ea typeface="Arial" pitchFamily="34" charset="-122"/>
                <a:cs typeface="Arial" pitchFamily="34" charset="-120"/>
              </a:rPr>
              <a:t>COMPLIANCE</a:t>
            </a:r>
            <a:endParaRPr lang="en-US" sz="1050" dirty="0"/>
          </a:p>
        </p:txBody>
      </p:sp>
      <p:sp>
        <p:nvSpPr>
          <p:cNvPr id="3" name="Text 1"/>
          <p:cNvSpPr/>
          <p:nvPr/>
        </p:nvSpPr>
        <p:spPr>
          <a:xfrm>
            <a:off x="457200" y="530352"/>
            <a:ext cx="8229600" cy="502920"/>
          </a:xfrm>
          <a:prstGeom prst="rect">
            <a:avLst/>
          </a:prstGeom>
          <a:noFill/>
          <a:ln/>
        </p:spPr>
        <p:txBody>
          <a:bodyPr wrap="square" lIns="0" tIns="0" rIns="0" bIns="0" rtlCol="0" anchor="ctr"/>
          <a:lstStyle/>
          <a:p>
            <a:pPr indent="0" marL="0">
              <a:buNone/>
            </a:pPr>
            <a:r>
              <a:rPr lang="en-US" sz="2300" b="1" dirty="0">
                <a:solidFill>
                  <a:srgbClr val="1A1A1A"/>
                </a:solidFill>
                <a:latin typeface="Arial" pitchFamily="34" charset="0"/>
                <a:ea typeface="Arial" pitchFamily="34" charset="-122"/>
                <a:cs typeface="Arial" pitchFamily="34" charset="-120"/>
              </a:rPr>
              <a:t>Elke uitslag krijgt een bewijsdossier</a:t>
            </a:r>
            <a:endParaRPr lang="en-US" sz="2300" dirty="0"/>
          </a:p>
        </p:txBody>
      </p:sp>
      <p:sp>
        <p:nvSpPr>
          <p:cNvPr id="4" name="Shape 2"/>
          <p:cNvSpPr/>
          <p:nvPr/>
        </p:nvSpPr>
        <p:spPr>
          <a:xfrm>
            <a:off x="457200" y="1325880"/>
            <a:ext cx="3840480" cy="2743200"/>
          </a:xfrm>
          <a:prstGeom prst="roundRect">
            <a:avLst>
              <a:gd name="adj" fmla="val 2000"/>
            </a:avLst>
          </a:prstGeom>
          <a:solidFill>
            <a:srgbClr val="F5F5F5"/>
          </a:solidFill>
          <a:ln w="9525">
            <a:solidFill>
              <a:srgbClr val="E3E3E3"/>
            </a:solidFill>
            <a:prstDash val="solid"/>
          </a:ln>
          <a:effectLst>
            <a:outerShdw sx="100000" sy="100000" kx="0" ky="0" algn="bl" rotWithShape="0" blurRad="76200" dist="25400" dir="2700000">
              <a:srgbClr val="000000">
                <a:alpha val="12000"/>
              </a:srgbClr>
            </a:outerShdw>
          </a:effectLst>
        </p:spPr>
      </p:sp>
      <p:sp>
        <p:nvSpPr>
          <p:cNvPr id="5" name="Text 3"/>
          <p:cNvSpPr/>
          <p:nvPr/>
        </p:nvSpPr>
        <p:spPr>
          <a:xfrm>
            <a:off x="685800" y="1463040"/>
            <a:ext cx="3383280" cy="274320"/>
          </a:xfrm>
          <a:prstGeom prst="rect">
            <a:avLst/>
          </a:prstGeom>
          <a:noFill/>
          <a:ln/>
        </p:spPr>
        <p:txBody>
          <a:bodyPr wrap="square" lIns="0" tIns="0" rIns="0" bIns="0" rtlCol="0" anchor="ctr"/>
          <a:lstStyle/>
          <a:p>
            <a:pPr indent="0" marL="0">
              <a:buNone/>
            </a:pPr>
            <a:r>
              <a:rPr lang="en-US" sz="1350" b="1" dirty="0">
                <a:solidFill>
                  <a:srgbClr val="1A1A1A"/>
                </a:solidFill>
                <a:latin typeface="Arial" pitchFamily="34" charset="0"/>
                <a:ea typeface="Arial" pitchFamily="34" charset="-122"/>
                <a:cs typeface="Arial" pitchFamily="34" charset="-120"/>
              </a:rPr>
              <a:t>VIES Check</a:t>
            </a:r>
            <a:endParaRPr lang="en-US" sz="1350" dirty="0"/>
          </a:p>
        </p:txBody>
      </p:sp>
      <p:sp>
        <p:nvSpPr>
          <p:cNvPr id="6" name="Text 4"/>
          <p:cNvSpPr/>
          <p:nvPr/>
        </p:nvSpPr>
        <p:spPr>
          <a:xfrm>
            <a:off x="685800" y="1828800"/>
            <a:ext cx="1188720" cy="365760"/>
          </a:xfrm>
          <a:prstGeom prst="rect">
            <a:avLst/>
          </a:prstGeom>
          <a:noFill/>
          <a:ln/>
        </p:spPr>
        <p:txBody>
          <a:bodyPr wrap="square" lIns="0" tIns="0" rIns="0" bIns="0" rtlCol="0" anchor="ctr"/>
          <a:lstStyle/>
          <a:p>
            <a:pPr indent="0" marL="0">
              <a:buNone/>
            </a:pPr>
            <a:r>
              <a:rPr lang="en-US" sz="1050" b="1" dirty="0">
                <a:solidFill>
                  <a:srgbClr val="5B5B5B"/>
                </a:solidFill>
                <a:latin typeface="Arial" pitchFamily="34" charset="0"/>
                <a:ea typeface="Arial" pitchFamily="34" charset="-122"/>
                <a:cs typeface="Arial" pitchFamily="34" charset="-120"/>
              </a:rPr>
              <a:t>Btw-nummer</a:t>
            </a:r>
            <a:endParaRPr lang="en-US" sz="1050" dirty="0"/>
          </a:p>
        </p:txBody>
      </p:sp>
      <p:sp>
        <p:nvSpPr>
          <p:cNvPr id="7" name="Text 5"/>
          <p:cNvSpPr/>
          <p:nvPr/>
        </p:nvSpPr>
        <p:spPr>
          <a:xfrm>
            <a:off x="1920240" y="1828800"/>
            <a:ext cx="2286000" cy="365760"/>
          </a:xfrm>
          <a:prstGeom prst="rect">
            <a:avLst/>
          </a:prstGeom>
          <a:noFill/>
          <a:ln/>
        </p:spPr>
        <p:txBody>
          <a:bodyPr wrap="square" lIns="0" tIns="0" rIns="0" bIns="0" rtlCol="0" anchor="ctr"/>
          <a:lstStyle/>
          <a:p>
            <a:pPr indent="0" marL="0">
              <a:buNone/>
            </a:pPr>
            <a:r>
              <a:rPr lang="en-US" sz="1050" dirty="0">
                <a:solidFill>
                  <a:srgbClr val="1A1A1A"/>
                </a:solidFill>
                <a:latin typeface="Arial" pitchFamily="34" charset="0"/>
                <a:ea typeface="Arial" pitchFamily="34" charset="-122"/>
                <a:cs typeface="Arial" pitchFamily="34" charset="-120"/>
              </a:rPr>
              <a:t>DE812345678</a:t>
            </a:r>
            <a:endParaRPr lang="en-US" sz="1050" dirty="0"/>
          </a:p>
        </p:txBody>
      </p:sp>
      <p:sp>
        <p:nvSpPr>
          <p:cNvPr id="8" name="Text 6"/>
          <p:cNvSpPr/>
          <p:nvPr/>
        </p:nvSpPr>
        <p:spPr>
          <a:xfrm>
            <a:off x="685800" y="2240280"/>
            <a:ext cx="1188720" cy="365760"/>
          </a:xfrm>
          <a:prstGeom prst="rect">
            <a:avLst/>
          </a:prstGeom>
          <a:noFill/>
          <a:ln/>
        </p:spPr>
        <p:txBody>
          <a:bodyPr wrap="square" lIns="0" tIns="0" rIns="0" bIns="0" rtlCol="0" anchor="ctr"/>
          <a:lstStyle/>
          <a:p>
            <a:pPr indent="0" marL="0">
              <a:buNone/>
            </a:pPr>
            <a:r>
              <a:rPr lang="en-US" sz="1050" b="1" dirty="0">
                <a:solidFill>
                  <a:srgbClr val="5B5B5B"/>
                </a:solidFill>
                <a:latin typeface="Arial" pitchFamily="34" charset="0"/>
                <a:ea typeface="Arial" pitchFamily="34" charset="-122"/>
                <a:cs typeface="Arial" pitchFamily="34" charset="-120"/>
              </a:rPr>
              <a:t>Tijdstip</a:t>
            </a:r>
            <a:endParaRPr lang="en-US" sz="1050" dirty="0"/>
          </a:p>
        </p:txBody>
      </p:sp>
      <p:sp>
        <p:nvSpPr>
          <p:cNvPr id="9" name="Text 7"/>
          <p:cNvSpPr/>
          <p:nvPr/>
        </p:nvSpPr>
        <p:spPr>
          <a:xfrm>
            <a:off x="1920240" y="2240280"/>
            <a:ext cx="2286000" cy="365760"/>
          </a:xfrm>
          <a:prstGeom prst="rect">
            <a:avLst/>
          </a:prstGeom>
          <a:noFill/>
          <a:ln/>
        </p:spPr>
        <p:txBody>
          <a:bodyPr wrap="square" lIns="0" tIns="0" rIns="0" bIns="0" rtlCol="0" anchor="ctr"/>
          <a:lstStyle/>
          <a:p>
            <a:pPr indent="0" marL="0">
              <a:buNone/>
            </a:pPr>
            <a:r>
              <a:rPr lang="en-US" sz="1050" dirty="0">
                <a:solidFill>
                  <a:srgbClr val="1A1A1A"/>
                </a:solidFill>
                <a:latin typeface="Arial" pitchFamily="34" charset="0"/>
                <a:ea typeface="Arial" pitchFamily="34" charset="-122"/>
                <a:cs typeface="Arial" pitchFamily="34" charset="-120"/>
              </a:rPr>
              <a:t>07-07-2026 14:32</a:t>
            </a:r>
            <a:endParaRPr lang="en-US" sz="1050" dirty="0"/>
          </a:p>
        </p:txBody>
      </p:sp>
      <p:sp>
        <p:nvSpPr>
          <p:cNvPr id="10" name="Text 8"/>
          <p:cNvSpPr/>
          <p:nvPr/>
        </p:nvSpPr>
        <p:spPr>
          <a:xfrm>
            <a:off x="685800" y="2651760"/>
            <a:ext cx="1188720" cy="365760"/>
          </a:xfrm>
          <a:prstGeom prst="rect">
            <a:avLst/>
          </a:prstGeom>
          <a:noFill/>
          <a:ln/>
        </p:spPr>
        <p:txBody>
          <a:bodyPr wrap="square" lIns="0" tIns="0" rIns="0" bIns="0" rtlCol="0" anchor="ctr"/>
          <a:lstStyle/>
          <a:p>
            <a:pPr indent="0" marL="0">
              <a:buNone/>
            </a:pPr>
            <a:r>
              <a:rPr lang="en-US" sz="1050" b="1" dirty="0">
                <a:solidFill>
                  <a:srgbClr val="5B5B5B"/>
                </a:solidFill>
                <a:latin typeface="Arial" pitchFamily="34" charset="0"/>
                <a:ea typeface="Arial" pitchFamily="34" charset="-122"/>
                <a:cs typeface="Arial" pitchFamily="34" charset="-120"/>
              </a:rPr>
              <a:t>Bron</a:t>
            </a:r>
            <a:endParaRPr lang="en-US" sz="1050" dirty="0"/>
          </a:p>
        </p:txBody>
      </p:sp>
      <p:sp>
        <p:nvSpPr>
          <p:cNvPr id="11" name="Text 9"/>
          <p:cNvSpPr/>
          <p:nvPr/>
        </p:nvSpPr>
        <p:spPr>
          <a:xfrm>
            <a:off x="1920240" y="2651760"/>
            <a:ext cx="2286000" cy="365760"/>
          </a:xfrm>
          <a:prstGeom prst="rect">
            <a:avLst/>
          </a:prstGeom>
          <a:noFill/>
          <a:ln/>
        </p:spPr>
        <p:txBody>
          <a:bodyPr wrap="square" lIns="0" tIns="0" rIns="0" bIns="0" rtlCol="0" anchor="ctr"/>
          <a:lstStyle/>
          <a:p>
            <a:pPr indent="0" marL="0">
              <a:buNone/>
            </a:pPr>
            <a:r>
              <a:rPr lang="en-US" sz="1050" dirty="0">
                <a:solidFill>
                  <a:srgbClr val="1A1A1A"/>
                </a:solidFill>
                <a:latin typeface="Arial" pitchFamily="34" charset="0"/>
                <a:ea typeface="Arial" pitchFamily="34" charset="-122"/>
                <a:cs typeface="Arial" pitchFamily="34" charset="-120"/>
              </a:rPr>
              <a:t>EU VIES + native Odoo-vlag</a:t>
            </a:r>
            <a:endParaRPr lang="en-US" sz="1050" dirty="0"/>
          </a:p>
        </p:txBody>
      </p:sp>
      <p:sp>
        <p:nvSpPr>
          <p:cNvPr id="12" name="Text 10"/>
          <p:cNvSpPr/>
          <p:nvPr/>
        </p:nvSpPr>
        <p:spPr>
          <a:xfrm>
            <a:off x="685800" y="3063240"/>
            <a:ext cx="1188720" cy="365760"/>
          </a:xfrm>
          <a:prstGeom prst="rect">
            <a:avLst/>
          </a:prstGeom>
          <a:noFill/>
          <a:ln/>
        </p:spPr>
        <p:txBody>
          <a:bodyPr wrap="square" lIns="0" tIns="0" rIns="0" bIns="0" rtlCol="0" anchor="ctr"/>
          <a:lstStyle/>
          <a:p>
            <a:pPr indent="0" marL="0">
              <a:buNone/>
            </a:pPr>
            <a:r>
              <a:rPr lang="en-US" sz="1050" b="1" dirty="0">
                <a:solidFill>
                  <a:srgbClr val="5B5B5B"/>
                </a:solidFill>
                <a:latin typeface="Arial" pitchFamily="34" charset="0"/>
                <a:ea typeface="Arial" pitchFamily="34" charset="-122"/>
                <a:cs typeface="Arial" pitchFamily="34" charset="-120"/>
              </a:rPr>
              <a:t>Bewijs</a:t>
            </a:r>
            <a:endParaRPr lang="en-US" sz="1050" dirty="0"/>
          </a:p>
        </p:txBody>
      </p:sp>
      <p:sp>
        <p:nvSpPr>
          <p:cNvPr id="13" name="Text 11"/>
          <p:cNvSpPr/>
          <p:nvPr/>
        </p:nvSpPr>
        <p:spPr>
          <a:xfrm>
            <a:off x="1920240" y="3063240"/>
            <a:ext cx="2286000" cy="365760"/>
          </a:xfrm>
          <a:prstGeom prst="rect">
            <a:avLst/>
          </a:prstGeom>
          <a:noFill/>
          <a:ln/>
        </p:spPr>
        <p:txBody>
          <a:bodyPr wrap="square" lIns="0" tIns="0" rIns="0" bIns="0" rtlCol="0" anchor="ctr"/>
          <a:lstStyle/>
          <a:p>
            <a:pPr indent="0" marL="0">
              <a:buNone/>
            </a:pPr>
            <a:r>
              <a:rPr lang="en-US" sz="1050" dirty="0">
                <a:solidFill>
                  <a:srgbClr val="1A1A1A"/>
                </a:solidFill>
                <a:latin typeface="Arial" pitchFamily="34" charset="0"/>
                <a:ea typeface="Arial" pitchFamily="34" charset="-122"/>
                <a:cs typeface="Arial" pitchFamily="34" charset="-120"/>
              </a:rPr>
              <a:t>PDF gearchiveerd bij het Exit Document</a:t>
            </a:r>
            <a:endParaRPr lang="en-US" sz="1050" dirty="0"/>
          </a:p>
        </p:txBody>
      </p:sp>
      <p:sp>
        <p:nvSpPr>
          <p:cNvPr id="14" name="Shape 12"/>
          <p:cNvSpPr/>
          <p:nvPr/>
        </p:nvSpPr>
        <p:spPr>
          <a:xfrm>
            <a:off x="685800" y="3566160"/>
            <a:ext cx="1234440" cy="365760"/>
          </a:xfrm>
          <a:prstGeom prst="roundRect">
            <a:avLst>
              <a:gd name="adj" fmla="val 50000"/>
            </a:avLst>
          </a:prstGeom>
          <a:solidFill>
            <a:srgbClr val="86BC25"/>
          </a:solidFill>
          <a:ln w="12700">
            <a:solidFill>
              <a:srgbClr val="333333"/>
            </a:solidFill>
            <a:prstDash val="solid"/>
          </a:ln>
        </p:spPr>
      </p:sp>
      <p:sp>
        <p:nvSpPr>
          <p:cNvPr id="15" name="Text 13"/>
          <p:cNvSpPr/>
          <p:nvPr/>
        </p:nvSpPr>
        <p:spPr>
          <a:xfrm>
            <a:off x="685800" y="3566160"/>
            <a:ext cx="123444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GELDIG</a:t>
            </a:r>
            <a:endParaRPr lang="en-US" sz="1100" dirty="0"/>
          </a:p>
        </p:txBody>
      </p:sp>
      <p:sp>
        <p:nvSpPr>
          <p:cNvPr id="16" name="Shape 14"/>
          <p:cNvSpPr/>
          <p:nvPr/>
        </p:nvSpPr>
        <p:spPr>
          <a:xfrm>
            <a:off x="4526280" y="1325880"/>
            <a:ext cx="4160520" cy="2743200"/>
          </a:xfrm>
          <a:prstGeom prst="roundRect">
            <a:avLst>
              <a:gd name="adj" fmla="val 2000"/>
            </a:avLst>
          </a:prstGeom>
          <a:solidFill>
            <a:srgbClr val="F5F5F5"/>
          </a:solidFill>
          <a:ln w="9525">
            <a:solidFill>
              <a:srgbClr val="E3E3E3"/>
            </a:solidFill>
            <a:prstDash val="solid"/>
          </a:ln>
          <a:effectLst>
            <a:outerShdw sx="100000" sy="100000" kx="0" ky="0" algn="bl" rotWithShape="0" blurRad="76200" dist="25400" dir="2700000">
              <a:srgbClr val="000000">
                <a:alpha val="12000"/>
              </a:srgbClr>
            </a:outerShdw>
          </a:effectLst>
        </p:spPr>
      </p:sp>
      <p:sp>
        <p:nvSpPr>
          <p:cNvPr id="17" name="Text 15"/>
          <p:cNvSpPr/>
          <p:nvPr/>
        </p:nvSpPr>
        <p:spPr>
          <a:xfrm>
            <a:off x="4754880" y="1463040"/>
            <a:ext cx="3657600" cy="274320"/>
          </a:xfrm>
          <a:prstGeom prst="rect">
            <a:avLst/>
          </a:prstGeom>
          <a:noFill/>
          <a:ln/>
        </p:spPr>
        <p:txBody>
          <a:bodyPr wrap="square" lIns="0" tIns="0" rIns="0" bIns="0" rtlCol="0" anchor="ctr"/>
          <a:lstStyle/>
          <a:p>
            <a:pPr indent="0" marL="0">
              <a:buNone/>
            </a:pPr>
            <a:r>
              <a:rPr lang="en-US" sz="1350" b="1" dirty="0">
                <a:solidFill>
                  <a:srgbClr val="1A1A1A"/>
                </a:solidFill>
                <a:latin typeface="Arial" pitchFamily="34" charset="0"/>
                <a:ea typeface="Arial" pitchFamily="34" charset="-122"/>
                <a:cs typeface="Arial" pitchFamily="34" charset="-120"/>
              </a:rPr>
              <a:t>Beslislogica (fragment)</a:t>
            </a:r>
            <a:endParaRPr lang="en-US" sz="13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754880" y="1828800"/>
          <a:ext cx="3703320" cy="914400"/>
        </p:xfrm>
        <a:graphic>
          <a:graphicData uri="http://schemas.openxmlformats.org/drawingml/2006/table">
            <a:tbl>
              <a:tblPr/>
              <a:tblGrid>
                <a:gridCol w="1325880"/>
                <a:gridCol w="640080"/>
                <a:gridCol w="960120"/>
                <a:gridCol w="777240"/>
              </a:tblGrid>
              <a:tr h="310896">
                <a:tc>
                  <a:txBody>
                    <a:bodyPr/>
                    <a:lstStyle/>
                    <a:p>
                      <a:pPr indent="0" marL="0">
                        <a:buNone/>
                      </a:pPr>
                      <a:r>
                        <a:rPr lang="en-US" sz="900" b="1" dirty="0">
                          <a:solidFill>
                            <a:srgbClr val="1A1A1A"/>
                          </a:solidFill>
                          <a:latin typeface="Arial" pitchFamily="34" charset="0"/>
                          <a:ea typeface="Arial" pitchFamily="34" charset="-122"/>
                          <a:cs typeface="Arial" pitchFamily="34" charset="-120"/>
                        </a:rPr>
                        <a:t>Scenario</a:t>
                      </a:r>
                      <a:endParaRPr lang="en-US" sz="900" dirty="0">
                        <a:latin typeface="Arial" charset="0"/>
                        <a:ea typeface="Arial" charset="0"/>
                        <a:cs typeface="Arial" charset="0"/>
                      </a:endParaRPr>
                    </a:p>
                  </a:txBody>
                  <a:tcPr marL="91440" marR="91440" marT="45720" marB="45720"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E7E7E7"/>
                    </a:solidFill>
                  </a:tcPr>
                </a:tc>
                <a:tc>
                  <a:txBody>
                    <a:bodyPr/>
                    <a:lstStyle/>
                    <a:p>
                      <a:pPr indent="0" marL="0">
                        <a:buNone/>
                      </a:pPr>
                      <a:r>
                        <a:rPr lang="en-US" sz="900" b="1" dirty="0">
                          <a:solidFill>
                            <a:srgbClr val="1A1A1A"/>
                          </a:solidFill>
                          <a:latin typeface="Arial" pitchFamily="34" charset="0"/>
                          <a:ea typeface="Arial" pitchFamily="34" charset="-122"/>
                          <a:cs typeface="Arial" pitchFamily="34" charset="-120"/>
                        </a:rPr>
                        <a:t>VIES</a:t>
                      </a:r>
                      <a:endParaRPr lang="en-US" sz="900" dirty="0">
                        <a:latin typeface="Arial" charset="0"/>
                        <a:ea typeface="Arial" charset="0"/>
                        <a:cs typeface="Arial" charset="0"/>
                      </a:endParaRPr>
                    </a:p>
                  </a:txBody>
                  <a:tcPr marL="91440" marR="91440" marT="45720" marB="45720"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E7E7E7"/>
                    </a:solidFill>
                  </a:tcPr>
                </a:tc>
                <a:tc>
                  <a:txBody>
                    <a:bodyPr/>
                    <a:lstStyle/>
                    <a:p>
                      <a:pPr indent="0" marL="0">
                        <a:buNone/>
                      </a:pPr>
                      <a:r>
                        <a:rPr lang="en-US" sz="900" b="1" dirty="0">
                          <a:solidFill>
                            <a:srgbClr val="1A1A1A"/>
                          </a:solidFill>
                          <a:latin typeface="Arial" pitchFamily="34" charset="0"/>
                          <a:ea typeface="Arial" pitchFamily="34" charset="-122"/>
                          <a:cs typeface="Arial" pitchFamily="34" charset="-120"/>
                        </a:rPr>
                        <a:t>Bestemming</a:t>
                      </a:r>
                      <a:endParaRPr lang="en-US" sz="900" dirty="0">
                        <a:latin typeface="Arial" charset="0"/>
                        <a:ea typeface="Arial" charset="0"/>
                        <a:cs typeface="Arial" charset="0"/>
                      </a:endParaRPr>
                    </a:p>
                  </a:txBody>
                  <a:tcPr marL="91440" marR="91440" marT="45720" marB="45720"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E7E7E7"/>
                    </a:solidFill>
                  </a:tcPr>
                </a:tc>
                <a:tc>
                  <a:txBody>
                    <a:bodyPr/>
                    <a:lstStyle/>
                    <a:p>
                      <a:pPr indent="0" marL="0">
                        <a:buNone/>
                      </a:pPr>
                      <a:r>
                        <a:rPr lang="en-US" sz="900" b="1" dirty="0">
                          <a:solidFill>
                            <a:srgbClr val="1A1A1A"/>
                          </a:solidFill>
                          <a:latin typeface="Arial" pitchFamily="34" charset="0"/>
                          <a:ea typeface="Arial" pitchFamily="34" charset="-122"/>
                          <a:cs typeface="Arial" pitchFamily="34" charset="-120"/>
                        </a:rPr>
                        <a:t>BTW Nota</a:t>
                      </a:r>
                      <a:endParaRPr lang="en-US" sz="900" dirty="0">
                        <a:latin typeface="Arial" charset="0"/>
                        <a:ea typeface="Arial" charset="0"/>
                        <a:cs typeface="Arial" charset="0"/>
                      </a:endParaRPr>
                    </a:p>
                  </a:txBody>
                  <a:tcPr marL="91440" marR="91440" marT="45720" marB="45720"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E7E7E7"/>
                    </a:solidFill>
                  </a:tcPr>
                </a:tc>
              </a:tr>
              <a:tr h="310896">
                <a:tc>
                  <a:txBody>
                    <a:bodyPr/>
                    <a:lstStyle/>
                    <a:p>
                      <a:pPr indent="0" marL="0">
                        <a:buNone/>
                      </a:pPr>
                      <a:r>
                        <a:rPr lang="en-US" sz="900" dirty="0">
                          <a:solidFill>
                            <a:srgbClr val="1A1A1A"/>
                          </a:solidFill>
                          <a:latin typeface="Arial" pitchFamily="34" charset="0"/>
                          <a:ea typeface="Arial" pitchFamily="34" charset="-122"/>
                          <a:cs typeface="Arial" pitchFamily="34" charset="-120"/>
                        </a:rPr>
                        <a:t>IC-levering (EU)</a:t>
                      </a:r>
                      <a:endParaRPr lang="en-US" sz="900" dirty="0">
                        <a:latin typeface="Arial" charset="0"/>
                        <a:ea typeface="Arial" charset="0"/>
                        <a:cs typeface="Arial" charset="0"/>
                      </a:endParaRPr>
                    </a:p>
                  </a:txBody>
                  <a:tcPr marL="91440" marR="91440" marT="45720" marB="45720"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900" dirty="0">
                          <a:solidFill>
                            <a:srgbClr val="1A1A1A"/>
                          </a:solidFill>
                          <a:latin typeface="Arial" pitchFamily="34" charset="0"/>
                          <a:ea typeface="Arial" pitchFamily="34" charset="-122"/>
                          <a:cs typeface="Arial" pitchFamily="34" charset="-120"/>
                        </a:rPr>
                        <a:t>Ja</a:t>
                      </a:r>
                      <a:endParaRPr lang="en-US" sz="900" dirty="0">
                        <a:latin typeface="Arial" charset="0"/>
                        <a:ea typeface="Arial" charset="0"/>
                        <a:cs typeface="Arial" charset="0"/>
                      </a:endParaRPr>
                    </a:p>
                  </a:txBody>
                  <a:tcPr marL="91440" marR="91440" marT="45720" marB="45720"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900" dirty="0">
                          <a:solidFill>
                            <a:srgbClr val="1A1A1A"/>
                          </a:solidFill>
                          <a:latin typeface="Arial" pitchFamily="34" charset="0"/>
                          <a:ea typeface="Arial" pitchFamily="34" charset="-122"/>
                          <a:cs typeface="Arial" pitchFamily="34" charset="-120"/>
                        </a:rPr>
                        <a:t>Indien bewijs</a:t>
                      </a:r>
                      <a:endParaRPr lang="en-US" sz="900" dirty="0">
                        <a:latin typeface="Arial" charset="0"/>
                        <a:ea typeface="Arial" charset="0"/>
                        <a:cs typeface="Arial" charset="0"/>
                      </a:endParaRPr>
                    </a:p>
                  </a:txBody>
                  <a:tcPr marL="91440" marR="91440" marT="45720" marB="45720"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900" dirty="0">
                          <a:solidFill>
                            <a:srgbClr val="1A1A1A"/>
                          </a:solidFill>
                          <a:latin typeface="Arial" pitchFamily="34" charset="0"/>
                          <a:ea typeface="Arial" pitchFamily="34" charset="-122"/>
                          <a:cs typeface="Arial" pitchFamily="34" charset="-120"/>
                        </a:rPr>
                        <a:t>Beleid</a:t>
                      </a:r>
                      <a:endParaRPr lang="en-US" sz="900" dirty="0">
                        <a:latin typeface="Arial" charset="0"/>
                        <a:ea typeface="Arial" charset="0"/>
                        <a:cs typeface="Arial" charset="0"/>
                      </a:endParaRPr>
                    </a:p>
                  </a:txBody>
                  <a:tcPr marL="91440" marR="91440" marT="45720" marB="45720"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310896">
                <a:tc>
                  <a:txBody>
                    <a:bodyPr/>
                    <a:lstStyle/>
                    <a:p>
                      <a:pPr indent="0" marL="0">
                        <a:buNone/>
                      </a:pPr>
                      <a:r>
                        <a:rPr lang="en-US" sz="900" dirty="0">
                          <a:solidFill>
                            <a:srgbClr val="1A1A1A"/>
                          </a:solidFill>
                          <a:latin typeface="Arial" pitchFamily="34" charset="0"/>
                          <a:ea typeface="Arial" pitchFamily="34" charset="-122"/>
                          <a:cs typeface="Arial" pitchFamily="34" charset="-120"/>
                        </a:rPr>
                        <a:t>Uitvoer buiten EU</a:t>
                      </a:r>
                      <a:endParaRPr lang="en-US" sz="900" dirty="0">
                        <a:latin typeface="Arial" charset="0"/>
                        <a:ea typeface="Arial" charset="0"/>
                        <a:cs typeface="Arial" charset="0"/>
                      </a:endParaRPr>
                    </a:p>
                  </a:txBody>
                  <a:tcPr marL="91440" marR="91440" marT="45720" marB="45720"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900" dirty="0">
                          <a:solidFill>
                            <a:srgbClr val="1A1A1A"/>
                          </a:solidFill>
                          <a:latin typeface="Arial" pitchFamily="34" charset="0"/>
                          <a:ea typeface="Arial" pitchFamily="34" charset="-122"/>
                          <a:cs typeface="Arial" pitchFamily="34" charset="-120"/>
                        </a:rPr>
                        <a:t>Nee</a:t>
                      </a:r>
                      <a:endParaRPr lang="en-US" sz="900" dirty="0">
                        <a:latin typeface="Arial" charset="0"/>
                        <a:ea typeface="Arial" charset="0"/>
                        <a:cs typeface="Arial" charset="0"/>
                      </a:endParaRPr>
                    </a:p>
                  </a:txBody>
                  <a:tcPr marL="91440" marR="91440" marT="45720" marB="45720"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900" dirty="0">
                          <a:solidFill>
                            <a:srgbClr val="1A1A1A"/>
                          </a:solidFill>
                          <a:latin typeface="Arial" pitchFamily="34" charset="0"/>
                          <a:ea typeface="Arial" pitchFamily="34" charset="-122"/>
                          <a:cs typeface="Arial" pitchFamily="34" charset="-120"/>
                        </a:rPr>
                        <a:t>Nee</a:t>
                      </a:r>
                      <a:endParaRPr lang="en-US" sz="900" dirty="0">
                        <a:latin typeface="Arial" charset="0"/>
                        <a:ea typeface="Arial" charset="0"/>
                        <a:cs typeface="Arial" charset="0"/>
                      </a:endParaRPr>
                    </a:p>
                  </a:txBody>
                  <a:tcPr marL="91440" marR="91440" marT="45720" marB="45720"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900" dirty="0">
                          <a:solidFill>
                            <a:srgbClr val="1A1A1A"/>
                          </a:solidFill>
                          <a:latin typeface="Arial" pitchFamily="34" charset="0"/>
                          <a:ea typeface="Arial" pitchFamily="34" charset="-122"/>
                          <a:cs typeface="Arial" pitchFamily="34" charset="-120"/>
                        </a:rPr>
                        <a:t>Beleid</a:t>
                      </a:r>
                      <a:endParaRPr lang="en-US" sz="900" dirty="0">
                        <a:latin typeface="Arial" charset="0"/>
                        <a:ea typeface="Arial" charset="0"/>
                        <a:cs typeface="Arial" charset="0"/>
                      </a:endParaRPr>
                    </a:p>
                  </a:txBody>
                  <a:tcPr marL="91440" marR="91440" marT="45720" marB="45720"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310896">
                <a:tc>
                  <a:txBody>
                    <a:bodyPr/>
                    <a:lstStyle/>
                    <a:p>
                      <a:pPr indent="0" marL="0">
                        <a:buNone/>
                      </a:pPr>
                      <a:r>
                        <a:rPr lang="en-US" sz="900" dirty="0">
                          <a:solidFill>
                            <a:srgbClr val="1A1A1A"/>
                          </a:solidFill>
                          <a:latin typeface="Arial" pitchFamily="34" charset="0"/>
                          <a:ea typeface="Arial" pitchFamily="34" charset="-122"/>
                          <a:cs typeface="Arial" pitchFamily="34" charset="-120"/>
                        </a:rPr>
                        <a:t>Binnenlands</a:t>
                      </a:r>
                      <a:endParaRPr lang="en-US" sz="900" dirty="0">
                        <a:latin typeface="Arial" charset="0"/>
                        <a:ea typeface="Arial" charset="0"/>
                        <a:cs typeface="Arial" charset="0"/>
                      </a:endParaRPr>
                    </a:p>
                  </a:txBody>
                  <a:tcPr marL="91440" marR="91440" marT="45720" marB="45720"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900" dirty="0">
                          <a:solidFill>
                            <a:srgbClr val="1A1A1A"/>
                          </a:solidFill>
                          <a:latin typeface="Arial" pitchFamily="34" charset="0"/>
                          <a:ea typeface="Arial" pitchFamily="34" charset="-122"/>
                          <a:cs typeface="Arial" pitchFamily="34" charset="-120"/>
                        </a:rPr>
                        <a:t>Nee</a:t>
                      </a:r>
                      <a:endParaRPr lang="en-US" sz="900" dirty="0">
                        <a:latin typeface="Arial" charset="0"/>
                        <a:ea typeface="Arial" charset="0"/>
                        <a:cs typeface="Arial" charset="0"/>
                      </a:endParaRPr>
                    </a:p>
                  </a:txBody>
                  <a:tcPr marL="91440" marR="91440" marT="45720" marB="45720"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900" dirty="0">
                          <a:solidFill>
                            <a:srgbClr val="1A1A1A"/>
                          </a:solidFill>
                          <a:latin typeface="Arial" pitchFamily="34" charset="0"/>
                          <a:ea typeface="Arial" pitchFamily="34" charset="-122"/>
                          <a:cs typeface="Arial" pitchFamily="34" charset="-120"/>
                        </a:rPr>
                        <a:t>Nee</a:t>
                      </a:r>
                      <a:endParaRPr lang="en-US" sz="900" dirty="0">
                        <a:latin typeface="Arial" charset="0"/>
                        <a:ea typeface="Arial" charset="0"/>
                        <a:cs typeface="Arial" charset="0"/>
                      </a:endParaRPr>
                    </a:p>
                  </a:txBody>
                  <a:tcPr marL="91440" marR="91440" marT="45720" marB="45720"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900" dirty="0">
                          <a:solidFill>
                            <a:srgbClr val="1A1A1A"/>
                          </a:solidFill>
                          <a:latin typeface="Arial" pitchFamily="34" charset="0"/>
                          <a:ea typeface="Arial" pitchFamily="34" charset="-122"/>
                          <a:cs typeface="Arial" pitchFamily="34" charset="-120"/>
                        </a:rPr>
                        <a:t>Mogelijk</a:t>
                      </a:r>
                      <a:endParaRPr lang="en-US" sz="900" dirty="0">
                        <a:latin typeface="Arial" charset="0"/>
                        <a:ea typeface="Arial" charset="0"/>
                        <a:cs typeface="Arial" charset="0"/>
                      </a:endParaRPr>
                    </a:p>
                  </a:txBody>
                  <a:tcPr marL="91440" marR="91440" marT="45720" marB="45720"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bl>
          </a:graphicData>
        </a:graphic>
      </p:graphicFrame>
      <p:sp>
        <p:nvSpPr>
          <p:cNvPr id="19" name="Text 16"/>
          <p:cNvSpPr/>
          <p:nvPr/>
        </p:nvSpPr>
        <p:spPr>
          <a:xfrm>
            <a:off x="4754880" y="3611880"/>
            <a:ext cx="3749040" cy="274320"/>
          </a:xfrm>
          <a:prstGeom prst="rect">
            <a:avLst/>
          </a:prstGeom>
          <a:noFill/>
          <a:ln/>
        </p:spPr>
        <p:txBody>
          <a:bodyPr wrap="square" lIns="0" tIns="0" rIns="0" bIns="0" rtlCol="0" anchor="ctr"/>
          <a:lstStyle/>
          <a:p>
            <a:pPr indent="0" marL="0">
              <a:buNone/>
            </a:pPr>
            <a:r>
              <a:rPr lang="en-US" sz="950" i="1" dirty="0">
                <a:solidFill>
                  <a:srgbClr val="5B5B5B"/>
                </a:solidFill>
                <a:latin typeface="Arial" pitchFamily="34" charset="0"/>
                <a:ea typeface="Arial" pitchFamily="34" charset="-122"/>
                <a:cs typeface="Arial" pitchFamily="34" charset="-120"/>
              </a:rPr>
              <a:t>Regels zijn data-gedreven configureerbaar.</a:t>
            </a:r>
            <a:endParaRPr lang="en-US" sz="950" dirty="0"/>
          </a:p>
        </p:txBody>
      </p:sp>
      <p:sp>
        <p:nvSpPr>
          <p:cNvPr id="20" name="Shape 17"/>
          <p:cNvSpPr/>
          <p:nvPr/>
        </p:nvSpPr>
        <p:spPr>
          <a:xfrm>
            <a:off x="457200" y="4206240"/>
            <a:ext cx="8229600" cy="548640"/>
          </a:xfrm>
          <a:prstGeom prst="roundRect">
            <a:avLst>
              <a:gd name="adj" fmla="val 10000"/>
            </a:avLst>
          </a:prstGeom>
          <a:solidFill>
            <a:srgbClr val="F3F8E9"/>
          </a:solidFill>
          <a:ln w="9525">
            <a:solidFill>
              <a:srgbClr val="E3E3E3"/>
            </a:solidFill>
            <a:prstDash val="solid"/>
          </a:ln>
          <a:effectLst>
            <a:outerShdw sx="100000" sy="100000" kx="0" ky="0" algn="bl" rotWithShape="0" blurRad="76200" dist="25400" dir="2700000">
              <a:srgbClr val="000000">
                <a:alpha val="12000"/>
              </a:srgbClr>
            </a:outerShdw>
          </a:effectLst>
        </p:spPr>
      </p:sp>
      <p:sp>
        <p:nvSpPr>
          <p:cNvPr id="21" name="Text 18"/>
          <p:cNvSpPr/>
          <p:nvPr/>
        </p:nvSpPr>
        <p:spPr>
          <a:xfrm>
            <a:off x="713232" y="4261104"/>
            <a:ext cx="7726680" cy="438912"/>
          </a:xfrm>
          <a:prstGeom prst="rect">
            <a:avLst/>
          </a:prstGeom>
          <a:noFill/>
          <a:ln/>
        </p:spPr>
        <p:txBody>
          <a:bodyPr wrap="square" lIns="0" tIns="0" rIns="0" bIns="0" rtlCol="0" anchor="ctr"/>
          <a:lstStyle/>
          <a:p>
            <a:pPr indent="0" marL="0">
              <a:buNone/>
            </a:pPr>
            <a:r>
              <a:rPr lang="en-US" sz="1050" dirty="0">
                <a:solidFill>
                  <a:srgbClr val="4C7016"/>
                </a:solidFill>
                <a:latin typeface="Arial" pitchFamily="34" charset="0"/>
                <a:ea typeface="Arial" pitchFamily="34" charset="-122"/>
                <a:cs typeface="Arial" pitchFamily="34" charset="-120"/>
              </a:rPr>
              <a:t>Alle fiscale regels staan in het rapport gemarkeerd als te valideren door het btw-team; pas daarna wordt een pad automatisch.</a:t>
            </a:r>
            <a:endParaRPr lang="en-US" sz="1050" dirty="0"/>
          </a:p>
        </p:txBody>
      </p:sp>
      <p:sp>
        <p:nvSpPr>
          <p:cNvPr id="22" name="Text 19"/>
          <p:cNvSpPr/>
          <p:nvPr/>
        </p:nvSpPr>
        <p:spPr>
          <a:xfrm>
            <a:off x="457200" y="4864608"/>
            <a:ext cx="3200400" cy="228600"/>
          </a:xfrm>
          <a:prstGeom prst="rect">
            <a:avLst/>
          </a:prstGeom>
          <a:noFill/>
          <a:ln/>
        </p:spPr>
        <p:txBody>
          <a:bodyPr wrap="square" lIns="0" tIns="0" rIns="0" bIns="0" rtlCol="0" anchor="ctr"/>
          <a:lstStyle/>
          <a:p>
            <a:pPr indent="0" marL="0">
              <a:buNone/>
            </a:pPr>
            <a:r>
              <a:rPr lang="en-US" sz="850" dirty="0">
                <a:solidFill>
                  <a:srgbClr val="9A9A9A"/>
                </a:solidFill>
                <a:latin typeface="Arial" pitchFamily="34" charset="0"/>
                <a:ea typeface="Arial" pitchFamily="34" charset="-122"/>
                <a:cs typeface="Arial" pitchFamily="34" charset="-120"/>
              </a:rPr>
              <a:t>Deloitte | Intern werkdocument</a:t>
            </a:r>
            <a:endParaRPr lang="en-US" sz="850" dirty="0"/>
          </a:p>
        </p:txBody>
      </p:sp>
      <p:sp>
        <p:nvSpPr>
          <p:cNvPr id="23" name="Text 20"/>
          <p:cNvSpPr/>
          <p:nvPr/>
        </p:nvSpPr>
        <p:spPr>
          <a:xfrm>
            <a:off x="8503920" y="4864608"/>
            <a:ext cx="274320" cy="228600"/>
          </a:xfrm>
          <a:prstGeom prst="rect">
            <a:avLst/>
          </a:prstGeom>
          <a:noFill/>
          <a:ln/>
        </p:spPr>
        <p:txBody>
          <a:bodyPr wrap="square" lIns="0" tIns="0" rIns="0" bIns="0" rtlCol="0" anchor="ctr"/>
          <a:lstStyle/>
          <a:p>
            <a:pPr algn="r" indent="0" marL="0">
              <a:buNone/>
            </a:pPr>
            <a:r>
              <a:rPr lang="en-US" sz="850" dirty="0">
                <a:solidFill>
                  <a:srgbClr val="9A9A9A"/>
                </a:solidFill>
                <a:latin typeface="Arial" pitchFamily="34" charset="0"/>
                <a:ea typeface="Arial" pitchFamily="34" charset="-122"/>
                <a:cs typeface="Arial" pitchFamily="34" charset="-120"/>
              </a:rPr>
              <a:t>12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237744"/>
          </a:xfrm>
          <a:prstGeom prst="rect">
            <a:avLst/>
          </a:prstGeom>
          <a:noFill/>
          <a:ln/>
        </p:spPr>
        <p:txBody>
          <a:bodyPr wrap="square" lIns="0" tIns="0" rIns="0" bIns="0" rtlCol="0" anchor="ctr"/>
          <a:lstStyle/>
          <a:p>
            <a:pPr indent="0" marL="0">
              <a:buNone/>
            </a:pPr>
            <a:r>
              <a:rPr lang="en-US" sz="1050" b="1" spc="300" kern="0" dirty="0">
                <a:solidFill>
                  <a:srgbClr val="4C7016"/>
                </a:solidFill>
                <a:latin typeface="Arial" pitchFamily="34" charset="0"/>
                <a:ea typeface="Arial" pitchFamily="34" charset="-122"/>
                <a:cs typeface="Arial" pitchFamily="34" charset="-120"/>
              </a:rPr>
              <a:t>DEMO</a:t>
            </a:r>
            <a:endParaRPr lang="en-US" sz="1050" dirty="0"/>
          </a:p>
        </p:txBody>
      </p:sp>
      <p:sp>
        <p:nvSpPr>
          <p:cNvPr id="3" name="Text 1"/>
          <p:cNvSpPr/>
          <p:nvPr/>
        </p:nvSpPr>
        <p:spPr>
          <a:xfrm>
            <a:off x="457200" y="530352"/>
            <a:ext cx="8229600" cy="502920"/>
          </a:xfrm>
          <a:prstGeom prst="rect">
            <a:avLst/>
          </a:prstGeom>
          <a:noFill/>
          <a:ln/>
        </p:spPr>
        <p:txBody>
          <a:bodyPr wrap="square" lIns="0" tIns="0" rIns="0" bIns="0" rtlCol="0" anchor="ctr"/>
          <a:lstStyle/>
          <a:p>
            <a:pPr indent="0" marL="0">
              <a:buNone/>
            </a:pPr>
            <a:r>
              <a:rPr lang="en-US" sz="2300" b="1" dirty="0">
                <a:solidFill>
                  <a:srgbClr val="1A1A1A"/>
                </a:solidFill>
                <a:latin typeface="Arial" pitchFamily="34" charset="0"/>
                <a:ea typeface="Arial" pitchFamily="34" charset="-122"/>
                <a:cs typeface="Arial" pitchFamily="34" charset="-120"/>
              </a:rPr>
              <a:t>Dit tonen we live</a:t>
            </a:r>
            <a:endParaRPr lang="en-US" sz="2300" dirty="0"/>
          </a:p>
        </p:txBody>
      </p:sp>
      <p:sp>
        <p:nvSpPr>
          <p:cNvPr id="4" name="Shape 2"/>
          <p:cNvSpPr/>
          <p:nvPr/>
        </p:nvSpPr>
        <p:spPr>
          <a:xfrm>
            <a:off x="1024128" y="1417320"/>
            <a:ext cx="402336" cy="402336"/>
          </a:xfrm>
          <a:prstGeom prst="ellipse">
            <a:avLst/>
          </a:prstGeom>
          <a:solidFill>
            <a:srgbClr val="86BC25"/>
          </a:solidFill>
          <a:ln w="12700">
            <a:solidFill>
              <a:srgbClr val="86BC25"/>
            </a:solidFill>
            <a:prstDash val="solid"/>
          </a:ln>
        </p:spPr>
      </p:sp>
      <p:sp>
        <p:nvSpPr>
          <p:cNvPr id="5" name="Text 3"/>
          <p:cNvSpPr/>
          <p:nvPr/>
        </p:nvSpPr>
        <p:spPr>
          <a:xfrm>
            <a:off x="987552" y="1399032"/>
            <a:ext cx="475488"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6" name="Shape 4"/>
          <p:cNvSpPr/>
          <p:nvPr/>
        </p:nvSpPr>
        <p:spPr>
          <a:xfrm>
            <a:off x="457200" y="2011680"/>
            <a:ext cx="1554480" cy="1965960"/>
          </a:xfrm>
          <a:prstGeom prst="roundRect">
            <a:avLst>
              <a:gd name="adj" fmla="val 3529"/>
            </a:avLst>
          </a:prstGeom>
          <a:solidFill>
            <a:srgbClr val="F5F5F5"/>
          </a:solidFill>
          <a:ln w="9525">
            <a:solidFill>
              <a:srgbClr val="E3E3E3"/>
            </a:solidFill>
            <a:prstDash val="solid"/>
          </a:ln>
          <a:effectLst>
            <a:outerShdw sx="100000" sy="100000" kx="0" ky="0" algn="bl" rotWithShape="0" blurRad="76200" dist="25400" dir="2700000">
              <a:srgbClr val="000000">
                <a:alpha val="12000"/>
              </a:srgbClr>
            </a:outerShdw>
          </a:effectLst>
        </p:spPr>
      </p:sp>
      <p:sp>
        <p:nvSpPr>
          <p:cNvPr id="7" name="Text 5"/>
          <p:cNvSpPr/>
          <p:nvPr/>
        </p:nvSpPr>
        <p:spPr>
          <a:xfrm>
            <a:off x="566928" y="2139696"/>
            <a:ext cx="1335024" cy="566928"/>
          </a:xfrm>
          <a:prstGeom prst="rect">
            <a:avLst/>
          </a:prstGeom>
          <a:noFill/>
          <a:ln/>
        </p:spPr>
        <p:txBody>
          <a:bodyPr wrap="square" lIns="0" tIns="0" rIns="0" bIns="0" rtlCol="0" anchor="t"/>
          <a:lstStyle/>
          <a:p>
            <a:pPr indent="0" marL="0">
              <a:buNone/>
            </a:pPr>
            <a:r>
              <a:rPr lang="en-US" sz="1150" b="1" dirty="0">
                <a:solidFill>
                  <a:srgbClr val="1A1A1A"/>
                </a:solidFill>
                <a:latin typeface="Arial" pitchFamily="34" charset="0"/>
                <a:ea typeface="Arial" pitchFamily="34" charset="-122"/>
                <a:cs typeface="Arial" pitchFamily="34" charset="-120"/>
              </a:rPr>
              <a:t>Upload 796.6</a:t>
            </a:r>
            <a:endParaRPr lang="en-US" sz="1150" dirty="0"/>
          </a:p>
        </p:txBody>
      </p:sp>
      <p:sp>
        <p:nvSpPr>
          <p:cNvPr id="8" name="Text 6"/>
          <p:cNvSpPr/>
          <p:nvPr/>
        </p:nvSpPr>
        <p:spPr>
          <a:xfrm>
            <a:off x="566928" y="2743200"/>
            <a:ext cx="1335024" cy="1143000"/>
          </a:xfrm>
          <a:prstGeom prst="rect">
            <a:avLst/>
          </a:prstGeom>
          <a:noFill/>
          <a:ln/>
        </p:spPr>
        <p:txBody>
          <a:bodyPr wrap="square" lIns="0" tIns="0" rIns="0" bIns="0" rtlCol="0" anchor="t"/>
          <a:lstStyle/>
          <a:p>
            <a:pPr indent="0" marL="0">
              <a:buNone/>
            </a:pPr>
            <a:r>
              <a:rPr lang="en-US" sz="950" dirty="0">
                <a:solidFill>
                  <a:srgbClr val="5B5B5B"/>
                </a:solidFill>
                <a:latin typeface="Arial" pitchFamily="34" charset="0"/>
                <a:ea typeface="Arial" pitchFamily="34" charset="-122"/>
                <a:cs typeface="Arial" pitchFamily="34" charset="-120"/>
              </a:rPr>
              <a:t>Echt, geanonimiseerd voorbeelddocument</a:t>
            </a:r>
            <a:endParaRPr lang="en-US" sz="950" dirty="0"/>
          </a:p>
        </p:txBody>
      </p:sp>
      <p:sp>
        <p:nvSpPr>
          <p:cNvPr id="9" name="Shape 7"/>
          <p:cNvSpPr/>
          <p:nvPr/>
        </p:nvSpPr>
        <p:spPr>
          <a:xfrm>
            <a:off x="2724912" y="1417320"/>
            <a:ext cx="402336" cy="402336"/>
          </a:xfrm>
          <a:prstGeom prst="ellipse">
            <a:avLst/>
          </a:prstGeom>
          <a:solidFill>
            <a:srgbClr val="86BC25"/>
          </a:solidFill>
          <a:ln w="12700">
            <a:solidFill>
              <a:srgbClr val="86BC25"/>
            </a:solidFill>
            <a:prstDash val="solid"/>
          </a:ln>
        </p:spPr>
      </p:sp>
      <p:sp>
        <p:nvSpPr>
          <p:cNvPr id="10" name="Text 8"/>
          <p:cNvSpPr/>
          <p:nvPr/>
        </p:nvSpPr>
        <p:spPr>
          <a:xfrm>
            <a:off x="2688336" y="1399032"/>
            <a:ext cx="475488"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Shape 9"/>
          <p:cNvSpPr/>
          <p:nvPr/>
        </p:nvSpPr>
        <p:spPr>
          <a:xfrm>
            <a:off x="2157984" y="2011680"/>
            <a:ext cx="1554480" cy="1965960"/>
          </a:xfrm>
          <a:prstGeom prst="roundRect">
            <a:avLst>
              <a:gd name="adj" fmla="val 3529"/>
            </a:avLst>
          </a:prstGeom>
          <a:solidFill>
            <a:srgbClr val="F5F5F5"/>
          </a:solidFill>
          <a:ln w="9525">
            <a:solidFill>
              <a:srgbClr val="E3E3E3"/>
            </a:solidFill>
            <a:prstDash val="solid"/>
          </a:ln>
          <a:effectLst>
            <a:outerShdw sx="100000" sy="100000" kx="0" ky="0" algn="bl" rotWithShape="0" blurRad="76200" dist="25400" dir="2700000">
              <a:srgbClr val="000000">
                <a:alpha val="12000"/>
              </a:srgbClr>
            </a:outerShdw>
          </a:effectLst>
        </p:spPr>
      </p:sp>
      <p:sp>
        <p:nvSpPr>
          <p:cNvPr id="12" name="Text 10"/>
          <p:cNvSpPr/>
          <p:nvPr/>
        </p:nvSpPr>
        <p:spPr>
          <a:xfrm>
            <a:off x="2267712" y="2139696"/>
            <a:ext cx="1335024" cy="566928"/>
          </a:xfrm>
          <a:prstGeom prst="rect">
            <a:avLst/>
          </a:prstGeom>
          <a:noFill/>
          <a:ln/>
        </p:spPr>
        <p:txBody>
          <a:bodyPr wrap="square" lIns="0" tIns="0" rIns="0" bIns="0" rtlCol="0" anchor="t"/>
          <a:lstStyle/>
          <a:p>
            <a:pPr indent="0" marL="0">
              <a:buNone/>
            </a:pPr>
            <a:r>
              <a:rPr lang="en-US" sz="1150" b="1" dirty="0">
                <a:solidFill>
                  <a:srgbClr val="1A1A1A"/>
                </a:solidFill>
                <a:latin typeface="Arial" pitchFamily="34" charset="0"/>
                <a:ea typeface="Arial" pitchFamily="34" charset="-122"/>
                <a:cs typeface="Arial" pitchFamily="34" charset="-120"/>
              </a:rPr>
              <a:t>Review</a:t>
            </a:r>
            <a:endParaRPr lang="en-US" sz="1150" dirty="0"/>
          </a:p>
        </p:txBody>
      </p:sp>
      <p:sp>
        <p:nvSpPr>
          <p:cNvPr id="13" name="Text 11"/>
          <p:cNvSpPr/>
          <p:nvPr/>
        </p:nvSpPr>
        <p:spPr>
          <a:xfrm>
            <a:off x="2267712" y="2743200"/>
            <a:ext cx="1335024" cy="1143000"/>
          </a:xfrm>
          <a:prstGeom prst="rect">
            <a:avLst/>
          </a:prstGeom>
          <a:noFill/>
          <a:ln/>
        </p:spPr>
        <p:txBody>
          <a:bodyPr wrap="square" lIns="0" tIns="0" rIns="0" bIns="0" rtlCol="0" anchor="t"/>
          <a:lstStyle/>
          <a:p>
            <a:pPr indent="0" marL="0">
              <a:buNone/>
            </a:pPr>
            <a:r>
              <a:rPr lang="en-US" sz="950" dirty="0">
                <a:solidFill>
                  <a:srgbClr val="5B5B5B"/>
                </a:solidFill>
                <a:latin typeface="Arial" pitchFamily="34" charset="0"/>
                <a:ea typeface="Arial" pitchFamily="34" charset="-122"/>
                <a:cs typeface="Arial" pitchFamily="34" charset="-120"/>
              </a:rPr>
              <a:t>Classificatie, velden en confidence; live één correctie</a:t>
            </a:r>
            <a:endParaRPr lang="en-US" sz="950" dirty="0"/>
          </a:p>
        </p:txBody>
      </p:sp>
      <p:sp>
        <p:nvSpPr>
          <p:cNvPr id="14" name="Shape 12"/>
          <p:cNvSpPr/>
          <p:nvPr/>
        </p:nvSpPr>
        <p:spPr>
          <a:xfrm>
            <a:off x="4425696" y="1417320"/>
            <a:ext cx="402336" cy="402336"/>
          </a:xfrm>
          <a:prstGeom prst="ellipse">
            <a:avLst/>
          </a:prstGeom>
          <a:solidFill>
            <a:srgbClr val="86BC25"/>
          </a:solidFill>
          <a:ln w="12700">
            <a:solidFill>
              <a:srgbClr val="86BC25"/>
            </a:solidFill>
            <a:prstDash val="solid"/>
          </a:ln>
        </p:spPr>
      </p:sp>
      <p:sp>
        <p:nvSpPr>
          <p:cNvPr id="15" name="Text 13"/>
          <p:cNvSpPr/>
          <p:nvPr/>
        </p:nvSpPr>
        <p:spPr>
          <a:xfrm>
            <a:off x="4389120" y="1399032"/>
            <a:ext cx="475488"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6" name="Shape 14"/>
          <p:cNvSpPr/>
          <p:nvPr/>
        </p:nvSpPr>
        <p:spPr>
          <a:xfrm>
            <a:off x="3858768" y="2011680"/>
            <a:ext cx="1554480" cy="1965960"/>
          </a:xfrm>
          <a:prstGeom prst="roundRect">
            <a:avLst>
              <a:gd name="adj" fmla="val 3529"/>
            </a:avLst>
          </a:prstGeom>
          <a:solidFill>
            <a:srgbClr val="F5F5F5"/>
          </a:solidFill>
          <a:ln w="9525">
            <a:solidFill>
              <a:srgbClr val="E3E3E3"/>
            </a:solidFill>
            <a:prstDash val="solid"/>
          </a:ln>
          <a:effectLst>
            <a:outerShdw sx="100000" sy="100000" kx="0" ky="0" algn="bl" rotWithShape="0" blurRad="76200" dist="25400" dir="2700000">
              <a:srgbClr val="000000">
                <a:alpha val="12000"/>
              </a:srgbClr>
            </a:outerShdw>
          </a:effectLst>
        </p:spPr>
      </p:sp>
      <p:sp>
        <p:nvSpPr>
          <p:cNvPr id="17" name="Text 15"/>
          <p:cNvSpPr/>
          <p:nvPr/>
        </p:nvSpPr>
        <p:spPr>
          <a:xfrm>
            <a:off x="3968496" y="2139696"/>
            <a:ext cx="1335024" cy="566928"/>
          </a:xfrm>
          <a:prstGeom prst="rect">
            <a:avLst/>
          </a:prstGeom>
          <a:noFill/>
          <a:ln/>
        </p:spPr>
        <p:txBody>
          <a:bodyPr wrap="square" lIns="0" tIns="0" rIns="0" bIns="0" rtlCol="0" anchor="t"/>
          <a:lstStyle/>
          <a:p>
            <a:pPr indent="0" marL="0">
              <a:buNone/>
            </a:pPr>
            <a:r>
              <a:rPr lang="en-US" sz="1150" b="1" dirty="0">
                <a:solidFill>
                  <a:srgbClr val="1A1A1A"/>
                </a:solidFill>
                <a:latin typeface="Arial" pitchFamily="34" charset="0"/>
                <a:ea typeface="Arial" pitchFamily="34" charset="-122"/>
                <a:cs typeface="Arial" pitchFamily="34" charset="-120"/>
              </a:rPr>
              <a:t>Mapping opslaan</a:t>
            </a:r>
            <a:endParaRPr lang="en-US" sz="1150" dirty="0"/>
          </a:p>
        </p:txBody>
      </p:sp>
      <p:sp>
        <p:nvSpPr>
          <p:cNvPr id="18" name="Text 16"/>
          <p:cNvSpPr/>
          <p:nvPr/>
        </p:nvSpPr>
        <p:spPr>
          <a:xfrm>
            <a:off x="3968496" y="2743200"/>
            <a:ext cx="1335024" cy="1143000"/>
          </a:xfrm>
          <a:prstGeom prst="rect">
            <a:avLst/>
          </a:prstGeom>
          <a:noFill/>
          <a:ln/>
        </p:spPr>
        <p:txBody>
          <a:bodyPr wrap="square" lIns="0" tIns="0" rIns="0" bIns="0" rtlCol="0" anchor="t"/>
          <a:lstStyle/>
          <a:p>
            <a:pPr indent="0" marL="0">
              <a:buNone/>
            </a:pPr>
            <a:r>
              <a:rPr lang="en-US" sz="950" dirty="0">
                <a:solidFill>
                  <a:srgbClr val="5B5B5B"/>
                </a:solidFill>
                <a:latin typeface="Arial" pitchFamily="34" charset="0"/>
                <a:ea typeface="Arial" pitchFamily="34" charset="-122"/>
                <a:cs typeface="Arial" pitchFamily="34" charset="-120"/>
              </a:rPr>
              <a:t>Tweede document verloopt daarna automatisch</a:t>
            </a:r>
            <a:endParaRPr lang="en-US" sz="950" dirty="0"/>
          </a:p>
        </p:txBody>
      </p:sp>
      <p:sp>
        <p:nvSpPr>
          <p:cNvPr id="19" name="Shape 17"/>
          <p:cNvSpPr/>
          <p:nvPr/>
        </p:nvSpPr>
        <p:spPr>
          <a:xfrm>
            <a:off x="6126480" y="1417320"/>
            <a:ext cx="402336" cy="402336"/>
          </a:xfrm>
          <a:prstGeom prst="ellipse">
            <a:avLst/>
          </a:prstGeom>
          <a:solidFill>
            <a:srgbClr val="86BC25"/>
          </a:solidFill>
          <a:ln w="12700">
            <a:solidFill>
              <a:srgbClr val="86BC25"/>
            </a:solidFill>
            <a:prstDash val="solid"/>
          </a:ln>
        </p:spPr>
      </p:sp>
      <p:sp>
        <p:nvSpPr>
          <p:cNvPr id="20" name="Text 18"/>
          <p:cNvSpPr/>
          <p:nvPr/>
        </p:nvSpPr>
        <p:spPr>
          <a:xfrm>
            <a:off x="6089904" y="1399032"/>
            <a:ext cx="475488"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1" name="Shape 19"/>
          <p:cNvSpPr/>
          <p:nvPr/>
        </p:nvSpPr>
        <p:spPr>
          <a:xfrm>
            <a:off x="5559552" y="2011680"/>
            <a:ext cx="1554480" cy="1965960"/>
          </a:xfrm>
          <a:prstGeom prst="roundRect">
            <a:avLst>
              <a:gd name="adj" fmla="val 3529"/>
            </a:avLst>
          </a:prstGeom>
          <a:solidFill>
            <a:srgbClr val="F5F5F5"/>
          </a:solidFill>
          <a:ln w="9525">
            <a:solidFill>
              <a:srgbClr val="E3E3E3"/>
            </a:solidFill>
            <a:prstDash val="solid"/>
          </a:ln>
          <a:effectLst>
            <a:outerShdw sx="100000" sy="100000" kx="0" ky="0" algn="bl" rotWithShape="0" blurRad="76200" dist="25400" dir="2700000">
              <a:srgbClr val="000000">
                <a:alpha val="12000"/>
              </a:srgbClr>
            </a:outerShdw>
          </a:effectLst>
        </p:spPr>
      </p:sp>
      <p:sp>
        <p:nvSpPr>
          <p:cNvPr id="22" name="Text 20"/>
          <p:cNvSpPr/>
          <p:nvPr/>
        </p:nvSpPr>
        <p:spPr>
          <a:xfrm>
            <a:off x="5669280" y="2139696"/>
            <a:ext cx="1335024" cy="566928"/>
          </a:xfrm>
          <a:prstGeom prst="rect">
            <a:avLst/>
          </a:prstGeom>
          <a:noFill/>
          <a:ln/>
        </p:spPr>
        <p:txBody>
          <a:bodyPr wrap="square" lIns="0" tIns="0" rIns="0" bIns="0" rtlCol="0" anchor="t"/>
          <a:lstStyle/>
          <a:p>
            <a:pPr indent="0" marL="0">
              <a:buNone/>
            </a:pPr>
            <a:r>
              <a:rPr lang="en-US" sz="1150" b="1" dirty="0">
                <a:solidFill>
                  <a:srgbClr val="1A1A1A"/>
                </a:solidFill>
                <a:latin typeface="Arial" pitchFamily="34" charset="0"/>
                <a:ea typeface="Arial" pitchFamily="34" charset="-122"/>
                <a:cs typeface="Arial" pitchFamily="34" charset="-120"/>
              </a:rPr>
              <a:t>Entry PDF</a:t>
            </a:r>
            <a:endParaRPr lang="en-US" sz="1150" dirty="0"/>
          </a:p>
        </p:txBody>
      </p:sp>
      <p:sp>
        <p:nvSpPr>
          <p:cNvPr id="23" name="Text 21"/>
          <p:cNvSpPr/>
          <p:nvPr/>
        </p:nvSpPr>
        <p:spPr>
          <a:xfrm>
            <a:off x="5669280" y="2743200"/>
            <a:ext cx="1335024" cy="1143000"/>
          </a:xfrm>
          <a:prstGeom prst="rect">
            <a:avLst/>
          </a:prstGeom>
          <a:noFill/>
          <a:ln/>
        </p:spPr>
        <p:txBody>
          <a:bodyPr wrap="square" lIns="0" tIns="0" rIns="0" bIns="0" rtlCol="0" anchor="t"/>
          <a:lstStyle/>
          <a:p>
            <a:pPr indent="0" marL="0">
              <a:buNone/>
            </a:pPr>
            <a:r>
              <a:rPr lang="en-US" sz="950" dirty="0">
                <a:solidFill>
                  <a:srgbClr val="5B5B5B"/>
                </a:solidFill>
                <a:latin typeface="Arial" pitchFamily="34" charset="0"/>
                <a:ea typeface="Arial" pitchFamily="34" charset="-122"/>
                <a:cs typeface="Arial" pitchFamily="34" charset="-120"/>
              </a:rPr>
              <a:t>Gegenereerd document met audit-blok</a:t>
            </a:r>
            <a:endParaRPr lang="en-US" sz="950" dirty="0"/>
          </a:p>
        </p:txBody>
      </p:sp>
      <p:sp>
        <p:nvSpPr>
          <p:cNvPr id="24" name="Shape 22"/>
          <p:cNvSpPr/>
          <p:nvPr/>
        </p:nvSpPr>
        <p:spPr>
          <a:xfrm>
            <a:off x="7827264" y="1417320"/>
            <a:ext cx="402336" cy="402336"/>
          </a:xfrm>
          <a:prstGeom prst="ellipse">
            <a:avLst/>
          </a:prstGeom>
          <a:solidFill>
            <a:srgbClr val="86BC25"/>
          </a:solidFill>
          <a:ln w="12700">
            <a:solidFill>
              <a:srgbClr val="86BC25"/>
            </a:solidFill>
            <a:prstDash val="solid"/>
          </a:ln>
        </p:spPr>
      </p:sp>
      <p:sp>
        <p:nvSpPr>
          <p:cNvPr id="25" name="Text 23"/>
          <p:cNvSpPr/>
          <p:nvPr/>
        </p:nvSpPr>
        <p:spPr>
          <a:xfrm>
            <a:off x="7790688" y="1399032"/>
            <a:ext cx="475488"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6" name="Shape 24"/>
          <p:cNvSpPr/>
          <p:nvPr/>
        </p:nvSpPr>
        <p:spPr>
          <a:xfrm>
            <a:off x="7260336" y="2011680"/>
            <a:ext cx="1554480" cy="1965960"/>
          </a:xfrm>
          <a:prstGeom prst="roundRect">
            <a:avLst>
              <a:gd name="adj" fmla="val 3529"/>
            </a:avLst>
          </a:prstGeom>
          <a:solidFill>
            <a:srgbClr val="F5F5F5"/>
          </a:solidFill>
          <a:ln w="9525">
            <a:solidFill>
              <a:srgbClr val="E3E3E3"/>
            </a:solidFill>
            <a:prstDash val="solid"/>
          </a:ln>
          <a:effectLst>
            <a:outerShdw sx="100000" sy="100000" kx="0" ky="0" algn="bl" rotWithShape="0" blurRad="76200" dist="25400" dir="2700000">
              <a:srgbClr val="000000">
                <a:alpha val="12000"/>
              </a:srgbClr>
            </a:outerShdw>
          </a:effectLst>
        </p:spPr>
      </p:sp>
      <p:sp>
        <p:nvSpPr>
          <p:cNvPr id="27" name="Text 25"/>
          <p:cNvSpPr/>
          <p:nvPr/>
        </p:nvSpPr>
        <p:spPr>
          <a:xfrm>
            <a:off x="7370064" y="2139696"/>
            <a:ext cx="1335024" cy="566928"/>
          </a:xfrm>
          <a:prstGeom prst="rect">
            <a:avLst/>
          </a:prstGeom>
          <a:noFill/>
          <a:ln/>
        </p:spPr>
        <p:txBody>
          <a:bodyPr wrap="square" lIns="0" tIns="0" rIns="0" bIns="0" rtlCol="0" anchor="t"/>
          <a:lstStyle/>
          <a:p>
            <a:pPr indent="0" marL="0">
              <a:buNone/>
            </a:pPr>
            <a:r>
              <a:rPr lang="en-US" sz="1150" b="1" dirty="0">
                <a:solidFill>
                  <a:srgbClr val="1A1A1A"/>
                </a:solidFill>
                <a:latin typeface="Arial" pitchFamily="34" charset="0"/>
                <a:ea typeface="Arial" pitchFamily="34" charset="-122"/>
                <a:cs typeface="Arial" pitchFamily="34" charset="-120"/>
              </a:rPr>
              <a:t>Exit-pakket</a:t>
            </a:r>
            <a:endParaRPr lang="en-US" sz="1150" dirty="0"/>
          </a:p>
        </p:txBody>
      </p:sp>
      <p:sp>
        <p:nvSpPr>
          <p:cNvPr id="28" name="Text 26"/>
          <p:cNvSpPr/>
          <p:nvPr/>
        </p:nvSpPr>
        <p:spPr>
          <a:xfrm>
            <a:off x="7370064" y="2743200"/>
            <a:ext cx="1335024" cy="1143000"/>
          </a:xfrm>
          <a:prstGeom prst="rect">
            <a:avLst/>
          </a:prstGeom>
          <a:noFill/>
          <a:ln/>
        </p:spPr>
        <p:txBody>
          <a:bodyPr wrap="square" lIns="0" tIns="0" rIns="0" bIns="0" rtlCol="0" anchor="t"/>
          <a:lstStyle/>
          <a:p>
            <a:pPr indent="0" marL="0">
              <a:buNone/>
            </a:pPr>
            <a:r>
              <a:rPr lang="en-US" sz="950" dirty="0">
                <a:solidFill>
                  <a:srgbClr val="5B5B5B"/>
                </a:solidFill>
                <a:latin typeface="Arial" pitchFamily="34" charset="0"/>
                <a:ea typeface="Arial" pitchFamily="34" charset="-122"/>
                <a:cs typeface="Arial" pitchFamily="34" charset="-120"/>
              </a:rPr>
              <a:t>Incl. VIES-check, bestemmingsdocument en BTW-nota</a:t>
            </a:r>
            <a:endParaRPr lang="en-US" sz="950" dirty="0"/>
          </a:p>
        </p:txBody>
      </p:sp>
      <p:sp>
        <p:nvSpPr>
          <p:cNvPr id="29" name="Shape 27"/>
          <p:cNvSpPr/>
          <p:nvPr/>
        </p:nvSpPr>
        <p:spPr>
          <a:xfrm>
            <a:off x="457200" y="4206240"/>
            <a:ext cx="8229600" cy="548640"/>
          </a:xfrm>
          <a:prstGeom prst="roundRect">
            <a:avLst>
              <a:gd name="adj" fmla="val 10000"/>
            </a:avLst>
          </a:prstGeom>
          <a:solidFill>
            <a:srgbClr val="F5F5F5"/>
          </a:solidFill>
          <a:ln w="9525">
            <a:solidFill>
              <a:srgbClr val="E3E3E3"/>
            </a:solidFill>
            <a:prstDash val="solid"/>
          </a:ln>
          <a:effectLst>
            <a:outerShdw sx="100000" sy="100000" kx="0" ky="0" algn="bl" rotWithShape="0" blurRad="76200" dist="25400" dir="2700000">
              <a:srgbClr val="000000">
                <a:alpha val="12000"/>
              </a:srgbClr>
            </a:outerShdw>
          </a:effectLst>
        </p:spPr>
      </p:sp>
      <p:sp>
        <p:nvSpPr>
          <p:cNvPr id="30" name="Text 28"/>
          <p:cNvSpPr/>
          <p:nvPr/>
        </p:nvSpPr>
        <p:spPr>
          <a:xfrm>
            <a:off x="713232" y="4261104"/>
            <a:ext cx="7726680" cy="438912"/>
          </a:xfrm>
          <a:prstGeom prst="rect">
            <a:avLst/>
          </a:prstGeom>
          <a:noFill/>
          <a:ln/>
        </p:spPr>
        <p:txBody>
          <a:bodyPr wrap="square" lIns="0" tIns="0" rIns="0" bIns="0" rtlCol="0" anchor="ctr"/>
          <a:lstStyle/>
          <a:p>
            <a:pPr indent="0" marL="0">
              <a:buNone/>
            </a:pPr>
            <a:r>
              <a:rPr lang="en-US" sz="1050" i="1" dirty="0">
                <a:solidFill>
                  <a:srgbClr val="5B5B5B"/>
                </a:solidFill>
                <a:latin typeface="Arial" pitchFamily="34" charset="0"/>
                <a:ea typeface="Arial" pitchFamily="34" charset="-122"/>
                <a:cs typeface="Arial" pitchFamily="34" charset="-120"/>
              </a:rPr>
              <a:t>Transparant over de eerste demo: schermen, flow en PDF's zijn echt; de extractie draait op een mock-engine tot de Phase 2-prototypefase.</a:t>
            </a:r>
            <a:endParaRPr lang="en-US" sz="1050" dirty="0"/>
          </a:p>
        </p:txBody>
      </p:sp>
      <p:sp>
        <p:nvSpPr>
          <p:cNvPr id="31" name="Text 29"/>
          <p:cNvSpPr/>
          <p:nvPr/>
        </p:nvSpPr>
        <p:spPr>
          <a:xfrm>
            <a:off x="457200" y="4864608"/>
            <a:ext cx="3200400" cy="228600"/>
          </a:xfrm>
          <a:prstGeom prst="rect">
            <a:avLst/>
          </a:prstGeom>
          <a:noFill/>
          <a:ln/>
        </p:spPr>
        <p:txBody>
          <a:bodyPr wrap="square" lIns="0" tIns="0" rIns="0" bIns="0" rtlCol="0" anchor="ctr"/>
          <a:lstStyle/>
          <a:p>
            <a:pPr indent="0" marL="0">
              <a:buNone/>
            </a:pPr>
            <a:r>
              <a:rPr lang="en-US" sz="850" dirty="0">
                <a:solidFill>
                  <a:srgbClr val="9A9A9A"/>
                </a:solidFill>
                <a:latin typeface="Arial" pitchFamily="34" charset="0"/>
                <a:ea typeface="Arial" pitchFamily="34" charset="-122"/>
                <a:cs typeface="Arial" pitchFamily="34" charset="-120"/>
              </a:rPr>
              <a:t>Deloitte | Intern werkdocument</a:t>
            </a:r>
            <a:endParaRPr lang="en-US" sz="850" dirty="0"/>
          </a:p>
        </p:txBody>
      </p:sp>
      <p:sp>
        <p:nvSpPr>
          <p:cNvPr id="32" name="Text 30"/>
          <p:cNvSpPr/>
          <p:nvPr/>
        </p:nvSpPr>
        <p:spPr>
          <a:xfrm>
            <a:off x="8503920" y="4864608"/>
            <a:ext cx="274320" cy="228600"/>
          </a:xfrm>
          <a:prstGeom prst="rect">
            <a:avLst/>
          </a:prstGeom>
          <a:noFill/>
          <a:ln/>
        </p:spPr>
        <p:txBody>
          <a:bodyPr wrap="square" lIns="0" tIns="0" rIns="0" bIns="0" rtlCol="0" anchor="ctr"/>
          <a:lstStyle/>
          <a:p>
            <a:pPr algn="r" indent="0" marL="0">
              <a:buNone/>
            </a:pPr>
            <a:r>
              <a:rPr lang="en-US" sz="850" dirty="0">
                <a:solidFill>
                  <a:srgbClr val="9A9A9A"/>
                </a:solidFill>
                <a:latin typeface="Arial" pitchFamily="34" charset="0"/>
                <a:ea typeface="Arial" pitchFamily="34" charset="-122"/>
                <a:cs typeface="Arial" pitchFamily="34" charset="-120"/>
              </a:rPr>
              <a:t>13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237744"/>
          </a:xfrm>
          <a:prstGeom prst="rect">
            <a:avLst/>
          </a:prstGeom>
          <a:noFill/>
          <a:ln/>
        </p:spPr>
        <p:txBody>
          <a:bodyPr wrap="square" lIns="0" tIns="0" rIns="0" bIns="0" rtlCol="0" anchor="ctr"/>
          <a:lstStyle/>
          <a:p>
            <a:pPr indent="0" marL="0">
              <a:buNone/>
            </a:pPr>
            <a:r>
              <a:rPr lang="en-US" sz="1050" b="1" spc="300" kern="0" dirty="0">
                <a:solidFill>
                  <a:srgbClr val="4C7016"/>
                </a:solidFill>
                <a:latin typeface="Arial" pitchFamily="34" charset="0"/>
                <a:ea typeface="Arial" pitchFamily="34" charset="-122"/>
                <a:cs typeface="Arial" pitchFamily="34" charset="-120"/>
              </a:rPr>
              <a:t>ROADMAP</a:t>
            </a:r>
            <a:endParaRPr lang="en-US" sz="1050" dirty="0"/>
          </a:p>
        </p:txBody>
      </p:sp>
      <p:sp>
        <p:nvSpPr>
          <p:cNvPr id="3" name="Text 1"/>
          <p:cNvSpPr/>
          <p:nvPr/>
        </p:nvSpPr>
        <p:spPr>
          <a:xfrm>
            <a:off x="457200" y="530352"/>
            <a:ext cx="8229600" cy="502920"/>
          </a:xfrm>
          <a:prstGeom prst="rect">
            <a:avLst/>
          </a:prstGeom>
          <a:noFill/>
          <a:ln/>
        </p:spPr>
        <p:txBody>
          <a:bodyPr wrap="square" lIns="0" tIns="0" rIns="0" bIns="0" rtlCol="0" anchor="ctr"/>
          <a:lstStyle/>
          <a:p>
            <a:pPr indent="0" marL="0">
              <a:buNone/>
            </a:pPr>
            <a:r>
              <a:rPr lang="en-US" sz="2300" b="1" dirty="0">
                <a:solidFill>
                  <a:srgbClr val="1A1A1A"/>
                </a:solidFill>
                <a:latin typeface="Arial" pitchFamily="34" charset="0"/>
                <a:ea typeface="Arial" pitchFamily="34" charset="-122"/>
                <a:cs typeface="Arial" pitchFamily="34" charset="-120"/>
              </a:rPr>
              <a:t>Zes fasen, eerste demo na enkele weken</a:t>
            </a:r>
            <a:endParaRPr lang="en-US" sz="2300" dirty="0"/>
          </a:p>
        </p:txBody>
      </p:sp>
      <p:sp>
        <p:nvSpPr>
          <p:cNvPr id="4" name="Shape 2"/>
          <p:cNvSpPr/>
          <p:nvPr/>
        </p:nvSpPr>
        <p:spPr>
          <a:xfrm>
            <a:off x="640080" y="1883664"/>
            <a:ext cx="7863840" cy="0"/>
          </a:xfrm>
          <a:prstGeom prst="line">
            <a:avLst/>
          </a:prstGeom>
          <a:noFill/>
          <a:ln w="19050">
            <a:solidFill>
              <a:srgbClr val="D9D9D9"/>
            </a:solidFill>
            <a:prstDash val="solid"/>
          </a:ln>
        </p:spPr>
      </p:sp>
      <p:sp>
        <p:nvSpPr>
          <p:cNvPr id="5" name="Shape 3"/>
          <p:cNvSpPr/>
          <p:nvPr/>
        </p:nvSpPr>
        <p:spPr>
          <a:xfrm>
            <a:off x="886968" y="1691640"/>
            <a:ext cx="384048" cy="384048"/>
          </a:xfrm>
          <a:prstGeom prst="ellipse">
            <a:avLst/>
          </a:prstGeom>
          <a:solidFill>
            <a:srgbClr val="86BC25"/>
          </a:solidFill>
          <a:ln w="12700">
            <a:solidFill>
              <a:srgbClr val="86BC25"/>
            </a:solidFill>
            <a:prstDash val="solid"/>
          </a:ln>
        </p:spPr>
      </p:sp>
      <p:sp>
        <p:nvSpPr>
          <p:cNvPr id="6" name="Text 4"/>
          <p:cNvSpPr/>
          <p:nvPr/>
        </p:nvSpPr>
        <p:spPr>
          <a:xfrm>
            <a:off x="850392" y="1673352"/>
            <a:ext cx="457200"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0</a:t>
            </a:r>
            <a:endParaRPr lang="en-US" sz="1400" dirty="0"/>
          </a:p>
        </p:txBody>
      </p:sp>
      <p:sp>
        <p:nvSpPr>
          <p:cNvPr id="7" name="Shape 5"/>
          <p:cNvSpPr/>
          <p:nvPr/>
        </p:nvSpPr>
        <p:spPr>
          <a:xfrm>
            <a:off x="457200" y="2286000"/>
            <a:ext cx="1298448" cy="1783080"/>
          </a:xfrm>
          <a:prstGeom prst="roundRect">
            <a:avLst>
              <a:gd name="adj" fmla="val 4225"/>
            </a:avLst>
          </a:prstGeom>
          <a:solidFill>
            <a:srgbClr val="F5F5F5"/>
          </a:solidFill>
          <a:ln w="9525">
            <a:solidFill>
              <a:srgbClr val="E3E3E3"/>
            </a:solidFill>
            <a:prstDash val="solid"/>
          </a:ln>
          <a:effectLst>
            <a:outerShdw sx="100000" sy="100000" kx="0" ky="0" algn="bl" rotWithShape="0" blurRad="76200" dist="25400" dir="2700000">
              <a:srgbClr val="000000">
                <a:alpha val="12000"/>
              </a:srgbClr>
            </a:outerShdw>
          </a:effectLst>
        </p:spPr>
      </p:sp>
      <p:sp>
        <p:nvSpPr>
          <p:cNvPr id="8" name="Text 6"/>
          <p:cNvSpPr/>
          <p:nvPr/>
        </p:nvSpPr>
        <p:spPr>
          <a:xfrm>
            <a:off x="548640" y="2395728"/>
            <a:ext cx="1133856" cy="502920"/>
          </a:xfrm>
          <a:prstGeom prst="rect">
            <a:avLst/>
          </a:prstGeom>
          <a:noFill/>
          <a:ln/>
        </p:spPr>
        <p:txBody>
          <a:bodyPr wrap="square" lIns="0" tIns="0" rIns="0" bIns="0" rtlCol="0" anchor="t"/>
          <a:lstStyle/>
          <a:p>
            <a:pPr indent="0" marL="0">
              <a:buNone/>
            </a:pPr>
            <a:r>
              <a:rPr lang="en-US" sz="1050" b="1" dirty="0">
                <a:solidFill>
                  <a:srgbClr val="1A1A1A"/>
                </a:solidFill>
                <a:latin typeface="Arial" pitchFamily="34" charset="0"/>
                <a:ea typeface="Arial" pitchFamily="34" charset="-122"/>
                <a:cs typeface="Arial" pitchFamily="34" charset="-120"/>
              </a:rPr>
              <a:t>Feasibility</a:t>
            </a:r>
            <a:endParaRPr lang="en-US" sz="1050" dirty="0"/>
          </a:p>
        </p:txBody>
      </p:sp>
      <p:sp>
        <p:nvSpPr>
          <p:cNvPr id="9" name="Text 7"/>
          <p:cNvSpPr/>
          <p:nvPr/>
        </p:nvSpPr>
        <p:spPr>
          <a:xfrm>
            <a:off x="548640" y="2926080"/>
            <a:ext cx="1133856" cy="777240"/>
          </a:xfrm>
          <a:prstGeom prst="rect">
            <a:avLst/>
          </a:prstGeom>
          <a:noFill/>
          <a:ln/>
        </p:spPr>
        <p:txBody>
          <a:bodyPr wrap="square" lIns="0" tIns="0" rIns="0" bIns="0" rtlCol="0" anchor="t"/>
          <a:lstStyle/>
          <a:p>
            <a:pPr indent="0" marL="0">
              <a:buNone/>
            </a:pPr>
            <a:r>
              <a:rPr lang="en-US" sz="850" dirty="0">
                <a:solidFill>
                  <a:srgbClr val="5B5B5B"/>
                </a:solidFill>
                <a:latin typeface="Arial" pitchFamily="34" charset="0"/>
                <a:ea typeface="Arial" pitchFamily="34" charset="-122"/>
                <a:cs typeface="Arial" pitchFamily="34" charset="-120"/>
              </a:rPr>
              <a:t>PoC's: engine-kwaliteit, VIES-call</a:t>
            </a:r>
            <a:endParaRPr lang="en-US" sz="850" dirty="0"/>
          </a:p>
        </p:txBody>
      </p:sp>
      <p:sp>
        <p:nvSpPr>
          <p:cNvPr id="10" name="Text 8"/>
          <p:cNvSpPr/>
          <p:nvPr/>
        </p:nvSpPr>
        <p:spPr>
          <a:xfrm>
            <a:off x="548640" y="3730752"/>
            <a:ext cx="1133856" cy="274320"/>
          </a:xfrm>
          <a:prstGeom prst="rect">
            <a:avLst/>
          </a:prstGeom>
          <a:noFill/>
          <a:ln/>
        </p:spPr>
        <p:txBody>
          <a:bodyPr wrap="square" lIns="0" tIns="0" rIns="0" bIns="0" rtlCol="0" anchor="ctr"/>
          <a:lstStyle/>
          <a:p>
            <a:pPr indent="0" marL="0">
              <a:buNone/>
            </a:pPr>
            <a:r>
              <a:rPr lang="en-US" sz="950" b="1" dirty="0">
                <a:solidFill>
                  <a:srgbClr val="4C7016"/>
                </a:solidFill>
                <a:latin typeface="Arial" pitchFamily="34" charset="0"/>
                <a:ea typeface="Arial" pitchFamily="34" charset="-122"/>
                <a:cs typeface="Arial" pitchFamily="34" charset="-120"/>
              </a:rPr>
              <a:t>1-2 wk</a:t>
            </a:r>
            <a:endParaRPr lang="en-US" sz="950" dirty="0"/>
          </a:p>
        </p:txBody>
      </p:sp>
      <p:sp>
        <p:nvSpPr>
          <p:cNvPr id="11" name="Shape 9"/>
          <p:cNvSpPr/>
          <p:nvPr/>
        </p:nvSpPr>
        <p:spPr>
          <a:xfrm>
            <a:off x="2304288" y="1691640"/>
            <a:ext cx="384048" cy="384048"/>
          </a:xfrm>
          <a:prstGeom prst="ellipse">
            <a:avLst/>
          </a:prstGeom>
          <a:solidFill>
            <a:srgbClr val="86BC25"/>
          </a:solidFill>
          <a:ln w="12700">
            <a:solidFill>
              <a:srgbClr val="86BC25"/>
            </a:solidFill>
            <a:prstDash val="solid"/>
          </a:ln>
        </p:spPr>
      </p:sp>
      <p:sp>
        <p:nvSpPr>
          <p:cNvPr id="12" name="Text 10"/>
          <p:cNvSpPr/>
          <p:nvPr/>
        </p:nvSpPr>
        <p:spPr>
          <a:xfrm>
            <a:off x="2267712" y="1673352"/>
            <a:ext cx="457200"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3" name="Shape 11"/>
          <p:cNvSpPr/>
          <p:nvPr/>
        </p:nvSpPr>
        <p:spPr>
          <a:xfrm>
            <a:off x="1874520" y="2286000"/>
            <a:ext cx="1298448" cy="1783080"/>
          </a:xfrm>
          <a:prstGeom prst="roundRect">
            <a:avLst>
              <a:gd name="adj" fmla="val 4225"/>
            </a:avLst>
          </a:prstGeom>
          <a:solidFill>
            <a:srgbClr val="F5F5F5"/>
          </a:solidFill>
          <a:ln w="9525">
            <a:solidFill>
              <a:srgbClr val="E3E3E3"/>
            </a:solidFill>
            <a:prstDash val="solid"/>
          </a:ln>
          <a:effectLst>
            <a:outerShdw sx="100000" sy="100000" kx="0" ky="0" algn="bl" rotWithShape="0" blurRad="76200" dist="25400" dir="2700000">
              <a:srgbClr val="000000">
                <a:alpha val="12000"/>
              </a:srgbClr>
            </a:outerShdw>
          </a:effectLst>
        </p:spPr>
      </p:sp>
      <p:sp>
        <p:nvSpPr>
          <p:cNvPr id="14" name="Text 12"/>
          <p:cNvSpPr/>
          <p:nvPr/>
        </p:nvSpPr>
        <p:spPr>
          <a:xfrm>
            <a:off x="1965960" y="2395728"/>
            <a:ext cx="1133856" cy="502920"/>
          </a:xfrm>
          <a:prstGeom prst="rect">
            <a:avLst/>
          </a:prstGeom>
          <a:noFill/>
          <a:ln/>
        </p:spPr>
        <p:txBody>
          <a:bodyPr wrap="square" lIns="0" tIns="0" rIns="0" bIns="0" rtlCol="0" anchor="t"/>
          <a:lstStyle/>
          <a:p>
            <a:pPr indent="0" marL="0">
              <a:buNone/>
            </a:pPr>
            <a:r>
              <a:rPr lang="en-US" sz="1050" b="1" dirty="0">
                <a:solidFill>
                  <a:srgbClr val="1A1A1A"/>
                </a:solidFill>
                <a:latin typeface="Arial" pitchFamily="34" charset="0"/>
                <a:ea typeface="Arial" pitchFamily="34" charset="-122"/>
                <a:cs typeface="Arial" pitchFamily="34" charset="-120"/>
              </a:rPr>
              <a:t>Demo-fundament</a:t>
            </a:r>
            <a:endParaRPr lang="en-US" sz="1050" dirty="0"/>
          </a:p>
        </p:txBody>
      </p:sp>
      <p:sp>
        <p:nvSpPr>
          <p:cNvPr id="15" name="Text 13"/>
          <p:cNvSpPr/>
          <p:nvPr/>
        </p:nvSpPr>
        <p:spPr>
          <a:xfrm>
            <a:off x="1965960" y="2926080"/>
            <a:ext cx="1133856" cy="777240"/>
          </a:xfrm>
          <a:prstGeom prst="rect">
            <a:avLst/>
          </a:prstGeom>
          <a:noFill/>
          <a:ln/>
        </p:spPr>
        <p:txBody>
          <a:bodyPr wrap="square" lIns="0" tIns="0" rIns="0" bIns="0" rtlCol="0" anchor="t"/>
          <a:lstStyle/>
          <a:p>
            <a:pPr indent="0" marL="0">
              <a:buNone/>
            </a:pPr>
            <a:r>
              <a:rPr lang="en-US" sz="850" dirty="0">
                <a:solidFill>
                  <a:srgbClr val="5B5B5B"/>
                </a:solidFill>
                <a:latin typeface="Arial" pitchFamily="34" charset="0"/>
                <a:ea typeface="Arial" pitchFamily="34" charset="-122"/>
                <a:cs typeface="Arial" pitchFamily="34" charset="-120"/>
              </a:rPr>
              <a:t>App, modellen, flow, mock-extractie</a:t>
            </a:r>
            <a:endParaRPr lang="en-US" sz="850" dirty="0"/>
          </a:p>
        </p:txBody>
      </p:sp>
      <p:sp>
        <p:nvSpPr>
          <p:cNvPr id="16" name="Text 14"/>
          <p:cNvSpPr/>
          <p:nvPr/>
        </p:nvSpPr>
        <p:spPr>
          <a:xfrm>
            <a:off x="1965960" y="3730752"/>
            <a:ext cx="1133856" cy="274320"/>
          </a:xfrm>
          <a:prstGeom prst="rect">
            <a:avLst/>
          </a:prstGeom>
          <a:noFill/>
          <a:ln/>
        </p:spPr>
        <p:txBody>
          <a:bodyPr wrap="square" lIns="0" tIns="0" rIns="0" bIns="0" rtlCol="0" anchor="ctr"/>
          <a:lstStyle/>
          <a:p>
            <a:pPr indent="0" marL="0">
              <a:buNone/>
            </a:pPr>
            <a:r>
              <a:rPr lang="en-US" sz="950" b="1" dirty="0">
                <a:solidFill>
                  <a:srgbClr val="4C7016"/>
                </a:solidFill>
                <a:latin typeface="Arial" pitchFamily="34" charset="0"/>
                <a:ea typeface="Arial" pitchFamily="34" charset="-122"/>
                <a:cs typeface="Arial" pitchFamily="34" charset="-120"/>
              </a:rPr>
              <a:t>2-3 wk</a:t>
            </a:r>
            <a:endParaRPr lang="en-US" sz="950" dirty="0"/>
          </a:p>
        </p:txBody>
      </p:sp>
      <p:sp>
        <p:nvSpPr>
          <p:cNvPr id="17" name="Shape 15"/>
          <p:cNvSpPr/>
          <p:nvPr/>
        </p:nvSpPr>
        <p:spPr>
          <a:xfrm>
            <a:off x="3721608" y="1691640"/>
            <a:ext cx="384048" cy="384048"/>
          </a:xfrm>
          <a:prstGeom prst="ellipse">
            <a:avLst/>
          </a:prstGeom>
          <a:solidFill>
            <a:srgbClr val="86BC25"/>
          </a:solidFill>
          <a:ln w="12700">
            <a:solidFill>
              <a:srgbClr val="86BC25"/>
            </a:solidFill>
            <a:prstDash val="solid"/>
          </a:ln>
        </p:spPr>
      </p:sp>
      <p:sp>
        <p:nvSpPr>
          <p:cNvPr id="18" name="Text 16"/>
          <p:cNvSpPr/>
          <p:nvPr/>
        </p:nvSpPr>
        <p:spPr>
          <a:xfrm>
            <a:off x="3685032" y="1673352"/>
            <a:ext cx="457200"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9" name="Shape 17"/>
          <p:cNvSpPr/>
          <p:nvPr/>
        </p:nvSpPr>
        <p:spPr>
          <a:xfrm>
            <a:off x="3291840" y="2286000"/>
            <a:ext cx="1298448" cy="1783080"/>
          </a:xfrm>
          <a:prstGeom prst="roundRect">
            <a:avLst>
              <a:gd name="adj" fmla="val 4225"/>
            </a:avLst>
          </a:prstGeom>
          <a:solidFill>
            <a:srgbClr val="F5F5F5"/>
          </a:solidFill>
          <a:ln w="9525">
            <a:solidFill>
              <a:srgbClr val="E3E3E3"/>
            </a:solidFill>
            <a:prstDash val="solid"/>
          </a:ln>
          <a:effectLst>
            <a:outerShdw sx="100000" sy="100000" kx="0" ky="0" algn="bl" rotWithShape="0" blurRad="76200" dist="25400" dir="2700000">
              <a:srgbClr val="000000">
                <a:alpha val="12000"/>
              </a:srgbClr>
            </a:outerShdw>
          </a:effectLst>
        </p:spPr>
      </p:sp>
      <p:sp>
        <p:nvSpPr>
          <p:cNvPr id="20" name="Text 18"/>
          <p:cNvSpPr/>
          <p:nvPr/>
        </p:nvSpPr>
        <p:spPr>
          <a:xfrm>
            <a:off x="3383280" y="2395728"/>
            <a:ext cx="1133856" cy="502920"/>
          </a:xfrm>
          <a:prstGeom prst="rect">
            <a:avLst/>
          </a:prstGeom>
          <a:noFill/>
          <a:ln/>
        </p:spPr>
        <p:txBody>
          <a:bodyPr wrap="square" lIns="0" tIns="0" rIns="0" bIns="0" rtlCol="0" anchor="t"/>
          <a:lstStyle/>
          <a:p>
            <a:pPr indent="0" marL="0">
              <a:buNone/>
            </a:pPr>
            <a:r>
              <a:rPr lang="en-US" sz="1050" b="1" dirty="0">
                <a:solidFill>
                  <a:srgbClr val="1A1A1A"/>
                </a:solidFill>
                <a:latin typeface="Arial" pitchFamily="34" charset="0"/>
                <a:ea typeface="Arial" pitchFamily="34" charset="-122"/>
                <a:cs typeface="Arial" pitchFamily="34" charset="-120"/>
              </a:rPr>
              <a:t>Echte OCR</a:t>
            </a:r>
            <a:endParaRPr lang="en-US" sz="1050" dirty="0"/>
          </a:p>
        </p:txBody>
      </p:sp>
      <p:sp>
        <p:nvSpPr>
          <p:cNvPr id="21" name="Text 19"/>
          <p:cNvSpPr/>
          <p:nvPr/>
        </p:nvSpPr>
        <p:spPr>
          <a:xfrm>
            <a:off x="3383280" y="2926080"/>
            <a:ext cx="1133856" cy="777240"/>
          </a:xfrm>
          <a:prstGeom prst="rect">
            <a:avLst/>
          </a:prstGeom>
          <a:noFill/>
          <a:ln/>
        </p:spPr>
        <p:txBody>
          <a:bodyPr wrap="square" lIns="0" tIns="0" rIns="0" bIns="0" rtlCol="0" anchor="t"/>
          <a:lstStyle/>
          <a:p>
            <a:pPr indent="0" marL="0">
              <a:buNone/>
            </a:pPr>
            <a:r>
              <a:rPr lang="en-US" sz="850" dirty="0">
                <a:solidFill>
                  <a:srgbClr val="5B5B5B"/>
                </a:solidFill>
                <a:latin typeface="Arial" pitchFamily="34" charset="0"/>
                <a:ea typeface="Arial" pitchFamily="34" charset="-122"/>
                <a:cs typeface="Arial" pitchFamily="34" charset="-120"/>
              </a:rPr>
              <a:t>Engine + mapping memory</a:t>
            </a:r>
            <a:endParaRPr lang="en-US" sz="850" dirty="0"/>
          </a:p>
        </p:txBody>
      </p:sp>
      <p:sp>
        <p:nvSpPr>
          <p:cNvPr id="22" name="Text 20"/>
          <p:cNvSpPr/>
          <p:nvPr/>
        </p:nvSpPr>
        <p:spPr>
          <a:xfrm>
            <a:off x="3383280" y="3730752"/>
            <a:ext cx="1133856" cy="274320"/>
          </a:xfrm>
          <a:prstGeom prst="rect">
            <a:avLst/>
          </a:prstGeom>
          <a:noFill/>
          <a:ln/>
        </p:spPr>
        <p:txBody>
          <a:bodyPr wrap="square" lIns="0" tIns="0" rIns="0" bIns="0" rtlCol="0" anchor="ctr"/>
          <a:lstStyle/>
          <a:p>
            <a:pPr indent="0" marL="0">
              <a:buNone/>
            </a:pPr>
            <a:r>
              <a:rPr lang="en-US" sz="950" b="1" dirty="0">
                <a:solidFill>
                  <a:srgbClr val="4C7016"/>
                </a:solidFill>
                <a:latin typeface="Arial" pitchFamily="34" charset="0"/>
                <a:ea typeface="Arial" pitchFamily="34" charset="-122"/>
                <a:cs typeface="Arial" pitchFamily="34" charset="-120"/>
              </a:rPr>
              <a:t>3-4 wk</a:t>
            </a:r>
            <a:endParaRPr lang="en-US" sz="950" dirty="0"/>
          </a:p>
        </p:txBody>
      </p:sp>
      <p:sp>
        <p:nvSpPr>
          <p:cNvPr id="23" name="Shape 21"/>
          <p:cNvSpPr/>
          <p:nvPr/>
        </p:nvSpPr>
        <p:spPr>
          <a:xfrm>
            <a:off x="5138928" y="1691640"/>
            <a:ext cx="384048" cy="384048"/>
          </a:xfrm>
          <a:prstGeom prst="ellipse">
            <a:avLst/>
          </a:prstGeom>
          <a:solidFill>
            <a:srgbClr val="86BC25"/>
          </a:solidFill>
          <a:ln w="12700">
            <a:solidFill>
              <a:srgbClr val="86BC25"/>
            </a:solidFill>
            <a:prstDash val="solid"/>
          </a:ln>
        </p:spPr>
      </p:sp>
      <p:sp>
        <p:nvSpPr>
          <p:cNvPr id="24" name="Text 22"/>
          <p:cNvSpPr/>
          <p:nvPr/>
        </p:nvSpPr>
        <p:spPr>
          <a:xfrm>
            <a:off x="5102352" y="1673352"/>
            <a:ext cx="457200"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5" name="Shape 23"/>
          <p:cNvSpPr/>
          <p:nvPr/>
        </p:nvSpPr>
        <p:spPr>
          <a:xfrm>
            <a:off x="4709160" y="2286000"/>
            <a:ext cx="1298448" cy="1783080"/>
          </a:xfrm>
          <a:prstGeom prst="roundRect">
            <a:avLst>
              <a:gd name="adj" fmla="val 4225"/>
            </a:avLst>
          </a:prstGeom>
          <a:solidFill>
            <a:srgbClr val="F5F5F5"/>
          </a:solidFill>
          <a:ln w="9525">
            <a:solidFill>
              <a:srgbClr val="E3E3E3"/>
            </a:solidFill>
            <a:prstDash val="solid"/>
          </a:ln>
          <a:effectLst>
            <a:outerShdw sx="100000" sy="100000" kx="0" ky="0" algn="bl" rotWithShape="0" blurRad="76200" dist="25400" dir="2700000">
              <a:srgbClr val="000000">
                <a:alpha val="12000"/>
              </a:srgbClr>
            </a:outerShdw>
          </a:effectLst>
        </p:spPr>
      </p:sp>
      <p:sp>
        <p:nvSpPr>
          <p:cNvPr id="26" name="Text 24"/>
          <p:cNvSpPr/>
          <p:nvPr/>
        </p:nvSpPr>
        <p:spPr>
          <a:xfrm>
            <a:off x="4800600" y="2395728"/>
            <a:ext cx="1133856" cy="502920"/>
          </a:xfrm>
          <a:prstGeom prst="rect">
            <a:avLst/>
          </a:prstGeom>
          <a:noFill/>
          <a:ln/>
        </p:spPr>
        <p:txBody>
          <a:bodyPr wrap="square" lIns="0" tIns="0" rIns="0" bIns="0" rtlCol="0" anchor="t"/>
          <a:lstStyle/>
          <a:p>
            <a:pPr indent="0" marL="0">
              <a:buNone/>
            </a:pPr>
            <a:r>
              <a:rPr lang="en-US" sz="1050" b="1" dirty="0">
                <a:solidFill>
                  <a:srgbClr val="1A1A1A"/>
                </a:solidFill>
                <a:latin typeface="Arial" pitchFamily="34" charset="0"/>
                <a:ea typeface="Arial" pitchFamily="34" charset="-122"/>
                <a:cs typeface="Arial" pitchFamily="34" charset="-120"/>
              </a:rPr>
              <a:t>Inslagflow</a:t>
            </a:r>
            <a:endParaRPr lang="en-US" sz="1050" dirty="0"/>
          </a:p>
        </p:txBody>
      </p:sp>
      <p:sp>
        <p:nvSpPr>
          <p:cNvPr id="27" name="Text 25"/>
          <p:cNvSpPr/>
          <p:nvPr/>
        </p:nvSpPr>
        <p:spPr>
          <a:xfrm>
            <a:off x="4800600" y="2926080"/>
            <a:ext cx="1133856" cy="777240"/>
          </a:xfrm>
          <a:prstGeom prst="rect">
            <a:avLst/>
          </a:prstGeom>
          <a:noFill/>
          <a:ln/>
        </p:spPr>
        <p:txBody>
          <a:bodyPr wrap="square" lIns="0" tIns="0" rIns="0" bIns="0" rtlCol="0" anchor="t"/>
          <a:lstStyle/>
          <a:p>
            <a:pPr indent="0" marL="0">
              <a:buNone/>
            </a:pPr>
            <a:r>
              <a:rPr lang="en-US" sz="850" dirty="0">
                <a:solidFill>
                  <a:srgbClr val="5B5B5B"/>
                </a:solidFill>
                <a:latin typeface="Arial" pitchFamily="34" charset="0"/>
                <a:ea typeface="Arial" pitchFamily="34" charset="-122"/>
                <a:cs typeface="Arial" pitchFamily="34" charset="-120"/>
              </a:rPr>
              <a:t>Entry end-to-end, factuurlink</a:t>
            </a:r>
            <a:endParaRPr lang="en-US" sz="850" dirty="0"/>
          </a:p>
        </p:txBody>
      </p:sp>
      <p:sp>
        <p:nvSpPr>
          <p:cNvPr id="28" name="Text 26"/>
          <p:cNvSpPr/>
          <p:nvPr/>
        </p:nvSpPr>
        <p:spPr>
          <a:xfrm>
            <a:off x="4800600" y="3730752"/>
            <a:ext cx="1133856" cy="274320"/>
          </a:xfrm>
          <a:prstGeom prst="rect">
            <a:avLst/>
          </a:prstGeom>
          <a:noFill/>
          <a:ln/>
        </p:spPr>
        <p:txBody>
          <a:bodyPr wrap="square" lIns="0" tIns="0" rIns="0" bIns="0" rtlCol="0" anchor="ctr"/>
          <a:lstStyle/>
          <a:p>
            <a:pPr indent="0" marL="0">
              <a:buNone/>
            </a:pPr>
            <a:r>
              <a:rPr lang="en-US" sz="950" b="1" dirty="0">
                <a:solidFill>
                  <a:srgbClr val="4C7016"/>
                </a:solidFill>
                <a:latin typeface="Arial" pitchFamily="34" charset="0"/>
                <a:ea typeface="Arial" pitchFamily="34" charset="-122"/>
                <a:cs typeface="Arial" pitchFamily="34" charset="-120"/>
              </a:rPr>
              <a:t>2-3 wk</a:t>
            </a:r>
            <a:endParaRPr lang="en-US" sz="950" dirty="0"/>
          </a:p>
        </p:txBody>
      </p:sp>
      <p:sp>
        <p:nvSpPr>
          <p:cNvPr id="29" name="Shape 27"/>
          <p:cNvSpPr/>
          <p:nvPr/>
        </p:nvSpPr>
        <p:spPr>
          <a:xfrm>
            <a:off x="6556248" y="1691640"/>
            <a:ext cx="384048" cy="384048"/>
          </a:xfrm>
          <a:prstGeom prst="ellipse">
            <a:avLst/>
          </a:prstGeom>
          <a:solidFill>
            <a:srgbClr val="86BC25"/>
          </a:solidFill>
          <a:ln w="12700">
            <a:solidFill>
              <a:srgbClr val="86BC25"/>
            </a:solidFill>
            <a:prstDash val="solid"/>
          </a:ln>
        </p:spPr>
      </p:sp>
      <p:sp>
        <p:nvSpPr>
          <p:cNvPr id="30" name="Text 28"/>
          <p:cNvSpPr/>
          <p:nvPr/>
        </p:nvSpPr>
        <p:spPr>
          <a:xfrm>
            <a:off x="6519672" y="1673352"/>
            <a:ext cx="457200"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31" name="Shape 29"/>
          <p:cNvSpPr/>
          <p:nvPr/>
        </p:nvSpPr>
        <p:spPr>
          <a:xfrm>
            <a:off x="6126480" y="2286000"/>
            <a:ext cx="1298448" cy="1783080"/>
          </a:xfrm>
          <a:prstGeom prst="roundRect">
            <a:avLst>
              <a:gd name="adj" fmla="val 4225"/>
            </a:avLst>
          </a:prstGeom>
          <a:solidFill>
            <a:srgbClr val="F5F5F5"/>
          </a:solidFill>
          <a:ln w="9525">
            <a:solidFill>
              <a:srgbClr val="E3E3E3"/>
            </a:solidFill>
            <a:prstDash val="solid"/>
          </a:ln>
          <a:effectLst>
            <a:outerShdw sx="100000" sy="100000" kx="0" ky="0" algn="bl" rotWithShape="0" blurRad="76200" dist="25400" dir="2700000">
              <a:srgbClr val="000000">
                <a:alpha val="12000"/>
              </a:srgbClr>
            </a:outerShdw>
          </a:effectLst>
        </p:spPr>
      </p:sp>
      <p:sp>
        <p:nvSpPr>
          <p:cNvPr id="32" name="Text 30"/>
          <p:cNvSpPr/>
          <p:nvPr/>
        </p:nvSpPr>
        <p:spPr>
          <a:xfrm>
            <a:off x="6217920" y="2395728"/>
            <a:ext cx="1133856" cy="502920"/>
          </a:xfrm>
          <a:prstGeom prst="rect">
            <a:avLst/>
          </a:prstGeom>
          <a:noFill/>
          <a:ln/>
        </p:spPr>
        <p:txBody>
          <a:bodyPr wrap="square" lIns="0" tIns="0" rIns="0" bIns="0" rtlCol="0" anchor="t"/>
          <a:lstStyle/>
          <a:p>
            <a:pPr indent="0" marL="0">
              <a:buNone/>
            </a:pPr>
            <a:r>
              <a:rPr lang="en-US" sz="1050" b="1" dirty="0">
                <a:solidFill>
                  <a:srgbClr val="1A1A1A"/>
                </a:solidFill>
                <a:latin typeface="Arial" pitchFamily="34" charset="0"/>
                <a:ea typeface="Arial" pitchFamily="34" charset="-122"/>
                <a:cs typeface="Arial" pitchFamily="34" charset="-120"/>
              </a:rPr>
              <a:t>Uitslagflow</a:t>
            </a:r>
            <a:endParaRPr lang="en-US" sz="1050" dirty="0"/>
          </a:p>
        </p:txBody>
      </p:sp>
      <p:sp>
        <p:nvSpPr>
          <p:cNvPr id="33" name="Text 31"/>
          <p:cNvSpPr/>
          <p:nvPr/>
        </p:nvSpPr>
        <p:spPr>
          <a:xfrm>
            <a:off x="6217920" y="2926080"/>
            <a:ext cx="1133856" cy="777240"/>
          </a:xfrm>
          <a:prstGeom prst="rect">
            <a:avLst/>
          </a:prstGeom>
          <a:noFill/>
          <a:ln/>
        </p:spPr>
        <p:txBody>
          <a:bodyPr wrap="square" lIns="0" tIns="0" rIns="0" bIns="0" rtlCol="0" anchor="t"/>
          <a:lstStyle/>
          <a:p>
            <a:pPr indent="0" marL="0">
              <a:buNone/>
            </a:pPr>
            <a:r>
              <a:rPr lang="en-US" sz="850" dirty="0">
                <a:solidFill>
                  <a:srgbClr val="5B5B5B"/>
                </a:solidFill>
                <a:latin typeface="Arial" pitchFamily="34" charset="0"/>
                <a:ea typeface="Arial" pitchFamily="34" charset="-122"/>
                <a:cs typeface="Arial" pitchFamily="34" charset="-120"/>
              </a:rPr>
              <a:t>VIES, bestemming, BTW-nota</a:t>
            </a:r>
            <a:endParaRPr lang="en-US" sz="850" dirty="0"/>
          </a:p>
        </p:txBody>
      </p:sp>
      <p:sp>
        <p:nvSpPr>
          <p:cNvPr id="34" name="Text 32"/>
          <p:cNvSpPr/>
          <p:nvPr/>
        </p:nvSpPr>
        <p:spPr>
          <a:xfrm>
            <a:off x="6217920" y="3730752"/>
            <a:ext cx="1133856" cy="274320"/>
          </a:xfrm>
          <a:prstGeom prst="rect">
            <a:avLst/>
          </a:prstGeom>
          <a:noFill/>
          <a:ln/>
        </p:spPr>
        <p:txBody>
          <a:bodyPr wrap="square" lIns="0" tIns="0" rIns="0" bIns="0" rtlCol="0" anchor="ctr"/>
          <a:lstStyle/>
          <a:p>
            <a:pPr indent="0" marL="0">
              <a:buNone/>
            </a:pPr>
            <a:r>
              <a:rPr lang="en-US" sz="950" b="1" dirty="0">
                <a:solidFill>
                  <a:srgbClr val="4C7016"/>
                </a:solidFill>
                <a:latin typeface="Arial" pitchFamily="34" charset="0"/>
                <a:ea typeface="Arial" pitchFamily="34" charset="-122"/>
                <a:cs typeface="Arial" pitchFamily="34" charset="-120"/>
              </a:rPr>
              <a:t>3-4 wk</a:t>
            </a:r>
            <a:endParaRPr lang="en-US" sz="950" dirty="0"/>
          </a:p>
        </p:txBody>
      </p:sp>
      <p:sp>
        <p:nvSpPr>
          <p:cNvPr id="35" name="Shape 33"/>
          <p:cNvSpPr/>
          <p:nvPr/>
        </p:nvSpPr>
        <p:spPr>
          <a:xfrm>
            <a:off x="7973568" y="1691640"/>
            <a:ext cx="384048" cy="384048"/>
          </a:xfrm>
          <a:prstGeom prst="ellipse">
            <a:avLst/>
          </a:prstGeom>
          <a:solidFill>
            <a:srgbClr val="86BC25"/>
          </a:solidFill>
          <a:ln w="12700">
            <a:solidFill>
              <a:srgbClr val="86BC25"/>
            </a:solidFill>
            <a:prstDash val="solid"/>
          </a:ln>
        </p:spPr>
      </p:sp>
      <p:sp>
        <p:nvSpPr>
          <p:cNvPr id="36" name="Text 34"/>
          <p:cNvSpPr/>
          <p:nvPr/>
        </p:nvSpPr>
        <p:spPr>
          <a:xfrm>
            <a:off x="7936992" y="1673352"/>
            <a:ext cx="457200"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37" name="Shape 35"/>
          <p:cNvSpPr/>
          <p:nvPr/>
        </p:nvSpPr>
        <p:spPr>
          <a:xfrm>
            <a:off x="7543800" y="2286000"/>
            <a:ext cx="1298448" cy="1783080"/>
          </a:xfrm>
          <a:prstGeom prst="roundRect">
            <a:avLst>
              <a:gd name="adj" fmla="val 4225"/>
            </a:avLst>
          </a:prstGeom>
          <a:solidFill>
            <a:srgbClr val="F5F5F5"/>
          </a:solidFill>
          <a:ln w="9525">
            <a:solidFill>
              <a:srgbClr val="E3E3E3"/>
            </a:solidFill>
            <a:prstDash val="solid"/>
          </a:ln>
          <a:effectLst>
            <a:outerShdw sx="100000" sy="100000" kx="0" ky="0" algn="bl" rotWithShape="0" blurRad="76200" dist="25400" dir="2700000">
              <a:srgbClr val="000000">
                <a:alpha val="12000"/>
              </a:srgbClr>
            </a:outerShdw>
          </a:effectLst>
        </p:spPr>
      </p:sp>
      <p:sp>
        <p:nvSpPr>
          <p:cNvPr id="38" name="Text 36"/>
          <p:cNvSpPr/>
          <p:nvPr/>
        </p:nvSpPr>
        <p:spPr>
          <a:xfrm>
            <a:off x="7635240" y="2395728"/>
            <a:ext cx="1133856" cy="502920"/>
          </a:xfrm>
          <a:prstGeom prst="rect">
            <a:avLst/>
          </a:prstGeom>
          <a:noFill/>
          <a:ln/>
        </p:spPr>
        <p:txBody>
          <a:bodyPr wrap="square" lIns="0" tIns="0" rIns="0" bIns="0" rtlCol="0" anchor="t"/>
          <a:lstStyle/>
          <a:p>
            <a:pPr indent="0" marL="0">
              <a:buNone/>
            </a:pPr>
            <a:r>
              <a:rPr lang="en-US" sz="1050" b="1" dirty="0">
                <a:solidFill>
                  <a:srgbClr val="1A1A1A"/>
                </a:solidFill>
                <a:latin typeface="Arial" pitchFamily="34" charset="0"/>
                <a:ea typeface="Arial" pitchFamily="34" charset="-122"/>
                <a:cs typeface="Arial" pitchFamily="34" charset="-120"/>
              </a:rPr>
              <a:t>Hardening</a:t>
            </a:r>
            <a:endParaRPr lang="en-US" sz="1050" dirty="0"/>
          </a:p>
        </p:txBody>
      </p:sp>
      <p:sp>
        <p:nvSpPr>
          <p:cNvPr id="39" name="Text 37"/>
          <p:cNvSpPr/>
          <p:nvPr/>
        </p:nvSpPr>
        <p:spPr>
          <a:xfrm>
            <a:off x="7635240" y="2926080"/>
            <a:ext cx="1133856" cy="777240"/>
          </a:xfrm>
          <a:prstGeom prst="rect">
            <a:avLst/>
          </a:prstGeom>
          <a:noFill/>
          <a:ln/>
        </p:spPr>
        <p:txBody>
          <a:bodyPr wrap="square" lIns="0" tIns="0" rIns="0" bIns="0" rtlCol="0" anchor="t"/>
          <a:lstStyle/>
          <a:p>
            <a:pPr indent="0" marL="0">
              <a:buNone/>
            </a:pPr>
            <a:r>
              <a:rPr lang="en-US" sz="850" dirty="0">
                <a:solidFill>
                  <a:srgbClr val="5B5B5B"/>
                </a:solidFill>
                <a:latin typeface="Arial" pitchFamily="34" charset="0"/>
                <a:ea typeface="Arial" pitchFamily="34" charset="-122"/>
                <a:cs typeface="Arial" pitchFamily="34" charset="-120"/>
              </a:rPr>
              <a:t>Security, tests, monitoring</a:t>
            </a:r>
            <a:endParaRPr lang="en-US" sz="850" dirty="0"/>
          </a:p>
        </p:txBody>
      </p:sp>
      <p:sp>
        <p:nvSpPr>
          <p:cNvPr id="40" name="Text 38"/>
          <p:cNvSpPr/>
          <p:nvPr/>
        </p:nvSpPr>
        <p:spPr>
          <a:xfrm>
            <a:off x="7635240" y="3730752"/>
            <a:ext cx="1133856" cy="274320"/>
          </a:xfrm>
          <a:prstGeom prst="rect">
            <a:avLst/>
          </a:prstGeom>
          <a:noFill/>
          <a:ln/>
        </p:spPr>
        <p:txBody>
          <a:bodyPr wrap="square" lIns="0" tIns="0" rIns="0" bIns="0" rtlCol="0" anchor="ctr"/>
          <a:lstStyle/>
          <a:p>
            <a:pPr indent="0" marL="0">
              <a:buNone/>
            </a:pPr>
            <a:r>
              <a:rPr lang="en-US" sz="950" b="1" dirty="0">
                <a:solidFill>
                  <a:srgbClr val="4C7016"/>
                </a:solidFill>
                <a:latin typeface="Arial" pitchFamily="34" charset="0"/>
                <a:ea typeface="Arial" pitchFamily="34" charset="-122"/>
                <a:cs typeface="Arial" pitchFamily="34" charset="-120"/>
              </a:rPr>
              <a:t>2-3 wk</a:t>
            </a:r>
            <a:endParaRPr lang="en-US" sz="950" dirty="0"/>
          </a:p>
        </p:txBody>
      </p:sp>
      <p:sp>
        <p:nvSpPr>
          <p:cNvPr id="41" name="Text 39"/>
          <p:cNvSpPr/>
          <p:nvPr/>
        </p:nvSpPr>
        <p:spPr>
          <a:xfrm>
            <a:off x="457200" y="4343400"/>
            <a:ext cx="8229600" cy="320040"/>
          </a:xfrm>
          <a:prstGeom prst="rect">
            <a:avLst/>
          </a:prstGeom>
          <a:noFill/>
          <a:ln/>
        </p:spPr>
        <p:txBody>
          <a:bodyPr wrap="square" lIns="0" tIns="0" rIns="0" bIns="0" rtlCol="0" anchor="ctr"/>
          <a:lstStyle/>
          <a:p>
            <a:pPr indent="0" marL="0">
              <a:buNone/>
            </a:pPr>
            <a:r>
              <a:rPr lang="en-US" sz="1050" i="1" dirty="0">
                <a:solidFill>
                  <a:srgbClr val="5B5B5B"/>
                </a:solidFill>
                <a:latin typeface="Arial" pitchFamily="34" charset="0"/>
                <a:ea typeface="Arial" pitchFamily="34" charset="-122"/>
                <a:cs typeface="Arial" pitchFamily="34" charset="-120"/>
              </a:rPr>
              <a:t>Indicatief totaal: 13 tot 19 weken doorlooptijd met 1 tot 2 ontwikkelaars en een btw-expert op afroep. Phase 0 is klein, goedkoop en beslissend.</a:t>
            </a:r>
            <a:endParaRPr lang="en-US" sz="1050" dirty="0"/>
          </a:p>
        </p:txBody>
      </p:sp>
      <p:sp>
        <p:nvSpPr>
          <p:cNvPr id="42" name="Text 40"/>
          <p:cNvSpPr/>
          <p:nvPr/>
        </p:nvSpPr>
        <p:spPr>
          <a:xfrm>
            <a:off x="457200" y="4864608"/>
            <a:ext cx="3200400" cy="228600"/>
          </a:xfrm>
          <a:prstGeom prst="rect">
            <a:avLst/>
          </a:prstGeom>
          <a:noFill/>
          <a:ln/>
        </p:spPr>
        <p:txBody>
          <a:bodyPr wrap="square" lIns="0" tIns="0" rIns="0" bIns="0" rtlCol="0" anchor="ctr"/>
          <a:lstStyle/>
          <a:p>
            <a:pPr indent="0" marL="0">
              <a:buNone/>
            </a:pPr>
            <a:r>
              <a:rPr lang="en-US" sz="850" dirty="0">
                <a:solidFill>
                  <a:srgbClr val="9A9A9A"/>
                </a:solidFill>
                <a:latin typeface="Arial" pitchFamily="34" charset="0"/>
                <a:ea typeface="Arial" pitchFamily="34" charset="-122"/>
                <a:cs typeface="Arial" pitchFamily="34" charset="-120"/>
              </a:rPr>
              <a:t>Deloitte | Intern werkdocument</a:t>
            </a:r>
            <a:endParaRPr lang="en-US" sz="850" dirty="0"/>
          </a:p>
        </p:txBody>
      </p:sp>
      <p:sp>
        <p:nvSpPr>
          <p:cNvPr id="43" name="Text 41"/>
          <p:cNvSpPr/>
          <p:nvPr/>
        </p:nvSpPr>
        <p:spPr>
          <a:xfrm>
            <a:off x="8503920" y="4864608"/>
            <a:ext cx="274320" cy="228600"/>
          </a:xfrm>
          <a:prstGeom prst="rect">
            <a:avLst/>
          </a:prstGeom>
          <a:noFill/>
          <a:ln/>
        </p:spPr>
        <p:txBody>
          <a:bodyPr wrap="square" lIns="0" tIns="0" rIns="0" bIns="0" rtlCol="0" anchor="ctr"/>
          <a:lstStyle/>
          <a:p>
            <a:pPr algn="r" indent="0" marL="0">
              <a:buNone/>
            </a:pPr>
            <a:r>
              <a:rPr lang="en-US" sz="850" dirty="0">
                <a:solidFill>
                  <a:srgbClr val="9A9A9A"/>
                </a:solidFill>
                <a:latin typeface="Arial" pitchFamily="34" charset="0"/>
                <a:ea typeface="Arial" pitchFamily="34" charset="-122"/>
                <a:cs typeface="Arial" pitchFamily="34" charset="-120"/>
              </a:rPr>
              <a:t>14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237744"/>
          </a:xfrm>
          <a:prstGeom prst="rect">
            <a:avLst/>
          </a:prstGeom>
          <a:noFill/>
          <a:ln/>
        </p:spPr>
        <p:txBody>
          <a:bodyPr wrap="square" lIns="0" tIns="0" rIns="0" bIns="0" rtlCol="0" anchor="ctr"/>
          <a:lstStyle/>
          <a:p>
            <a:pPr indent="0" marL="0">
              <a:buNone/>
            </a:pPr>
            <a:r>
              <a:rPr lang="en-US" sz="1050" b="1" spc="300" kern="0" dirty="0">
                <a:solidFill>
                  <a:srgbClr val="4C7016"/>
                </a:solidFill>
                <a:latin typeface="Arial" pitchFamily="34" charset="0"/>
                <a:ea typeface="Arial" pitchFamily="34" charset="-122"/>
                <a:cs typeface="Arial" pitchFamily="34" charset="-120"/>
              </a:rPr>
              <a:t>RISICO'S</a:t>
            </a:r>
            <a:endParaRPr lang="en-US" sz="1050" dirty="0"/>
          </a:p>
        </p:txBody>
      </p:sp>
      <p:sp>
        <p:nvSpPr>
          <p:cNvPr id="3" name="Text 1"/>
          <p:cNvSpPr/>
          <p:nvPr/>
        </p:nvSpPr>
        <p:spPr>
          <a:xfrm>
            <a:off x="457200" y="530352"/>
            <a:ext cx="8229600" cy="502920"/>
          </a:xfrm>
          <a:prstGeom prst="rect">
            <a:avLst/>
          </a:prstGeom>
          <a:noFill/>
          <a:ln/>
        </p:spPr>
        <p:txBody>
          <a:bodyPr wrap="square" lIns="0" tIns="0" rIns="0" bIns="0" rtlCol="0" anchor="ctr"/>
          <a:lstStyle/>
          <a:p>
            <a:pPr indent="0" marL="0">
              <a:buNone/>
            </a:pPr>
            <a:r>
              <a:rPr lang="en-US" sz="2300" b="1" dirty="0">
                <a:solidFill>
                  <a:srgbClr val="1A1A1A"/>
                </a:solidFill>
                <a:latin typeface="Arial" pitchFamily="34" charset="0"/>
                <a:ea typeface="Arial" pitchFamily="34" charset="-122"/>
                <a:cs typeface="Arial" pitchFamily="34" charset="-120"/>
              </a:rPr>
              <a:t>Elk risico heeft een mitigatie of een beslispunt</a:t>
            </a:r>
            <a:endParaRPr lang="en-US" sz="2300" dirty="0"/>
          </a:p>
        </p:txBody>
      </p:sp>
      <p:sp>
        <p:nvSpPr>
          <p:cNvPr id="4" name="Shape 2"/>
          <p:cNvSpPr/>
          <p:nvPr/>
        </p:nvSpPr>
        <p:spPr>
          <a:xfrm>
            <a:off x="457200" y="1325880"/>
            <a:ext cx="5029200" cy="3383280"/>
          </a:xfrm>
          <a:prstGeom prst="roundRect">
            <a:avLst>
              <a:gd name="adj" fmla="val 1622"/>
            </a:avLst>
          </a:prstGeom>
          <a:solidFill>
            <a:srgbClr val="F5F5F5"/>
          </a:solidFill>
          <a:ln w="9525">
            <a:solidFill>
              <a:srgbClr val="E3E3E3"/>
            </a:solidFill>
            <a:prstDash val="solid"/>
          </a:ln>
          <a:effectLst>
            <a:outerShdw sx="100000" sy="100000" kx="0" ky="0" algn="bl" rotWithShape="0" blurRad="76200" dist="25400" dir="2700000">
              <a:srgbClr val="000000">
                <a:alpha val="12000"/>
              </a:srgbClr>
            </a:outerShdw>
          </a:effectLst>
        </p:spPr>
      </p:sp>
      <p:sp>
        <p:nvSpPr>
          <p:cNvPr id="5" name="Text 3"/>
          <p:cNvSpPr/>
          <p:nvPr/>
        </p:nvSpPr>
        <p:spPr>
          <a:xfrm>
            <a:off x="685800" y="1444752"/>
            <a:ext cx="4572000" cy="27432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Top 5 risico's → mitigatie</a:t>
            </a:r>
            <a:endParaRPr lang="en-US" sz="1300" dirty="0"/>
          </a:p>
        </p:txBody>
      </p:sp>
      <p:sp>
        <p:nvSpPr>
          <p:cNvPr id="6" name="Text 4"/>
          <p:cNvSpPr/>
          <p:nvPr/>
        </p:nvSpPr>
        <p:spPr>
          <a:xfrm>
            <a:off x="685800" y="1810512"/>
            <a:ext cx="4572000" cy="530352"/>
          </a:xfrm>
          <a:prstGeom prst="rect">
            <a:avLst/>
          </a:prstGeom>
          <a:noFill/>
          <a:ln/>
        </p:spPr>
        <p:txBody>
          <a:bodyPr wrap="square" lIns="0" tIns="0" rIns="0" bIns="0" rtlCol="0" anchor="ctr"/>
          <a:lstStyle/>
          <a:p>
            <a:pPr indent="0" marL="0">
              <a:buNone/>
            </a:pPr>
            <a:r>
              <a:rPr lang="en-US" sz="1050" b="1" dirty="0">
                <a:solidFill>
                  <a:srgbClr val="1A1A1A"/>
                </a:solidFill>
                <a:latin typeface="Arial" pitchFamily="34" charset="0"/>
                <a:ea typeface="Arial" pitchFamily="34" charset="-122"/>
                <a:cs typeface="Arial" pitchFamily="34" charset="-120"/>
              </a:rPr>
              <a:t>Extractiekwaliteit op scans</a:t>
            </a:r>
            <a:pPr indent="0" marL="0">
              <a:buNone/>
            </a:pPr>
            <a:r>
              <a:rPr lang="en-US" sz="1050" dirty="0">
                <a:solidFill>
                  <a:srgbClr val="5B5B5B"/>
                </a:solidFill>
                <a:latin typeface="Arial" pitchFamily="34" charset="0"/>
                <a:ea typeface="Arial" pitchFamily="34" charset="-122"/>
                <a:cs typeface="Arial" pitchFamily="34" charset="-120"/>
              </a:rPr>
              <a:t>  →  meten in Phase 0; mens-in-de-lus</a:t>
            </a:r>
            <a:endParaRPr lang="en-US" sz="1050" dirty="0"/>
          </a:p>
        </p:txBody>
      </p:sp>
      <p:sp>
        <p:nvSpPr>
          <p:cNvPr id="7" name="Text 5"/>
          <p:cNvSpPr/>
          <p:nvPr/>
        </p:nvSpPr>
        <p:spPr>
          <a:xfrm>
            <a:off x="685800" y="2377440"/>
            <a:ext cx="4572000" cy="530352"/>
          </a:xfrm>
          <a:prstGeom prst="rect">
            <a:avLst/>
          </a:prstGeom>
          <a:noFill/>
          <a:ln/>
        </p:spPr>
        <p:txBody>
          <a:bodyPr wrap="square" lIns="0" tIns="0" rIns="0" bIns="0" rtlCol="0" anchor="ctr"/>
          <a:lstStyle/>
          <a:p>
            <a:pPr indent="0" marL="0">
              <a:buNone/>
            </a:pPr>
            <a:r>
              <a:rPr lang="en-US" sz="1050" b="1" dirty="0">
                <a:solidFill>
                  <a:srgbClr val="1A1A1A"/>
                </a:solidFill>
                <a:latin typeface="Arial" pitchFamily="34" charset="0"/>
                <a:ea typeface="Arial" pitchFamily="34" charset="-122"/>
                <a:cs typeface="Arial" pitchFamily="34" charset="-120"/>
              </a:rPr>
              <a:t>AI-framework nieuw in 19.0</a:t>
            </a:r>
            <a:pPr indent="0" marL="0">
              <a:buNone/>
            </a:pPr>
            <a:r>
              <a:rPr lang="en-US" sz="1050" dirty="0">
                <a:solidFill>
                  <a:srgbClr val="5B5B5B"/>
                </a:solidFill>
                <a:latin typeface="Arial" pitchFamily="34" charset="0"/>
                <a:ea typeface="Arial" pitchFamily="34" charset="-122"/>
                <a:cs typeface="Arial" pitchFamily="34" charset="-120"/>
              </a:rPr>
              <a:t>  →  isolatie in aparte bridge-module</a:t>
            </a:r>
            <a:endParaRPr lang="en-US" sz="1050" dirty="0"/>
          </a:p>
        </p:txBody>
      </p:sp>
      <p:sp>
        <p:nvSpPr>
          <p:cNvPr id="8" name="Text 6"/>
          <p:cNvSpPr/>
          <p:nvPr/>
        </p:nvSpPr>
        <p:spPr>
          <a:xfrm>
            <a:off x="685800" y="2944368"/>
            <a:ext cx="4572000" cy="530352"/>
          </a:xfrm>
          <a:prstGeom prst="rect">
            <a:avLst/>
          </a:prstGeom>
          <a:noFill/>
          <a:ln/>
        </p:spPr>
        <p:txBody>
          <a:bodyPr wrap="square" lIns="0" tIns="0" rIns="0" bIns="0" rtlCol="0" anchor="ctr"/>
          <a:lstStyle/>
          <a:p>
            <a:pPr indent="0" marL="0">
              <a:buNone/>
            </a:pPr>
            <a:r>
              <a:rPr lang="en-US" sz="1050" b="1" dirty="0">
                <a:solidFill>
                  <a:srgbClr val="1A1A1A"/>
                </a:solidFill>
                <a:latin typeface="Arial" pitchFamily="34" charset="0"/>
                <a:ea typeface="Arial" pitchFamily="34" charset="-122"/>
                <a:cs typeface="Arial" pitchFamily="34" charset="-120"/>
              </a:rPr>
              <a:t>Fiscale regels</a:t>
            </a:r>
            <a:pPr indent="0" marL="0">
              <a:buNone/>
            </a:pPr>
            <a:r>
              <a:rPr lang="en-US" sz="1050" dirty="0">
                <a:solidFill>
                  <a:srgbClr val="5B5B5B"/>
                </a:solidFill>
                <a:latin typeface="Arial" pitchFamily="34" charset="0"/>
                <a:ea typeface="Arial" pitchFamily="34" charset="-122"/>
                <a:cs typeface="Arial" pitchFamily="34" charset="-120"/>
              </a:rPr>
              <a:t>  →  expert-gate vóór elke automatisering</a:t>
            </a:r>
            <a:endParaRPr lang="en-US" sz="1050" dirty="0"/>
          </a:p>
        </p:txBody>
      </p:sp>
      <p:sp>
        <p:nvSpPr>
          <p:cNvPr id="9" name="Text 7"/>
          <p:cNvSpPr/>
          <p:nvPr/>
        </p:nvSpPr>
        <p:spPr>
          <a:xfrm>
            <a:off x="685800" y="3511296"/>
            <a:ext cx="4572000" cy="530352"/>
          </a:xfrm>
          <a:prstGeom prst="rect">
            <a:avLst/>
          </a:prstGeom>
          <a:noFill/>
          <a:ln/>
        </p:spPr>
        <p:txBody>
          <a:bodyPr wrap="square" lIns="0" tIns="0" rIns="0" bIns="0" rtlCol="0" anchor="ctr"/>
          <a:lstStyle/>
          <a:p>
            <a:pPr indent="0" marL="0">
              <a:buNone/>
            </a:pPr>
            <a:r>
              <a:rPr lang="en-US" sz="1050" b="1" dirty="0">
                <a:solidFill>
                  <a:srgbClr val="1A1A1A"/>
                </a:solidFill>
                <a:latin typeface="Arial" pitchFamily="34" charset="0"/>
                <a:ea typeface="Arial" pitchFamily="34" charset="-122"/>
                <a:cs typeface="Arial" pitchFamily="34" charset="-120"/>
              </a:rPr>
              <a:t>Privacy en governance</a:t>
            </a:r>
            <a:pPr indent="0" marL="0">
              <a:buNone/>
            </a:pPr>
            <a:r>
              <a:rPr lang="en-US" sz="1050" dirty="0">
                <a:solidFill>
                  <a:srgbClr val="5B5B5B"/>
                </a:solidFill>
                <a:latin typeface="Arial" pitchFamily="34" charset="0"/>
                <a:ea typeface="Arial" pitchFamily="34" charset="-122"/>
                <a:cs typeface="Arial" pitchFamily="34" charset="-120"/>
              </a:rPr>
              <a:t>  →  engine-keuze per documenttype</a:t>
            </a:r>
            <a:endParaRPr lang="en-US" sz="1050" dirty="0"/>
          </a:p>
        </p:txBody>
      </p:sp>
      <p:sp>
        <p:nvSpPr>
          <p:cNvPr id="10" name="Text 8"/>
          <p:cNvSpPr/>
          <p:nvPr/>
        </p:nvSpPr>
        <p:spPr>
          <a:xfrm>
            <a:off x="685800" y="4078224"/>
            <a:ext cx="4572000" cy="530352"/>
          </a:xfrm>
          <a:prstGeom prst="rect">
            <a:avLst/>
          </a:prstGeom>
          <a:noFill/>
          <a:ln/>
        </p:spPr>
        <p:txBody>
          <a:bodyPr wrap="square" lIns="0" tIns="0" rIns="0" bIns="0" rtlCol="0" anchor="ctr"/>
          <a:lstStyle/>
          <a:p>
            <a:pPr indent="0" marL="0">
              <a:buNone/>
            </a:pPr>
            <a:r>
              <a:rPr lang="en-US" sz="1050" b="1" dirty="0">
                <a:solidFill>
                  <a:srgbClr val="1A1A1A"/>
                </a:solidFill>
                <a:latin typeface="Arial" pitchFamily="34" charset="0"/>
                <a:ea typeface="Arial" pitchFamily="34" charset="-122"/>
                <a:cs typeface="Arial" pitchFamily="34" charset="-120"/>
              </a:rPr>
              <a:t>Masterdata-kwaliteit</a:t>
            </a:r>
            <a:pPr indent="0" marL="0">
              <a:buNone/>
            </a:pPr>
            <a:r>
              <a:rPr lang="en-US" sz="1050" dirty="0">
                <a:solidFill>
                  <a:srgbClr val="5B5B5B"/>
                </a:solidFill>
                <a:latin typeface="Arial" pitchFamily="34" charset="0"/>
                <a:ea typeface="Arial" pitchFamily="34" charset="-122"/>
                <a:cs typeface="Arial" pitchFamily="34" charset="-120"/>
              </a:rPr>
              <a:t>  →  eigenaarschap beleggen bij het team</a:t>
            </a:r>
            <a:endParaRPr lang="en-US" sz="1050" dirty="0"/>
          </a:p>
        </p:txBody>
      </p:sp>
      <p:sp>
        <p:nvSpPr>
          <p:cNvPr id="11" name="Shape 9"/>
          <p:cNvSpPr/>
          <p:nvPr/>
        </p:nvSpPr>
        <p:spPr>
          <a:xfrm>
            <a:off x="5715000" y="1325880"/>
            <a:ext cx="2971800" cy="3383280"/>
          </a:xfrm>
          <a:prstGeom prst="roundRect">
            <a:avLst>
              <a:gd name="adj" fmla="val 1846"/>
            </a:avLst>
          </a:prstGeom>
          <a:solidFill>
            <a:srgbClr val="F3F8E9"/>
          </a:solidFill>
          <a:ln w="9525">
            <a:solidFill>
              <a:srgbClr val="E3E3E3"/>
            </a:solidFill>
            <a:prstDash val="solid"/>
          </a:ln>
          <a:effectLst>
            <a:outerShdw sx="100000" sy="100000" kx="0" ky="0" algn="bl" rotWithShape="0" blurRad="76200" dist="25400" dir="2700000">
              <a:srgbClr val="000000">
                <a:alpha val="12000"/>
              </a:srgbClr>
            </a:outerShdw>
          </a:effectLst>
        </p:spPr>
      </p:sp>
      <p:sp>
        <p:nvSpPr>
          <p:cNvPr id="12" name="Text 10"/>
          <p:cNvSpPr/>
          <p:nvPr/>
        </p:nvSpPr>
        <p:spPr>
          <a:xfrm>
            <a:off x="5943600" y="1444752"/>
            <a:ext cx="2560320" cy="27432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Open vragen</a:t>
            </a:r>
            <a:endParaRPr lang="en-US" sz="1300" dirty="0"/>
          </a:p>
        </p:txBody>
      </p:sp>
      <p:sp>
        <p:nvSpPr>
          <p:cNvPr id="13" name="Text 11"/>
          <p:cNvSpPr/>
          <p:nvPr/>
        </p:nvSpPr>
        <p:spPr>
          <a:xfrm>
            <a:off x="5943600" y="1810512"/>
            <a:ext cx="2606040" cy="2743200"/>
          </a:xfrm>
          <a:prstGeom prst="rect">
            <a:avLst/>
          </a:prstGeom>
          <a:noFill/>
          <a:ln/>
        </p:spPr>
        <p:txBody>
          <a:bodyPr wrap="square" rtlCol="0" anchor="t"/>
          <a:lstStyle/>
          <a:p>
            <a:pPr marL="152400" indent="-152400">
              <a:spcAft>
                <a:spcPts val="1200"/>
              </a:spcAft>
              <a:buSzPct val="100000"/>
              <a:buChar char="•"/>
            </a:pPr>
            <a:r>
              <a:rPr lang="en-US" sz="1050" dirty="0">
                <a:solidFill>
                  <a:srgbClr val="1A1A1A"/>
                </a:solidFill>
                <a:latin typeface="Arial" pitchFamily="34" charset="0"/>
                <a:ea typeface="Arial" pitchFamily="34" charset="-122"/>
                <a:cs typeface="Arial" pitchFamily="34" charset="-120"/>
              </a:rPr>
              <a:t>Voorbeelddocumenten voor de PoC beschikbaar?</a:t>
            </a:r>
            <a:endParaRPr lang="en-US" sz="1050" dirty="0"/>
          </a:p>
          <a:p>
            <a:pPr marL="152400" indent="-152400">
              <a:spcAft>
                <a:spcPts val="1200"/>
              </a:spcAft>
              <a:buSzPct val="100000"/>
              <a:buChar char="•"/>
            </a:pPr>
            <a:r>
              <a:rPr lang="en-US" sz="1050" dirty="0">
                <a:solidFill>
                  <a:srgbClr val="1A1A1A"/>
                </a:solidFill>
                <a:latin typeface="Arial" pitchFamily="34" charset="0"/>
                <a:ea typeface="Arial" pitchFamily="34" charset="-122"/>
                <a:cs typeface="Arial" pitchFamily="34" charset="-120"/>
              </a:rPr>
              <a:t>Welke corporate extraction-tooling is goedgekeurd?</a:t>
            </a:r>
            <a:endParaRPr lang="en-US" sz="1050" dirty="0"/>
          </a:p>
          <a:p>
            <a:pPr marL="152400" indent="-152400">
              <a:spcAft>
                <a:spcPts val="1200"/>
              </a:spcAft>
              <a:buSzPct val="100000"/>
              <a:buChar char="•"/>
            </a:pPr>
            <a:r>
              <a:rPr lang="en-US" sz="1050" dirty="0">
                <a:solidFill>
                  <a:srgbClr val="1A1A1A"/>
                </a:solidFill>
                <a:latin typeface="Arial" pitchFamily="34" charset="0"/>
                <a:ea typeface="Arial" pitchFamily="34" charset="-122"/>
                <a:cs typeface="Arial" pitchFamily="34" charset="-120"/>
              </a:rPr>
              <a:t>Wie valideert de fiscale beslisregels?</a:t>
            </a:r>
            <a:endParaRPr lang="en-US" sz="1050" dirty="0"/>
          </a:p>
          <a:p>
            <a:pPr marL="152400" indent="-152400">
              <a:spcAft>
                <a:spcPts val="1200"/>
              </a:spcAft>
              <a:buSzPct val="100000"/>
              <a:buChar char="•"/>
            </a:pPr>
            <a:r>
              <a:rPr lang="en-US" sz="1050" dirty="0">
                <a:solidFill>
                  <a:srgbClr val="1A1A1A"/>
                </a:solidFill>
                <a:latin typeface="Arial" pitchFamily="34" charset="0"/>
                <a:ea typeface="Arial" pitchFamily="34" charset="-122"/>
                <a:cs typeface="Arial" pitchFamily="34" charset="-120"/>
              </a:rPr>
              <a:t>Documents-app als uploadportaal of eigen menu?</a:t>
            </a:r>
            <a:endParaRPr lang="en-US" sz="1050" dirty="0"/>
          </a:p>
        </p:txBody>
      </p:sp>
      <p:sp>
        <p:nvSpPr>
          <p:cNvPr id="14" name="Text 12"/>
          <p:cNvSpPr/>
          <p:nvPr/>
        </p:nvSpPr>
        <p:spPr>
          <a:xfrm>
            <a:off x="457200" y="4864608"/>
            <a:ext cx="3200400" cy="228600"/>
          </a:xfrm>
          <a:prstGeom prst="rect">
            <a:avLst/>
          </a:prstGeom>
          <a:noFill/>
          <a:ln/>
        </p:spPr>
        <p:txBody>
          <a:bodyPr wrap="square" lIns="0" tIns="0" rIns="0" bIns="0" rtlCol="0" anchor="ctr"/>
          <a:lstStyle/>
          <a:p>
            <a:pPr indent="0" marL="0">
              <a:buNone/>
            </a:pPr>
            <a:r>
              <a:rPr lang="en-US" sz="850" dirty="0">
                <a:solidFill>
                  <a:srgbClr val="9A9A9A"/>
                </a:solidFill>
                <a:latin typeface="Arial" pitchFamily="34" charset="0"/>
                <a:ea typeface="Arial" pitchFamily="34" charset="-122"/>
                <a:cs typeface="Arial" pitchFamily="34" charset="-120"/>
              </a:rPr>
              <a:t>Deloitte | Intern werkdocument</a:t>
            </a:r>
            <a:endParaRPr lang="en-US" sz="850" dirty="0"/>
          </a:p>
        </p:txBody>
      </p:sp>
      <p:sp>
        <p:nvSpPr>
          <p:cNvPr id="15" name="Text 13"/>
          <p:cNvSpPr/>
          <p:nvPr/>
        </p:nvSpPr>
        <p:spPr>
          <a:xfrm>
            <a:off x="8503920" y="4864608"/>
            <a:ext cx="274320" cy="228600"/>
          </a:xfrm>
          <a:prstGeom prst="rect">
            <a:avLst/>
          </a:prstGeom>
          <a:noFill/>
          <a:ln/>
        </p:spPr>
        <p:txBody>
          <a:bodyPr wrap="square" lIns="0" tIns="0" rIns="0" bIns="0" rtlCol="0" anchor="ctr"/>
          <a:lstStyle/>
          <a:p>
            <a:pPr algn="r" indent="0" marL="0">
              <a:buNone/>
            </a:pPr>
            <a:r>
              <a:rPr lang="en-US" sz="850" dirty="0">
                <a:solidFill>
                  <a:srgbClr val="9A9A9A"/>
                </a:solidFill>
                <a:latin typeface="Arial" pitchFamily="34" charset="0"/>
                <a:ea typeface="Arial" pitchFamily="34" charset="-122"/>
                <a:cs typeface="Arial" pitchFamily="34" charset="-120"/>
              </a:rPr>
              <a:t>15</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1414"/>
        </a:solidFill>
      </p:bgPr>
    </p:bg>
    <p:spTree>
      <p:nvGrpSpPr>
        <p:cNvPr id="1" name=""/>
        <p:cNvGrpSpPr/>
        <p:nvPr/>
      </p:nvGrpSpPr>
      <p:grpSpPr>
        <a:xfrm>
          <a:off x="0" y="0"/>
          <a:ext cx="0" cy="0"/>
          <a:chOff x="0" y="0"/>
          <a:chExt cx="0" cy="0"/>
        </a:xfrm>
      </p:grpSpPr>
      <p:sp>
        <p:nvSpPr>
          <p:cNvPr id="2" name="Shape 0"/>
          <p:cNvSpPr/>
          <p:nvPr/>
        </p:nvSpPr>
        <p:spPr>
          <a:xfrm>
            <a:off x="-1188720" y="3474720"/>
            <a:ext cx="2834640" cy="2834640"/>
          </a:xfrm>
          <a:prstGeom prst="ellipse">
            <a:avLst/>
          </a:prstGeom>
          <a:solidFill>
            <a:srgbClr val="86BC25"/>
          </a:solidFill>
          <a:ln w="12700">
            <a:solidFill>
              <a:srgbClr val="333333"/>
            </a:solidFill>
            <a:prstDash val="solid"/>
          </a:ln>
        </p:spPr>
      </p:sp>
      <p:sp>
        <p:nvSpPr>
          <p:cNvPr id="3" name="Text 1"/>
          <p:cNvSpPr/>
          <p:nvPr/>
        </p:nvSpPr>
        <p:spPr>
          <a:xfrm>
            <a:off x="548640" y="384048"/>
            <a:ext cx="8046720" cy="274320"/>
          </a:xfrm>
          <a:prstGeom prst="rect">
            <a:avLst/>
          </a:prstGeom>
          <a:noFill/>
          <a:ln/>
        </p:spPr>
        <p:txBody>
          <a:bodyPr wrap="square" lIns="0" tIns="0" rIns="0" bIns="0" rtlCol="0" anchor="ctr"/>
          <a:lstStyle/>
          <a:p>
            <a:pPr indent="0" marL="0">
              <a:buNone/>
            </a:pPr>
            <a:r>
              <a:rPr lang="en-US" sz="1100" b="1" spc="300" kern="0" dirty="0">
                <a:solidFill>
                  <a:srgbClr val="86BC25"/>
                </a:solidFill>
                <a:latin typeface="Arial" pitchFamily="34" charset="0"/>
                <a:ea typeface="Arial" pitchFamily="34" charset="-122"/>
                <a:cs typeface="Arial" pitchFamily="34" charset="-120"/>
              </a:rPr>
              <a:t>BESLISVRAAG</a:t>
            </a:r>
            <a:endParaRPr lang="en-US" sz="1100" dirty="0"/>
          </a:p>
        </p:txBody>
      </p:sp>
      <p:sp>
        <p:nvSpPr>
          <p:cNvPr id="4" name="Text 2"/>
          <p:cNvSpPr/>
          <p:nvPr/>
        </p:nvSpPr>
        <p:spPr>
          <a:xfrm>
            <a:off x="548640" y="658368"/>
            <a:ext cx="8046720" cy="50292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Drie akkoorden gevraagd</a:t>
            </a:r>
            <a:endParaRPr lang="en-US" sz="2600" dirty="0"/>
          </a:p>
        </p:txBody>
      </p:sp>
      <p:sp>
        <p:nvSpPr>
          <p:cNvPr id="5" name="Shape 3"/>
          <p:cNvSpPr/>
          <p:nvPr/>
        </p:nvSpPr>
        <p:spPr>
          <a:xfrm>
            <a:off x="548640" y="1463040"/>
            <a:ext cx="2606040" cy="1920240"/>
          </a:xfrm>
          <a:prstGeom prst="roundRect">
            <a:avLst>
              <a:gd name="adj" fmla="val 2857"/>
            </a:avLst>
          </a:prstGeom>
          <a:solidFill>
            <a:srgbClr val="222222"/>
          </a:solidFill>
          <a:ln w="9525">
            <a:solidFill>
              <a:srgbClr val="333333"/>
            </a:solidFill>
            <a:prstDash val="solid"/>
          </a:ln>
        </p:spPr>
      </p:sp>
      <p:sp>
        <p:nvSpPr>
          <p:cNvPr id="6" name="Shape 4"/>
          <p:cNvSpPr/>
          <p:nvPr/>
        </p:nvSpPr>
        <p:spPr>
          <a:xfrm>
            <a:off x="731520" y="1645920"/>
            <a:ext cx="365760" cy="365760"/>
          </a:xfrm>
          <a:prstGeom prst="ellipse">
            <a:avLst/>
          </a:prstGeom>
          <a:solidFill>
            <a:srgbClr val="86BC25"/>
          </a:solidFill>
          <a:ln w="12700">
            <a:solidFill>
              <a:srgbClr val="86BC25"/>
            </a:solidFill>
            <a:prstDash val="solid"/>
          </a:ln>
        </p:spPr>
      </p:sp>
      <p:sp>
        <p:nvSpPr>
          <p:cNvPr id="7" name="Text 5"/>
          <p:cNvSpPr/>
          <p:nvPr/>
        </p:nvSpPr>
        <p:spPr>
          <a:xfrm>
            <a:off x="694944" y="1627632"/>
            <a:ext cx="438912"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8" name="Text 6"/>
          <p:cNvSpPr/>
          <p:nvPr/>
        </p:nvSpPr>
        <p:spPr>
          <a:xfrm>
            <a:off x="731520" y="2121408"/>
            <a:ext cx="2240280" cy="548640"/>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Go voor Phase 0</a:t>
            </a:r>
            <a:endParaRPr lang="en-US" sz="1300" dirty="0"/>
          </a:p>
        </p:txBody>
      </p:sp>
      <p:sp>
        <p:nvSpPr>
          <p:cNvPr id="9" name="Text 7"/>
          <p:cNvSpPr/>
          <p:nvPr/>
        </p:nvSpPr>
        <p:spPr>
          <a:xfrm>
            <a:off x="731520" y="2670048"/>
            <a:ext cx="2240280" cy="640080"/>
          </a:xfrm>
          <a:prstGeom prst="rect">
            <a:avLst/>
          </a:prstGeom>
          <a:noFill/>
          <a:ln/>
        </p:spPr>
        <p:txBody>
          <a:bodyPr wrap="square" lIns="0" tIns="0" rIns="0" bIns="0" rtlCol="0" anchor="t"/>
          <a:lstStyle/>
          <a:p>
            <a:pPr indent="0" marL="0">
              <a:buNone/>
            </a:pPr>
            <a:r>
              <a:rPr lang="en-US" sz="1000" dirty="0">
                <a:solidFill>
                  <a:srgbClr val="BFBFBF"/>
                </a:solidFill>
                <a:latin typeface="Arial" pitchFamily="34" charset="0"/>
                <a:ea typeface="Arial" pitchFamily="34" charset="-122"/>
                <a:cs typeface="Arial" pitchFamily="34" charset="-120"/>
              </a:rPr>
              <a:t>Feasibility-PoC's starten en geanonimiseerde voorbeelddocumenten aanleveren</a:t>
            </a:r>
            <a:endParaRPr lang="en-US" sz="1000" dirty="0"/>
          </a:p>
        </p:txBody>
      </p:sp>
      <p:sp>
        <p:nvSpPr>
          <p:cNvPr id="10" name="Shape 8"/>
          <p:cNvSpPr/>
          <p:nvPr/>
        </p:nvSpPr>
        <p:spPr>
          <a:xfrm>
            <a:off x="3337560" y="1463040"/>
            <a:ext cx="2606040" cy="1920240"/>
          </a:xfrm>
          <a:prstGeom prst="roundRect">
            <a:avLst>
              <a:gd name="adj" fmla="val 2857"/>
            </a:avLst>
          </a:prstGeom>
          <a:solidFill>
            <a:srgbClr val="222222"/>
          </a:solidFill>
          <a:ln w="9525">
            <a:solidFill>
              <a:srgbClr val="333333"/>
            </a:solidFill>
            <a:prstDash val="solid"/>
          </a:ln>
        </p:spPr>
      </p:sp>
      <p:sp>
        <p:nvSpPr>
          <p:cNvPr id="11" name="Shape 9"/>
          <p:cNvSpPr/>
          <p:nvPr/>
        </p:nvSpPr>
        <p:spPr>
          <a:xfrm>
            <a:off x="3520440" y="1645920"/>
            <a:ext cx="365760" cy="365760"/>
          </a:xfrm>
          <a:prstGeom prst="ellipse">
            <a:avLst/>
          </a:prstGeom>
          <a:solidFill>
            <a:srgbClr val="86BC25"/>
          </a:solidFill>
          <a:ln w="12700">
            <a:solidFill>
              <a:srgbClr val="86BC25"/>
            </a:solidFill>
            <a:prstDash val="solid"/>
          </a:ln>
        </p:spPr>
      </p:sp>
      <p:sp>
        <p:nvSpPr>
          <p:cNvPr id="12" name="Text 10"/>
          <p:cNvSpPr/>
          <p:nvPr/>
        </p:nvSpPr>
        <p:spPr>
          <a:xfrm>
            <a:off x="3483864" y="1627632"/>
            <a:ext cx="438912"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3" name="Text 11"/>
          <p:cNvSpPr/>
          <p:nvPr/>
        </p:nvSpPr>
        <p:spPr>
          <a:xfrm>
            <a:off x="3520440" y="2121408"/>
            <a:ext cx="2240280" cy="548640"/>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Btw-validator aanduiden</a:t>
            </a:r>
            <a:endParaRPr lang="en-US" sz="1300" dirty="0"/>
          </a:p>
        </p:txBody>
      </p:sp>
      <p:sp>
        <p:nvSpPr>
          <p:cNvPr id="14" name="Text 12"/>
          <p:cNvSpPr/>
          <p:nvPr/>
        </p:nvSpPr>
        <p:spPr>
          <a:xfrm>
            <a:off x="3520440" y="2670048"/>
            <a:ext cx="2240280" cy="640080"/>
          </a:xfrm>
          <a:prstGeom prst="rect">
            <a:avLst/>
          </a:prstGeom>
          <a:noFill/>
          <a:ln/>
        </p:spPr>
        <p:txBody>
          <a:bodyPr wrap="square" lIns="0" tIns="0" rIns="0" bIns="0" rtlCol="0" anchor="t"/>
          <a:lstStyle/>
          <a:p>
            <a:pPr indent="0" marL="0">
              <a:buNone/>
            </a:pPr>
            <a:r>
              <a:rPr lang="en-US" sz="1000" dirty="0">
                <a:solidFill>
                  <a:srgbClr val="BFBFBF"/>
                </a:solidFill>
                <a:latin typeface="Arial" pitchFamily="34" charset="0"/>
                <a:ea typeface="Arial" pitchFamily="34" charset="-122"/>
                <a:cs typeface="Arial" pitchFamily="34" charset="-120"/>
              </a:rPr>
              <a:t>Eén aanspreekpunt voor de validatie van de fiscale beslisregels</a:t>
            </a:r>
            <a:endParaRPr lang="en-US" sz="1000" dirty="0"/>
          </a:p>
        </p:txBody>
      </p:sp>
      <p:sp>
        <p:nvSpPr>
          <p:cNvPr id="15" name="Shape 13"/>
          <p:cNvSpPr/>
          <p:nvPr/>
        </p:nvSpPr>
        <p:spPr>
          <a:xfrm>
            <a:off x="6126480" y="1463040"/>
            <a:ext cx="2606040" cy="1920240"/>
          </a:xfrm>
          <a:prstGeom prst="roundRect">
            <a:avLst>
              <a:gd name="adj" fmla="val 2857"/>
            </a:avLst>
          </a:prstGeom>
          <a:solidFill>
            <a:srgbClr val="222222"/>
          </a:solidFill>
          <a:ln w="9525">
            <a:solidFill>
              <a:srgbClr val="333333"/>
            </a:solidFill>
            <a:prstDash val="solid"/>
          </a:ln>
        </p:spPr>
      </p:sp>
      <p:sp>
        <p:nvSpPr>
          <p:cNvPr id="16" name="Shape 14"/>
          <p:cNvSpPr/>
          <p:nvPr/>
        </p:nvSpPr>
        <p:spPr>
          <a:xfrm>
            <a:off x="6309360" y="1645920"/>
            <a:ext cx="365760" cy="365760"/>
          </a:xfrm>
          <a:prstGeom prst="ellipse">
            <a:avLst/>
          </a:prstGeom>
          <a:solidFill>
            <a:srgbClr val="86BC25"/>
          </a:solidFill>
          <a:ln w="12700">
            <a:solidFill>
              <a:srgbClr val="86BC25"/>
            </a:solidFill>
            <a:prstDash val="solid"/>
          </a:ln>
        </p:spPr>
      </p:sp>
      <p:sp>
        <p:nvSpPr>
          <p:cNvPr id="17" name="Text 15"/>
          <p:cNvSpPr/>
          <p:nvPr/>
        </p:nvSpPr>
        <p:spPr>
          <a:xfrm>
            <a:off x="6272784" y="1627632"/>
            <a:ext cx="438912"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8" name="Text 16"/>
          <p:cNvSpPr/>
          <p:nvPr/>
        </p:nvSpPr>
        <p:spPr>
          <a:xfrm>
            <a:off x="6309360" y="2121408"/>
            <a:ext cx="2240280" cy="548640"/>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Governance-akkoord tooling</a:t>
            </a:r>
            <a:endParaRPr lang="en-US" sz="1300" dirty="0"/>
          </a:p>
        </p:txBody>
      </p:sp>
      <p:sp>
        <p:nvSpPr>
          <p:cNvPr id="19" name="Text 17"/>
          <p:cNvSpPr/>
          <p:nvPr/>
        </p:nvSpPr>
        <p:spPr>
          <a:xfrm>
            <a:off x="6309360" y="2670048"/>
            <a:ext cx="2240280" cy="640080"/>
          </a:xfrm>
          <a:prstGeom prst="rect">
            <a:avLst/>
          </a:prstGeom>
          <a:noFill/>
          <a:ln/>
        </p:spPr>
        <p:txBody>
          <a:bodyPr wrap="square" lIns="0" tIns="0" rIns="0" bIns="0" rtlCol="0" anchor="t"/>
          <a:lstStyle/>
          <a:p>
            <a:pPr indent="0" marL="0">
              <a:buNone/>
            </a:pPr>
            <a:r>
              <a:rPr lang="en-US" sz="1000" dirty="0">
                <a:solidFill>
                  <a:srgbClr val="BFBFBF"/>
                </a:solidFill>
                <a:latin typeface="Arial" pitchFamily="34" charset="0"/>
                <a:ea typeface="Arial" pitchFamily="34" charset="-122"/>
                <a:cs typeface="Arial" pitchFamily="34" charset="-120"/>
              </a:rPr>
              <a:t>Bevestiging welke extraction/AI-tooling gebruikt mag worden</a:t>
            </a:r>
            <a:endParaRPr lang="en-US" sz="1000" dirty="0"/>
          </a:p>
        </p:txBody>
      </p:sp>
      <p:sp>
        <p:nvSpPr>
          <p:cNvPr id="20" name="Text 18"/>
          <p:cNvSpPr/>
          <p:nvPr/>
        </p:nvSpPr>
        <p:spPr>
          <a:xfrm>
            <a:off x="548640" y="3703320"/>
            <a:ext cx="8046720" cy="32004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Volgende mijlpaal: </a:t>
            </a:r>
            <a:pPr indent="0" marL="0">
              <a:buNone/>
            </a:pPr>
            <a:r>
              <a:rPr lang="en-US" sz="1250" dirty="0">
                <a:solidFill>
                  <a:srgbClr val="CFCFCF"/>
                </a:solidFill>
                <a:latin typeface="Arial" pitchFamily="34" charset="0"/>
                <a:ea typeface="Arial" pitchFamily="34" charset="-122"/>
                <a:cs typeface="Arial" pitchFamily="34" charset="-120"/>
              </a:rPr>
              <a:t>Phase 0-rapport met engine-metingen, binnen vier weken na go.</a:t>
            </a:r>
            <a:endParaRPr lang="en-US" sz="1250" dirty="0"/>
          </a:p>
        </p:txBody>
      </p:sp>
      <p:sp>
        <p:nvSpPr>
          <p:cNvPr id="21" name="Text 19"/>
          <p:cNvSpPr/>
          <p:nvPr/>
        </p:nvSpPr>
        <p:spPr>
          <a:xfrm>
            <a:off x="548640" y="4114800"/>
            <a:ext cx="8046720" cy="365760"/>
          </a:xfrm>
          <a:prstGeom prst="rect">
            <a:avLst/>
          </a:prstGeom>
          <a:noFill/>
          <a:ln/>
        </p:spPr>
        <p:txBody>
          <a:bodyPr wrap="square" lIns="0" tIns="0" rIns="0" bIns="0" rtlCol="0" anchor="ctr"/>
          <a:lstStyle/>
          <a:p>
            <a:pPr indent="0" marL="0">
              <a:buNone/>
            </a:pPr>
            <a:r>
              <a:rPr lang="en-US" sz="1150" i="1" dirty="0">
                <a:solidFill>
                  <a:srgbClr val="86BC25"/>
                </a:solidFill>
                <a:latin typeface="Arial" pitchFamily="34" charset="0"/>
                <a:ea typeface="Arial" pitchFamily="34" charset="-122"/>
                <a:cs typeface="Arial" pitchFamily="34" charset="-120"/>
              </a:rPr>
              <a:t>Kernconclusie: de Odoo factuur-OCR is gedeeltelijk herbruikbaar; alles wat we bouwen blijft volledig controleerbaar en auditeerbaar.</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VAT Warehouse documentautomatisering in Odoo 19.0 Enterprise</dc:title>
  <dc:subject>PptxGenJS Presentation</dc:subject>
  <dc:creator>Deloitte</dc:creator>
  <cp:lastModifiedBy>Deloitte</cp:lastModifiedBy>
  <cp:revision>1</cp:revision>
  <dcterms:created xsi:type="dcterms:W3CDTF">2026-07-07T17:19:11Z</dcterms:created>
  <dcterms:modified xsi:type="dcterms:W3CDTF">2026-07-07T17:19:11Z</dcterms:modified>
</cp:coreProperties>
</file>